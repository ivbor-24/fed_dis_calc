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media/hdphoto2.wdp" ContentType="image/vnd.ms-photo"/>
  <Override PartName="/ppt/media/hdphoto1.wdp" ContentType="image/vnd.ms-phot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60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45D1D-E7C6-4CA4-BA68-3EFEC11926A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0CA34-20D6-4D59-A810-88C261A77E7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368B1-6205-4591-944C-F695018B317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32400" y="1660320"/>
            <a:ext cx="5053320" cy="40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Click to edit the title text format</a:t>
            </a:r>
            <a:endParaRPr lang="ru-RU" sz="6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17" name="Google Shape;60;p10"/>
          <p:cNvSpPr/>
          <p:nvPr/>
        </p:nvSpPr>
        <p:spPr>
          <a:xfrm>
            <a:off x="7112160" y="-558720"/>
            <a:ext cx="4851000" cy="1259280"/>
          </a:xfrm>
          <a:custGeom>
            <a:avLst/>
            <a:gdLst>
              <a:gd name="textAreaLeft" fmla="*/ 0 w 4851000"/>
              <a:gd name="textAreaRight" fmla="*/ 4851360 w 4851000"/>
              <a:gd name="textAreaTop" fmla="*/ 0 h 1259280"/>
              <a:gd name="textAreaBottom" fmla="*/ 1259640 h 1259280"/>
            </a:gdLst>
            <a:ahLst/>
            <a:cxnLst/>
            <a:rect l="textAreaLeft" t="textAreaTop" r="textAreaRight" b="textAreaBottom"/>
            <a:pathLst>
              <a:path w="145542" h="37790">
                <a:moveTo>
                  <a:pt x="0" y="7620"/>
                </a:moveTo>
                <a:cubicBezTo>
                  <a:pt x="4572" y="10287"/>
                  <a:pt x="4837" y="9877"/>
                  <a:pt x="9144" y="12954"/>
                </a:cubicBezTo>
                <a:cubicBezTo>
                  <a:pt x="11455" y="14605"/>
                  <a:pt x="11449" y="18166"/>
                  <a:pt x="12954" y="20574"/>
                </a:cubicBezTo>
                <a:cubicBezTo>
                  <a:pt x="17437" y="27747"/>
                  <a:pt x="23597" y="36404"/>
                  <a:pt x="32004" y="37338"/>
                </a:cubicBezTo>
                <a:cubicBezTo>
                  <a:pt x="40145" y="38243"/>
                  <a:pt x="48783" y="37332"/>
                  <a:pt x="56388" y="34290"/>
                </a:cubicBezTo>
                <a:cubicBezTo>
                  <a:pt x="64316" y="31119"/>
                  <a:pt x="70203" y="23407"/>
                  <a:pt x="78486" y="21336"/>
                </a:cubicBezTo>
                <a:cubicBezTo>
                  <a:pt x="88862" y="18742"/>
                  <a:pt x="99902" y="20563"/>
                  <a:pt x="110490" y="19050"/>
                </a:cubicBezTo>
                <a:cubicBezTo>
                  <a:pt x="123654" y="17169"/>
                  <a:pt x="136139" y="9403"/>
                  <a:pt x="145542" y="0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" name="Google Shape;61;p10"/>
          <p:cNvSpPr/>
          <p:nvPr/>
        </p:nvSpPr>
        <p:spPr>
          <a:xfrm>
            <a:off x="5359320" y="6215760"/>
            <a:ext cx="4673160" cy="1022760"/>
          </a:xfrm>
          <a:custGeom>
            <a:avLst/>
            <a:gdLst>
              <a:gd name="textAreaLeft" fmla="*/ 0 w 4673160"/>
              <a:gd name="textAreaRight" fmla="*/ 4673520 w 4673160"/>
              <a:gd name="textAreaTop" fmla="*/ 0 h 1022760"/>
              <a:gd name="textAreaBottom" fmla="*/ 1023120 h 1022760"/>
            </a:gdLst>
            <a:ahLst/>
            <a:cxnLst/>
            <a:rect l="textAreaLeft" t="textAreaTop" r="textAreaRight" b="textAreaBottom"/>
            <a:pathLst>
              <a:path w="140208" h="30697">
                <a:moveTo>
                  <a:pt x="0" y="30697"/>
                </a:moveTo>
                <a:cubicBezTo>
                  <a:pt x="8996" y="26199"/>
                  <a:pt x="12967" y="14940"/>
                  <a:pt x="21336" y="9361"/>
                </a:cubicBezTo>
                <a:cubicBezTo>
                  <a:pt x="31078" y="2866"/>
                  <a:pt x="45626" y="11687"/>
                  <a:pt x="56388" y="7075"/>
                </a:cubicBezTo>
                <a:cubicBezTo>
                  <a:pt x="62811" y="4322"/>
                  <a:pt x="69266" y="-650"/>
                  <a:pt x="76200" y="217"/>
                </a:cubicBezTo>
                <a:cubicBezTo>
                  <a:pt x="99040" y="3072"/>
                  <a:pt x="117190" y="26125"/>
                  <a:pt x="140208" y="26125"/>
                </a:cubicBezTo>
              </a:path>
            </a:pathLst>
          </a:custGeom>
          <a:noFill/>
          <a:ln w="9525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621FD-8356-43EF-A87B-2E4B0DAFDA1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60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+mn-lt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32702-57E4-4DD1-BA27-7406ED2E64F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5AC46C-88B0-4126-B378-F3CAF89DAB09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50B95-5880-4597-92A8-832E573F204F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1259FA-1359-4A04-A8A6-BB175EC4775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Click to edit the outline text format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Fourth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Fifth Outline Level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1745B-18EC-4B20-A6EC-8334F33A0F4D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32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Manrope Medium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8AE75-B39E-410C-99AE-368026AF45E2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Образец заголовка</a:t>
            </a:r>
            <a:endParaRPr lang="ru-RU" sz="3200" b="1" u="none" strike="noStrike">
              <a:solidFill>
                <a:schemeClr val="dk1"/>
              </a:solidFill>
              <a:effectLst/>
              <a:uFillTx/>
              <a:latin typeface="+mj-l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Double-click to add an Image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+mn-lt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8A455A-89CC-4204-BC33-AE6E1EE3CD8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+mn-lt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8.xml"/><Relationship Id="rId3" Type="http://schemas.openxmlformats.org/officeDocument/2006/relationships/slide" Target="slide4.xml"/><Relationship Id="rId4" Type="http://schemas.openxmlformats.org/officeDocument/2006/relationships/slide" Target="slide13.xml"/><Relationship Id="rId5" Type="http://schemas.openxmlformats.org/officeDocument/2006/relationships/slide" Target="slide15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.xml"/><Relationship Id="rId11" Type="http://schemas.openxmlformats.org/officeDocument/2006/relationships/slide" Target="slide12.xml"/><Relationship Id="rId12" Type="http://schemas.openxmlformats.org/officeDocument/2006/relationships/slide" Target="slide17.xml"/><Relationship Id="rId13" Type="http://schemas.openxmlformats.org/officeDocument/2006/relationships/slide" Target="slide15.xml"/><Relationship Id="rId14" Type="http://schemas.openxmlformats.org/officeDocument/2006/relationships/image" Target="../media/image3.png"/><Relationship Id="rId15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3.xml"/><Relationship Id="rId5" Type="http://schemas.openxmlformats.org/officeDocument/2006/relationships/slide" Target="slide8.xml"/><Relationship Id="rId6" Type="http://schemas.openxmlformats.org/officeDocument/2006/relationships/slide" Target="slide4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5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8.xml"/><Relationship Id="rId13" Type="http://schemas.openxmlformats.org/officeDocument/2006/relationships/slide" Target="slide2.xml"/><Relationship Id="rId14" Type="http://schemas.openxmlformats.org/officeDocument/2006/relationships/slide" Target="slide12.xml"/><Relationship Id="rId15" Type="http://schemas.openxmlformats.org/officeDocument/2006/relationships/slide" Target="slide17.xml"/><Relationship Id="rId16" Type="http://schemas.openxmlformats.org/officeDocument/2006/relationships/slide" Target="slide15.xml"/><Relationship Id="rId17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4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18.xml"/><Relationship Id="rId12" Type="http://schemas.openxmlformats.org/officeDocument/2006/relationships/slide" Target="slide2.xml"/><Relationship Id="rId13" Type="http://schemas.openxmlformats.org/officeDocument/2006/relationships/slide" Target="slide12.xml"/><Relationship Id="rId14" Type="http://schemas.openxmlformats.org/officeDocument/2006/relationships/slide" Target="slide17.xml"/><Relationship Id="rId15" Type="http://schemas.openxmlformats.org/officeDocument/2006/relationships/slide" Target="slide15.xml"/><Relationship Id="rId16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edu.normasoft.com/" TargetMode="External"/><Relationship Id="rId2" Type="http://schemas.openxmlformats.org/officeDocument/2006/relationships/hyperlink" Target="https://edu.normasoft.com/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3.xml"/><Relationship Id="rId6" Type="http://schemas.openxmlformats.org/officeDocument/2006/relationships/slide" Target="slide8.xml"/><Relationship Id="rId7" Type="http://schemas.openxmlformats.org/officeDocument/2006/relationships/slide" Target="slide4.xml"/><Relationship Id="rId8" Type="http://schemas.openxmlformats.org/officeDocument/2006/relationships/slide" Target="slide13.xml"/><Relationship Id="rId9" Type="http://schemas.openxmlformats.org/officeDocument/2006/relationships/slide" Target="slide15.xml"/><Relationship Id="rId10" Type="http://schemas.openxmlformats.org/officeDocument/2006/relationships/slide" Target="slide15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2.xml"/><Relationship Id="rId15" Type="http://schemas.openxmlformats.org/officeDocument/2006/relationships/slide" Target="slide12.xml"/><Relationship Id="rId16" Type="http://schemas.openxmlformats.org/officeDocument/2006/relationships/slide" Target="slide17.xml"/><Relationship Id="rId17" Type="http://schemas.openxmlformats.org/officeDocument/2006/relationships/slide" Target="slide15.xml"/><Relationship Id="rId18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microsoft.com/office/2007/relationships/hdphoto" Target="../media/hdphoto2.wdp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4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18.xml"/><Relationship Id="rId12" Type="http://schemas.openxmlformats.org/officeDocument/2006/relationships/slide" Target="slide2.xml"/><Relationship Id="rId13" Type="http://schemas.openxmlformats.org/officeDocument/2006/relationships/slide" Target="slide12.xml"/><Relationship Id="rId14" Type="http://schemas.openxmlformats.org/officeDocument/2006/relationships/slide" Target="slide17.xml"/><Relationship Id="rId15" Type="http://schemas.openxmlformats.org/officeDocument/2006/relationships/slide" Target="slide15.xml"/><Relationship Id="rId16" Type="http://schemas.openxmlformats.org/officeDocument/2006/relationships/image" Target="../media/image2.png"/><Relationship Id="rId17" Type="http://schemas.openxmlformats.org/officeDocument/2006/relationships/image" Target="../media/image2.png"/><Relationship Id="rId18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" Target="slide3.xml"/><Relationship Id="rId4" Type="http://schemas.openxmlformats.org/officeDocument/2006/relationships/slide" Target="slide8.xml"/><Relationship Id="rId5" Type="http://schemas.openxmlformats.org/officeDocument/2006/relationships/slide" Target="slide4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18.xml"/><Relationship Id="rId12" Type="http://schemas.openxmlformats.org/officeDocument/2006/relationships/slide" Target="slide2.xml"/><Relationship Id="rId13" Type="http://schemas.openxmlformats.org/officeDocument/2006/relationships/slide" Target="slide12.xml"/><Relationship Id="rId14" Type="http://schemas.openxmlformats.org/officeDocument/2006/relationships/slide" Target="slide17.xml"/><Relationship Id="rId15" Type="http://schemas.openxmlformats.org/officeDocument/2006/relationships/slide" Target="slide15.xml"/><Relationship Id="rId16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3.xml"/><Relationship Id="rId5" Type="http://schemas.openxmlformats.org/officeDocument/2006/relationships/slide" Target="slide8.xml"/><Relationship Id="rId6" Type="http://schemas.openxmlformats.org/officeDocument/2006/relationships/slide" Target="slide4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5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8.xml"/><Relationship Id="rId13" Type="http://schemas.openxmlformats.org/officeDocument/2006/relationships/slide" Target="slide2.xml"/><Relationship Id="rId14" Type="http://schemas.openxmlformats.org/officeDocument/2006/relationships/slide" Target="slide12.xml"/><Relationship Id="rId15" Type="http://schemas.openxmlformats.org/officeDocument/2006/relationships/slide" Target="slide17.xml"/><Relationship Id="rId16" Type="http://schemas.openxmlformats.org/officeDocument/2006/relationships/slide" Target="slide15.xml"/><Relationship Id="rId17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jpeg"/><Relationship Id="rId7" Type="http://schemas.openxmlformats.org/officeDocument/2006/relationships/image" Target="../media/image13.png"/><Relationship Id="rId8" Type="http://schemas.openxmlformats.org/officeDocument/2006/relationships/image" Target="../media/image14.jpeg"/><Relationship Id="rId9" Type="http://schemas.openxmlformats.org/officeDocument/2006/relationships/image" Target="../media/image15.jpeg"/><Relationship Id="rId10" Type="http://schemas.openxmlformats.org/officeDocument/2006/relationships/image" Target="../media/image16.jpeg"/><Relationship Id="rId11" Type="http://schemas.openxmlformats.org/officeDocument/2006/relationships/image" Target="../media/image17.jpeg"/><Relationship Id="rId12" Type="http://schemas.openxmlformats.org/officeDocument/2006/relationships/image" Target="../media/image18.jpeg"/><Relationship Id="rId13" Type="http://schemas.openxmlformats.org/officeDocument/2006/relationships/image" Target="../media/image19.jpeg"/><Relationship Id="rId14" Type="http://schemas.openxmlformats.org/officeDocument/2006/relationships/image" Target="../media/image20.png"/><Relationship Id="rId15" Type="http://schemas.openxmlformats.org/officeDocument/2006/relationships/image" Target="../media/image21.jpeg"/><Relationship Id="rId16" Type="http://schemas.openxmlformats.org/officeDocument/2006/relationships/image" Target="../media/image22.jpeg"/><Relationship Id="rId17" Type="http://schemas.openxmlformats.org/officeDocument/2006/relationships/image" Target="../media/image2.png"/><Relationship Id="rId18" Type="http://schemas.openxmlformats.org/officeDocument/2006/relationships/slide" Target="slide3.xml"/><Relationship Id="rId19" Type="http://schemas.openxmlformats.org/officeDocument/2006/relationships/slide" Target="slide8.xml"/><Relationship Id="rId20" Type="http://schemas.openxmlformats.org/officeDocument/2006/relationships/slide" Target="slide4.xml"/><Relationship Id="rId21" Type="http://schemas.openxmlformats.org/officeDocument/2006/relationships/slide" Target="slide13.xml"/><Relationship Id="rId22" Type="http://schemas.openxmlformats.org/officeDocument/2006/relationships/slide" Target="slide15.xml"/><Relationship Id="rId23" Type="http://schemas.openxmlformats.org/officeDocument/2006/relationships/slide" Target="slide15.xml"/><Relationship Id="rId24" Type="http://schemas.openxmlformats.org/officeDocument/2006/relationships/slide" Target="slide15.xml"/><Relationship Id="rId25" Type="http://schemas.openxmlformats.org/officeDocument/2006/relationships/slide" Target="slide16.xml"/><Relationship Id="rId26" Type="http://schemas.openxmlformats.org/officeDocument/2006/relationships/slide" Target="slide18.xml"/><Relationship Id="rId27" Type="http://schemas.openxmlformats.org/officeDocument/2006/relationships/slide" Target="slide2.xml"/><Relationship Id="rId28" Type="http://schemas.openxmlformats.org/officeDocument/2006/relationships/slide" Target="slide12.xml"/><Relationship Id="rId29" Type="http://schemas.openxmlformats.org/officeDocument/2006/relationships/slide" Target="slide17.xml"/><Relationship Id="rId30" Type="http://schemas.openxmlformats.org/officeDocument/2006/relationships/slide" Target="slide15.xml"/><Relationship Id="rId3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2.png"/><Relationship Id="rId9" Type="http://schemas.openxmlformats.org/officeDocument/2006/relationships/slide" Target="slide3.xml"/><Relationship Id="rId10" Type="http://schemas.openxmlformats.org/officeDocument/2006/relationships/slide" Target="slide8.xml"/><Relationship Id="rId11" Type="http://schemas.openxmlformats.org/officeDocument/2006/relationships/slide" Target="slide4.xml"/><Relationship Id="rId12" Type="http://schemas.openxmlformats.org/officeDocument/2006/relationships/slide" Target="slide13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6.xml"/><Relationship Id="rId17" Type="http://schemas.openxmlformats.org/officeDocument/2006/relationships/slide" Target="slide18.xml"/><Relationship Id="rId18" Type="http://schemas.openxmlformats.org/officeDocument/2006/relationships/slide" Target="slide2.xml"/><Relationship Id="rId19" Type="http://schemas.openxmlformats.org/officeDocument/2006/relationships/slide" Target="slide12.xml"/><Relationship Id="rId20" Type="http://schemas.openxmlformats.org/officeDocument/2006/relationships/slide" Target="slide17.xml"/><Relationship Id="rId21" Type="http://schemas.openxmlformats.org/officeDocument/2006/relationships/slide" Target="slide15.xml"/><Relationship Id="rId2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4.xml"/><Relationship Id="rId5" Type="http://schemas.openxmlformats.org/officeDocument/2006/relationships/slide" Target="slide13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18.xml"/><Relationship Id="rId11" Type="http://schemas.openxmlformats.org/officeDocument/2006/relationships/slide" Target="slide2.xml"/><Relationship Id="rId12" Type="http://schemas.openxmlformats.org/officeDocument/2006/relationships/slide" Target="slide12.xml"/><Relationship Id="rId13" Type="http://schemas.openxmlformats.org/officeDocument/2006/relationships/slide" Target="slide17.xml"/><Relationship Id="rId14" Type="http://schemas.openxmlformats.org/officeDocument/2006/relationships/slide" Target="slide15.xml"/><Relationship Id="rId15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8.xml"/><Relationship Id="rId3" Type="http://schemas.openxmlformats.org/officeDocument/2006/relationships/slide" Target="slide4.xml"/><Relationship Id="rId4" Type="http://schemas.openxmlformats.org/officeDocument/2006/relationships/slide" Target="slide13.xml"/><Relationship Id="rId5" Type="http://schemas.openxmlformats.org/officeDocument/2006/relationships/slide" Target="slide15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.xml"/><Relationship Id="rId11" Type="http://schemas.openxmlformats.org/officeDocument/2006/relationships/slide" Target="slide12.xml"/><Relationship Id="rId12" Type="http://schemas.openxmlformats.org/officeDocument/2006/relationships/slide" Target="slide17.xml"/><Relationship Id="rId13" Type="http://schemas.openxmlformats.org/officeDocument/2006/relationships/slide" Target="slide15.xml"/><Relationship Id="rId14" Type="http://schemas.openxmlformats.org/officeDocument/2006/relationships/image" Target="../media/image3.png"/><Relationship Id="rId15" Type="http://schemas.openxmlformats.org/officeDocument/2006/relationships/image" Target="../media/image2.png"/><Relationship Id="rId16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: скругленные углы 2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65" name="Google Shape;321;p35"/>
          <p:cNvSpPr/>
          <p:nvPr/>
        </p:nvSpPr>
        <p:spPr>
          <a:xfrm>
            <a:off x="8378640" y="1713240"/>
            <a:ext cx="113256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+mn-lt"/>
              </a:rPr>
              <a:t>Обучение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66" name="Google Shape;321;p35"/>
          <p:cNvSpPr/>
          <p:nvPr/>
        </p:nvSpPr>
        <p:spPr>
          <a:xfrm>
            <a:off x="9511560" y="1713240"/>
            <a:ext cx="16124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Переход на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BIM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7" name="Google Shape;321;p35"/>
          <p:cNvSpPr/>
          <p:nvPr/>
        </p:nvSpPr>
        <p:spPr>
          <a:xfrm>
            <a:off x="4823640" y="1713240"/>
            <a:ext cx="224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+mn-lt"/>
                <a:ea typeface="Manrope"/>
              </a:rPr>
              <a:t>Импортозамещение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68" name="Google Shape;321;p35"/>
          <p:cNvSpPr/>
          <p:nvPr/>
        </p:nvSpPr>
        <p:spPr>
          <a:xfrm>
            <a:off x="7073280" y="1713240"/>
            <a:ext cx="13050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Внедрение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69" name="Подзаголовок 2"/>
          <p:cNvSpPr/>
          <p:nvPr/>
        </p:nvSpPr>
        <p:spPr>
          <a:xfrm>
            <a:off x="4716000" y="3394080"/>
            <a:ext cx="6449040" cy="9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+mn-lt"/>
              </a:rPr>
              <a:t>По предварительному обсуждению задач такого-то предприятия в рамках стратегии импортозамещения программного обеспечения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70" name="Заголовок 1"/>
          <p:cNvSpPr/>
          <p:nvPr/>
        </p:nvSpPr>
        <p:spPr>
          <a:xfrm>
            <a:off x="4716000" y="2417400"/>
            <a:ext cx="653148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Установочная встреча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71" name="Подзаголовок 2"/>
          <p:cNvSpPr/>
          <p:nvPr/>
        </p:nvSpPr>
        <p:spPr>
          <a:xfrm>
            <a:off x="5337000" y="5567040"/>
            <a:ext cx="6449040" cy="7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Спикер: </a:t>
            </a: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+mn-lt"/>
              </a:rPr>
              <a:t>ФИО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1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Должность: </a:t>
            </a:r>
            <a:r>
              <a:rPr lang="ru-RU" sz="1800" b="0" u="none" strike="noStrike">
                <a:solidFill>
                  <a:srgbClr val="707070"/>
                </a:solidFill>
                <a:effectLst/>
                <a:uFillTx/>
                <a:latin typeface="+mn-lt"/>
              </a:rPr>
              <a:t>должность спикера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72" name="Рисунок 12" descr="Изображение выглядит как снимок экрана, Графика, графический дизайн, логотип&#10;&#10;Контент, сгенерированный ИИ, может содержать ошибки."/>
          <p:cNvPicPr/>
          <p:nvPr/>
        </p:nvPicPr>
        <p:blipFill>
          <a:blip r:embed="rId1"/>
          <a:srcRect l="6675" t="0" r="3344" b="0"/>
          <a:stretch/>
        </p:blipFill>
        <p:spPr>
          <a:xfrm>
            <a:off x="446040" y="273240"/>
            <a:ext cx="3801600" cy="1272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3" name="Прямая со стрелкой 14"/>
          <p:cNvCxnSpPr/>
          <p:nvPr/>
        </p:nvCxnSpPr>
        <p:spPr>
          <a:xfrm>
            <a:off x="4339080" y="5354640"/>
            <a:ext cx="667764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74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Подзаголовок 2"/>
          <p:cNvSpPr/>
          <p:nvPr/>
        </p:nvSpPr>
        <p:spPr>
          <a:xfrm>
            <a:off x="9467280" y="685080"/>
            <a:ext cx="17802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1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8 (800) 302-53-50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sales@normasoft.com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normasoft.com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76" name="Рисунок 1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4670" t="0" r="0" b="0"/>
          <a:stretch/>
        </p:blipFill>
        <p:spPr>
          <a:xfrm flipH="1">
            <a:off x="360" y="2262960"/>
            <a:ext cx="5336640" cy="459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Прямоугольник 16"/>
          <p:cNvSpPr/>
          <p:nvPr/>
        </p:nvSpPr>
        <p:spPr>
          <a:xfrm>
            <a:off x="934200" y="3003840"/>
            <a:ext cx="415800" cy="3293280"/>
          </a:xfrm>
          <a:prstGeom prst="rect">
            <a:avLst/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79" name="Google Shape;229;p31">
            <a:hlinkClick r:id="rId1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0" name="Google Shape;230;p31">
            <a:hlinkClick r:id="rId2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1" name="Google Shape;231;p31">
            <a:hlinkClick r:id="rId3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2" name="Google Shape;232;p31">
            <a:hlinkClick r:id="rId4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3" name="Google Shape;232;p31">
            <a:hlinkClick r:id="rId5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4" name="Google Shape;232;p31">
            <a:hlinkClick r:id="rId6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5" name="Google Shape;229;p31">
            <a:hlinkClick r:id="rId7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6" name="Google Shape;229;p31">
            <a:hlinkClick r:id="rId8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7" name="Google Shape;229;p31">
            <a:hlinkClick r:id="rId9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8" name="Объект 2"/>
          <p:cNvSpPr/>
          <p:nvPr/>
        </p:nvSpPr>
        <p:spPr>
          <a:xfrm>
            <a:off x="826200" y="2831400"/>
            <a:ext cx="5763960" cy="36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Знакомство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Опыт импортозамещения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Учебный центр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Главные вопросы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Выбор технологического партнера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Ваши риски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Решение задач с помощью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nanoCAD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Внедряемые продукты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Бюджетирование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Совместный план работ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Подведение итогов встречи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89" name="Google Shape;269;p32">
            <a:hlinkClick r:id="rId10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tx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90" name="Google Shape;230;p31">
            <a:hlinkClick r:id="rId11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91" name="Google Shape;232;p31">
            <a:hlinkClick r:id="rId12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92" name="Google Shape;232;p31">
            <a:hlinkClick r:id="rId13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93" name="Рисунок 21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2093" t="0" r="0" b="0"/>
          <a:stretch/>
        </p:blipFill>
        <p:spPr>
          <a:xfrm>
            <a:off x="6590520" y="2217960"/>
            <a:ext cx="5600880" cy="463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Заголовок 1"/>
          <p:cNvSpPr/>
          <p:nvPr/>
        </p:nvSpPr>
        <p:spPr>
          <a:xfrm>
            <a:off x="826200" y="1848240"/>
            <a:ext cx="335808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План встречи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95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96" name="Прямая со стрелкой 24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98" name="Google Shape;321;p35"/>
          <p:cNvSpPr/>
          <p:nvPr/>
        </p:nvSpPr>
        <p:spPr>
          <a:xfrm>
            <a:off x="595440" y="1672200"/>
            <a:ext cx="14392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Миссия: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2091960" y="1704600"/>
            <a:ext cx="849672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9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Обеспечение технологического суверенитета российских компаний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0" name="Google Shape;321;p35"/>
          <p:cNvSpPr/>
          <p:nvPr/>
        </p:nvSpPr>
        <p:spPr>
          <a:xfrm>
            <a:off x="595440" y="2615400"/>
            <a:ext cx="23389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Направления: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101" name="Google Shape;321;p35"/>
          <p:cNvSpPr/>
          <p:nvPr/>
        </p:nvSpPr>
        <p:spPr>
          <a:xfrm>
            <a:off x="3157920" y="2615400"/>
            <a:ext cx="427824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Поставляем и внедряем инфраструктурное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и инженерное программное обеспечение, программы для учета и управления оборудованием, приборами,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IT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-активами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2" name="Google Shape;321;p35"/>
          <p:cNvSpPr/>
          <p:nvPr/>
        </p:nvSpPr>
        <p:spPr>
          <a:xfrm>
            <a:off x="6453000" y="3660840"/>
            <a:ext cx="284976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Развиваем  направление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«Цифровые двойники производства»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3" name="Google Shape;321;p35"/>
          <p:cNvSpPr/>
          <p:nvPr/>
        </p:nvSpPr>
        <p:spPr>
          <a:xfrm>
            <a:off x="3157920" y="3654720"/>
            <a:ext cx="312552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Разрабатываем типовые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и индивидуальные плагины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и утилиты для работы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4" name="Google Shape;321;p35"/>
          <p:cNvSpPr/>
          <p:nvPr/>
        </p:nvSpPr>
        <p:spPr>
          <a:xfrm>
            <a:off x="7567560" y="2615400"/>
            <a:ext cx="383400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Обучаем работе  с отечественным инженерным ПО в Авторизованном учебном центре «Нормасофт»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5" name="Google Shape;321;p35"/>
          <p:cNvSpPr/>
          <p:nvPr/>
        </p:nvSpPr>
        <p:spPr>
          <a:xfrm>
            <a:off x="9472320" y="3654720"/>
            <a:ext cx="1929600" cy="8096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Развиваем направление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BIM VR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6" name="Google Shape;321;p35"/>
          <p:cNvSpPr/>
          <p:nvPr/>
        </p:nvSpPr>
        <p:spPr>
          <a:xfrm>
            <a:off x="595440" y="5185800"/>
            <a:ext cx="13460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Опыт: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107" name="Google Shape;171;p29"/>
          <p:cNvSpPr/>
          <p:nvPr/>
        </p:nvSpPr>
        <p:spPr>
          <a:xfrm>
            <a:off x="250272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+mj-lt"/>
              </a:rPr>
              <a:t>3 000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8" name="TextBox 28"/>
          <p:cNvSpPr/>
          <p:nvPr/>
        </p:nvSpPr>
        <p:spPr>
          <a:xfrm>
            <a:off x="2202480" y="5708160"/>
            <a:ext cx="35071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Инженеров, специалистов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и преподавателей, прошедших обучение работе с отечественным инженерным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09" name="Google Shape;171;p29"/>
          <p:cNvSpPr/>
          <p:nvPr/>
        </p:nvSpPr>
        <p:spPr>
          <a:xfrm>
            <a:off x="620712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+mj-lt"/>
              </a:rPr>
              <a:t>500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10" name="TextBox 30"/>
          <p:cNvSpPr/>
          <p:nvPr/>
        </p:nvSpPr>
        <p:spPr>
          <a:xfrm>
            <a:off x="5861160" y="5689800"/>
            <a:ext cx="30909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Клиентов, включая предприятия корпораций «РОСАТОМ», «РОСТЕХ» и «РОССЕТИ»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11" name="Google Shape;171;p29"/>
          <p:cNvSpPr/>
          <p:nvPr/>
        </p:nvSpPr>
        <p:spPr>
          <a:xfrm>
            <a:off x="9546840" y="5031360"/>
            <a:ext cx="21326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90000"/>
              </a:lnSpc>
            </a:pPr>
            <a:r>
              <a:rPr lang="ru-RU" sz="4400" b="1" u="none" strike="noStrike">
                <a:solidFill>
                  <a:srgbClr val="0386FC"/>
                </a:solidFill>
                <a:effectLst/>
                <a:uFillTx/>
                <a:latin typeface="+mj-lt"/>
              </a:rPr>
              <a:t>12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12" name="TextBox 32"/>
          <p:cNvSpPr/>
          <p:nvPr/>
        </p:nvSpPr>
        <p:spPr>
          <a:xfrm>
            <a:off x="9204120" y="5689800"/>
            <a:ext cx="22698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Лет успешного внедрения и импортозамещения отечественного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13" name="TextBox 35"/>
          <p:cNvSpPr/>
          <p:nvPr/>
        </p:nvSpPr>
        <p:spPr>
          <a:xfrm>
            <a:off x="212256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14" name="TextBox 36"/>
          <p:cNvSpPr/>
          <p:nvPr/>
        </p:nvSpPr>
        <p:spPr>
          <a:xfrm>
            <a:off x="580500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15" name="TextBox 37"/>
          <p:cNvSpPr/>
          <p:nvPr/>
        </p:nvSpPr>
        <p:spPr>
          <a:xfrm>
            <a:off x="9144360" y="5060160"/>
            <a:ext cx="360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0" u="none" strike="noStrike">
                <a:solidFill>
                  <a:srgbClr val="0088FE"/>
                </a:solidFill>
                <a:effectLst/>
                <a:uFillTx/>
                <a:latin typeface="Manrope ExtraBold"/>
              </a:rPr>
              <a:t>~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116" name="Рисунок 1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118" name="Прямая со стрелкой 17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119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0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1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2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3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4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5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6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7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28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129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30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31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133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01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34" name="Google Shape;529;p41"/>
          <p:cNvSpPr/>
          <p:nvPr/>
        </p:nvSpPr>
        <p:spPr>
          <a:xfrm>
            <a:off x="4114800" y="3653280"/>
            <a:ext cx="724248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ОПЫТ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r"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ИМПОРТОЗАМЕЩЕНИЯ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35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136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137" name="Google Shape;229;p31">
            <a:hlinkClick r:id="rId1" action="ppaction://hlinksldjump"/>
          </p:cNvPr>
          <p:cNvSpPr/>
          <p:nvPr/>
        </p:nvSpPr>
        <p:spPr>
          <a:xfrm>
            <a:off x="3444480" y="56556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cxnSp>
        <p:nvCxnSpPr>
          <p:cNvPr id="138" name="Прямая со стрелкой 1"/>
          <p:cNvCxnSpPr/>
          <p:nvPr/>
        </p:nvCxnSpPr>
        <p:spPr>
          <a:xfrm>
            <a:off x="4320000" y="5249520"/>
            <a:ext cx="69472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139" name="Прямоугольник: скругленные углы 3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140" name="Рисунок 3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0" t="55656" r="0" b="0"/>
          <a:stretch/>
        </p:blipFill>
        <p:spPr>
          <a:xfrm>
            <a:off x="7381080" y="29833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Рисунок 9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229;p31">
            <a:hlinkClick r:id="rId4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3" name="Google Shape;230;p31">
            <a:hlinkClick r:id="rId5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4" name="Google Shape;231;p31">
            <a:hlinkClick r:id="rId6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5" name="Google Shape;232;p31">
            <a:hlinkClick r:id="rId7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6" name="Google Shape;232;p31">
            <a:hlinkClick r:id="rId8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7" name="Google Shape;232;p31">
            <a:hlinkClick r:id="rId9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8" name="Google Shape;229;p31">
            <a:hlinkClick r:id="rId10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49" name="Google Shape;229;p31">
            <a:hlinkClick r:id="rId11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0" name="Google Shape;229;p31">
            <a:hlinkClick r:id="rId12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1" name="Google Shape;269;p32">
            <a:hlinkClick r:id="rId13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152" name="Google Shape;230;p31">
            <a:hlinkClick r:id="rId14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3" name="Google Shape;232;p31">
            <a:hlinkClick r:id="rId15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4" name="Google Shape;232;p31">
            <a:hlinkClick r:id="rId16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Объект 2"/>
          <p:cNvSpPr/>
          <p:nvPr/>
        </p:nvSpPr>
        <p:spPr>
          <a:xfrm>
            <a:off x="6427800" y="2988720"/>
            <a:ext cx="5763960" cy="33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«Газпром Газораспределение Черкесск»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 «Газпром Газораспределение Уфа»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 «Газпром Газораспределение Майкоп»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«Газпром газораспределение Великий Новгород» 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 «Газпром газораспределение Калуга»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 «Газпром Газораспределение Екатеринбург»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«Газпром Газораспределение Тверь»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«Газпром газораспределение Иваново»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«Газпром Газораспределение Челябинск»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«Газпром ЦПС»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«Газпромтранс»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«Газпром социнвест»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«Газпром НГХК»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«Газпром Добыча Ноябрьск»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6" name="Объект 2"/>
          <p:cNvSpPr/>
          <p:nvPr/>
        </p:nvSpPr>
        <p:spPr>
          <a:xfrm>
            <a:off x="776880" y="2988720"/>
            <a:ext cx="5521320" cy="28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«Концерн Росэнергоатом»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ФГУП ПО «Маяк»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«ФЦНИВТ "СНПО "ЭЛЕРОН»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«Росатом Возобновляемая энергия»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ФГУП «ПСЗ»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«ААЭМ»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ФГУП «РФЯЦ - ВНИИЭФ»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ФГУП «РФЯЦ - ВНИИТФ им. Академ. Е.И. Забабахина»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ФГУП «ФЭО»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«Внипипромтехнологии»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«ЦПТИ»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7" name="Прямоугольник: скругленные углы 5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158" name="Заголовок 1"/>
          <p:cNvSpPr/>
          <p:nvPr/>
        </p:nvSpPr>
        <p:spPr>
          <a:xfrm>
            <a:off x="826200" y="1437840"/>
            <a:ext cx="505980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Опыт импортозамещения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59" name="Google Shape;321;p35"/>
          <p:cNvSpPr/>
          <p:nvPr/>
        </p:nvSpPr>
        <p:spPr>
          <a:xfrm>
            <a:off x="955440" y="2581560"/>
            <a:ext cx="202032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ГК «Росатом»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60" name="Google Shape;321;p35"/>
          <p:cNvSpPr/>
          <p:nvPr/>
        </p:nvSpPr>
        <p:spPr>
          <a:xfrm>
            <a:off x="6634080" y="2581560"/>
            <a:ext cx="202032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 «Газпром»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161" name="Рисунок 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70797" r="0" b="0"/>
          <a:stretch/>
        </p:blipFill>
        <p:spPr>
          <a:xfrm rot="5400000">
            <a:off x="-1804680" y="3560040"/>
            <a:ext cx="388584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163" name="Прямая со стрелкой 4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164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65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66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67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68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69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0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1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2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3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174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5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6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Прямоугольник: скругленные углы 5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178" name="Объект 2"/>
          <p:cNvSpPr/>
          <p:nvPr/>
        </p:nvSpPr>
        <p:spPr>
          <a:xfrm>
            <a:off x="4849920" y="3095280"/>
            <a:ext cx="395748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ФКП «Завод имени Я.М. Свердлова»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«Электроприбор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79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180" name="Прямая со стрелкой 2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181" name="Google Shape;321;p35"/>
          <p:cNvSpPr/>
          <p:nvPr/>
        </p:nvSpPr>
        <p:spPr>
          <a:xfrm>
            <a:off x="5071680" y="2584440"/>
            <a:ext cx="15984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ГК «Ростех»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2" name="Объект 2"/>
          <p:cNvSpPr/>
          <p:nvPr/>
        </p:nvSpPr>
        <p:spPr>
          <a:xfrm>
            <a:off x="8938080" y="2979360"/>
            <a:ext cx="181764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«Макфа»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3" name="Google Shape;321;p35"/>
          <p:cNvSpPr/>
          <p:nvPr/>
        </p:nvSpPr>
        <p:spPr>
          <a:xfrm>
            <a:off x="9106560" y="2584440"/>
            <a:ext cx="15984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АО «Макфа»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4" name="Объект 2"/>
          <p:cNvSpPr/>
          <p:nvPr/>
        </p:nvSpPr>
        <p:spPr>
          <a:xfrm>
            <a:off x="736560" y="4475880"/>
            <a:ext cx="395748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«Транснефть - Диаскан»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«Транснефть-Западная Сибирь»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5" name="Google Shape;321;p35"/>
          <p:cNvSpPr/>
          <p:nvPr/>
        </p:nvSpPr>
        <p:spPr>
          <a:xfrm>
            <a:off x="985680" y="3964680"/>
            <a:ext cx="21128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 «Транснефть»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6" name="Объект 2"/>
          <p:cNvSpPr/>
          <p:nvPr/>
        </p:nvSpPr>
        <p:spPr>
          <a:xfrm>
            <a:off x="8938080" y="4414320"/>
            <a:ext cx="181764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«ХКА»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7" name="Google Shape;321;p35"/>
          <p:cNvSpPr/>
          <p:nvPr/>
        </p:nvSpPr>
        <p:spPr>
          <a:xfrm>
            <a:off x="9106560" y="3964680"/>
            <a:ext cx="15984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ООО «ХКА»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8" name="Объект 2"/>
          <p:cNvSpPr/>
          <p:nvPr/>
        </p:nvSpPr>
        <p:spPr>
          <a:xfrm>
            <a:off x="4889880" y="5790240"/>
            <a:ext cx="18176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«СУЭК»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89" name="Google Shape;321;p35"/>
          <p:cNvSpPr/>
          <p:nvPr/>
        </p:nvSpPr>
        <p:spPr>
          <a:xfrm>
            <a:off x="5071680" y="5334120"/>
            <a:ext cx="15984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АО «СУЭК»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0" name="Объект 2"/>
          <p:cNvSpPr/>
          <p:nvPr/>
        </p:nvSpPr>
        <p:spPr>
          <a:xfrm>
            <a:off x="4835160" y="4507920"/>
            <a:ext cx="32234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ООО «БЭСК ИНЖИНИРИНГ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1" name="Google Shape;321;p35"/>
          <p:cNvSpPr/>
          <p:nvPr/>
        </p:nvSpPr>
        <p:spPr>
          <a:xfrm>
            <a:off x="5071680" y="3964680"/>
            <a:ext cx="15984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АО «БЭСК»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2" name="Объект 2"/>
          <p:cNvSpPr/>
          <p:nvPr/>
        </p:nvSpPr>
        <p:spPr>
          <a:xfrm>
            <a:off x="761760" y="3113640"/>
            <a:ext cx="39574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«Стойленский ГОК»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3" name="Google Shape;321;p35"/>
          <p:cNvSpPr/>
          <p:nvPr/>
        </p:nvSpPr>
        <p:spPr>
          <a:xfrm>
            <a:off x="985680" y="2584440"/>
            <a:ext cx="21128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 «НЛМК» 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4" name="Объект 2"/>
          <p:cNvSpPr/>
          <p:nvPr/>
        </p:nvSpPr>
        <p:spPr>
          <a:xfrm>
            <a:off x="780840" y="5850000"/>
            <a:ext cx="2267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«ГТ Энерго»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5" name="Google Shape;321;p35"/>
          <p:cNvSpPr/>
          <p:nvPr/>
        </p:nvSpPr>
        <p:spPr>
          <a:xfrm>
            <a:off x="985680" y="5334120"/>
            <a:ext cx="21128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АО «ГТ Энерго»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6" name="Объект 2"/>
          <p:cNvSpPr/>
          <p:nvPr/>
        </p:nvSpPr>
        <p:spPr>
          <a:xfrm>
            <a:off x="8901720" y="5850000"/>
            <a:ext cx="226764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 «Т Плюс»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7" name="Google Shape;321;p35"/>
          <p:cNvSpPr/>
          <p:nvPr/>
        </p:nvSpPr>
        <p:spPr>
          <a:xfrm>
            <a:off x="9106560" y="5334120"/>
            <a:ext cx="164916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 «Т Плюс»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198" name="Заголовок 1"/>
          <p:cNvSpPr/>
          <p:nvPr/>
        </p:nvSpPr>
        <p:spPr>
          <a:xfrm>
            <a:off x="826200" y="1437840"/>
            <a:ext cx="918936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Опыт импортозамещения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199" name="Рисунок 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70797" r="0" b="0"/>
          <a:stretch/>
        </p:blipFill>
        <p:spPr>
          <a:xfrm rot="5400000">
            <a:off x="-1804680" y="3560040"/>
            <a:ext cx="388584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1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2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3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4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5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6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7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8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09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10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11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12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321;p35"/>
          <p:cNvSpPr/>
          <p:nvPr/>
        </p:nvSpPr>
        <p:spPr>
          <a:xfrm>
            <a:off x="4227480" y="2557800"/>
            <a:ext cx="298260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 «Ашинский Метзавод» 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14" name="Прямоугольник: скругленные углы 5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15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16" name="Прямая со стрелкой 2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17" name="Объект 2"/>
          <p:cNvSpPr/>
          <p:nvPr/>
        </p:nvSpPr>
        <p:spPr>
          <a:xfrm>
            <a:off x="4068000" y="3069000"/>
            <a:ext cx="32140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«Ашинский Метзавод» 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18" name="Объект 2"/>
          <p:cNvSpPr/>
          <p:nvPr/>
        </p:nvSpPr>
        <p:spPr>
          <a:xfrm>
            <a:off x="8194680" y="3069000"/>
            <a:ext cx="24951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«Ростелеком»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19" name="Google Shape;321;p35"/>
          <p:cNvSpPr/>
          <p:nvPr/>
        </p:nvSpPr>
        <p:spPr>
          <a:xfrm>
            <a:off x="8440560" y="2557800"/>
            <a:ext cx="211284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 «Ростелеком»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0" name="Объект 2"/>
          <p:cNvSpPr/>
          <p:nvPr/>
        </p:nvSpPr>
        <p:spPr>
          <a:xfrm>
            <a:off x="828360" y="5062680"/>
            <a:ext cx="246708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АО «ВМП «АВИТЕК»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1" name="Google Shape;321;p35"/>
          <p:cNvSpPr/>
          <p:nvPr/>
        </p:nvSpPr>
        <p:spPr>
          <a:xfrm>
            <a:off x="988200" y="4546080"/>
            <a:ext cx="364248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АО «Концерн ВКО «Алмаз - Антей»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2" name="Объект 2"/>
          <p:cNvSpPr/>
          <p:nvPr/>
        </p:nvSpPr>
        <p:spPr>
          <a:xfrm>
            <a:off x="736560" y="3069000"/>
            <a:ext cx="404784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«Россети Сибирь»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«Россети Урал»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«Россети Тюмень»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«Россети Центр и Приволжье»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ПАО «Россети Центр»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3" name="Google Shape;321;p35"/>
          <p:cNvSpPr/>
          <p:nvPr/>
        </p:nvSpPr>
        <p:spPr>
          <a:xfrm>
            <a:off x="949680" y="2557800"/>
            <a:ext cx="1909080" cy="4492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Manrope ExtraBold"/>
                <a:ea typeface="Manrope"/>
              </a:rPr>
              <a:t>ПАО «Россети»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4" name="Заголовок 1"/>
          <p:cNvSpPr/>
          <p:nvPr/>
        </p:nvSpPr>
        <p:spPr>
          <a:xfrm>
            <a:off x="826200" y="1437840"/>
            <a:ext cx="918936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Опыт импортозамещения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225" name="Рисунок 3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70797" r="0" b="0"/>
          <a:stretch/>
        </p:blipFill>
        <p:spPr>
          <a:xfrm rot="5400000">
            <a:off x="-1804680" y="3560040"/>
            <a:ext cx="388584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7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8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29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0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1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2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3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4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5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36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7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38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40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en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</a:t>
            </a:r>
            <a:r>
              <a:rPr lang="ru-RU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2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41" name="Google Shape;529;p41"/>
          <p:cNvSpPr/>
          <p:nvPr/>
        </p:nvSpPr>
        <p:spPr>
          <a:xfrm>
            <a:off x="5947200" y="3558240"/>
            <a:ext cx="541008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УЧЕБНЫЙ ЦЕНТР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r" defTabSz="914400">
              <a:lnSpc>
                <a:spcPct val="90000"/>
              </a:lnSpc>
            </a:pPr>
            <a:r>
              <a:rPr lang="ru-RU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НОРМАСОФТ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42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43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44" name="TextBox 9"/>
          <p:cNvSpPr/>
          <p:nvPr/>
        </p:nvSpPr>
        <p:spPr>
          <a:xfrm>
            <a:off x="3982680" y="5093280"/>
            <a:ext cx="73746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Повышение квалификации специалистов в области автоматизации, проектирования и реализации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BIM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-подхода с гибкими форматами обучения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45" name="Прямоугольник: скругленные углы 1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cxnSp>
        <p:nvCxnSpPr>
          <p:cNvPr id="246" name="Прямая со стрелкой 1"/>
          <p:cNvCxnSpPr/>
          <p:nvPr/>
        </p:nvCxnSpPr>
        <p:spPr>
          <a:xfrm>
            <a:off x="5074200" y="4999320"/>
            <a:ext cx="619308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24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7381080" y="29275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229;p31">
            <a:hlinkClick r:id="rId3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0" name="Google Shape;230;p31">
            <a:hlinkClick r:id="rId4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1" name="Google Shape;231;p31">
            <a:hlinkClick r:id="rId5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2" name="Google Shape;232;p31">
            <a:hlinkClick r:id="rId6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3" name="Google Shape;232;p31">
            <a:hlinkClick r:id="rId7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4" name="Google Shape;232;p31">
            <a:hlinkClick r:id="rId8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5" name="Google Shape;229;p31">
            <a:hlinkClick r:id="rId9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6" name="Google Shape;229;p31">
            <a:hlinkClick r:id="rId10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7" name="Google Shape;229;p31">
            <a:hlinkClick r:id="rId11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58" name="Google Shape;269;p32">
            <a:hlinkClick r:id="rId12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59" name="Google Shape;230;p31">
            <a:hlinkClick r:id="rId13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60" name="Google Shape;232;p31">
            <a:hlinkClick r:id="rId14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61" name="Google Shape;232;p31">
            <a:hlinkClick r:id="rId15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Прямоугольник: скругленные углы 9"/>
          <p:cNvSpPr/>
          <p:nvPr/>
        </p:nvSpPr>
        <p:spPr>
          <a:xfrm>
            <a:off x="4511520" y="158220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63" name="TextBox 14"/>
          <p:cNvSpPr/>
          <p:nvPr/>
        </p:nvSpPr>
        <p:spPr>
          <a:xfrm>
            <a:off x="5046120" y="2893320"/>
            <a:ext cx="242028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 группах в нашем учебном центре онлайн по общему графику.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64" name="Google Shape;321;p35"/>
          <p:cNvSpPr/>
          <p:nvPr/>
        </p:nvSpPr>
        <p:spPr>
          <a:xfrm>
            <a:off x="10347120" y="5406480"/>
            <a:ext cx="810000" cy="82944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200" b="0" u="none" strike="noStrike">
              <a:solidFill>
                <a:schemeClr val="dk1"/>
              </a:solidFill>
              <a:effectLst/>
              <a:uFillTx/>
              <a:latin typeface="Manrope"/>
            </a:endParaRPr>
          </a:p>
        </p:txBody>
      </p:sp>
      <p:cxnSp>
        <p:nvCxnSpPr>
          <p:cNvPr id="265" name="Прямая соединительная линия 26"/>
          <p:cNvCxnSpPr>
            <a:stCxn id="266" idx="0"/>
            <a:endCxn id="267" idx="2"/>
          </p:cNvCxnSpPr>
          <p:nvPr/>
        </p:nvCxnSpPr>
        <p:spPr>
          <a:xfrm>
            <a:off x="3024000" y="4910400"/>
            <a:ext cx="5820840" cy="360"/>
          </a:xfrm>
          <a:prstGeom prst="straightConnector1">
            <a:avLst/>
          </a:prstGeom>
          <a:ln w="9525">
            <a:solidFill>
              <a:srgbClr val="0386FC"/>
            </a:solidFill>
          </a:ln>
        </p:spPr>
      </p:cxnSp>
      <p:sp>
        <p:nvSpPr>
          <p:cNvPr id="268" name="Google Shape;321;p35"/>
          <p:cNvSpPr/>
          <p:nvPr/>
        </p:nvSpPr>
        <p:spPr>
          <a:xfrm>
            <a:off x="6400080" y="5641200"/>
            <a:ext cx="7232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</a:rPr>
              <a:t>Linux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269" name="Google Shape;321;p35"/>
          <p:cNvSpPr/>
          <p:nvPr/>
        </p:nvSpPr>
        <p:spPr>
          <a:xfrm>
            <a:off x="7282800" y="5641200"/>
            <a:ext cx="117540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АСМОграф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270" name="Google Shape;321;p35"/>
          <p:cNvSpPr/>
          <p:nvPr/>
        </p:nvSpPr>
        <p:spPr>
          <a:xfrm>
            <a:off x="3326040" y="5641200"/>
            <a:ext cx="10807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nanoCAD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271" name="Google Shape;321;p35"/>
          <p:cNvSpPr/>
          <p:nvPr/>
        </p:nvSpPr>
        <p:spPr>
          <a:xfrm>
            <a:off x="4566240" y="5641200"/>
            <a:ext cx="167472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Model Studio CS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272" name="Прямоугольник: скругленные углы 8"/>
          <p:cNvSpPr/>
          <p:nvPr/>
        </p:nvSpPr>
        <p:spPr>
          <a:xfrm>
            <a:off x="675000" y="159948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73" name="Прямоугольник: скругленные углы 10"/>
          <p:cNvSpPr/>
          <p:nvPr/>
        </p:nvSpPr>
        <p:spPr>
          <a:xfrm>
            <a:off x="8335080" y="1599480"/>
            <a:ext cx="3414240" cy="258048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74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275" name="Прямая со стрелкой 1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276" name="TextBox 13"/>
          <p:cNvSpPr/>
          <p:nvPr/>
        </p:nvSpPr>
        <p:spPr>
          <a:xfrm>
            <a:off x="696960" y="2855520"/>
            <a:ext cx="336996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 нашем учебном центре,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на вашей территории или онлайн,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с учетом специфики проектов и технологий компании.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77" name="TextBox 15"/>
          <p:cNvSpPr/>
          <p:nvPr/>
        </p:nvSpPr>
        <p:spPr>
          <a:xfrm>
            <a:off x="8384040" y="2844360"/>
            <a:ext cx="33163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Доступ к видеоурокам и тестам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для самостоятельного изучения,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что помогает быстро обучать сотрудников и оптимизировать затраты.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78" name="TextBox 16"/>
          <p:cNvSpPr/>
          <p:nvPr/>
        </p:nvSpPr>
        <p:spPr>
          <a:xfrm>
            <a:off x="891720" y="1919520"/>
            <a:ext cx="2994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Корпоративное 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79" name="TextBox 17"/>
          <p:cNvSpPr/>
          <p:nvPr/>
        </p:nvSpPr>
        <p:spPr>
          <a:xfrm>
            <a:off x="4527360" y="1932840"/>
            <a:ext cx="3369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Потоковое 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0" name="TextBox 18"/>
          <p:cNvSpPr/>
          <p:nvPr/>
        </p:nvSpPr>
        <p:spPr>
          <a:xfrm>
            <a:off x="8903520" y="1932840"/>
            <a:ext cx="22777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Онлайн-обучение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66" name="Google Shape;321;p35"/>
          <p:cNvSpPr/>
          <p:nvPr/>
        </p:nvSpPr>
        <p:spPr>
          <a:xfrm>
            <a:off x="696960" y="4685760"/>
            <a:ext cx="23270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Запишитесь на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1" name="Google Shape;321;p35"/>
          <p:cNvSpPr/>
          <p:nvPr/>
        </p:nvSpPr>
        <p:spPr>
          <a:xfrm>
            <a:off x="3711960" y="4685760"/>
            <a:ext cx="172152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Получите доступ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2" name="Google Shape;321;p35"/>
          <p:cNvSpPr/>
          <p:nvPr/>
        </p:nvSpPr>
        <p:spPr>
          <a:xfrm>
            <a:off x="6121080" y="4685760"/>
            <a:ext cx="20354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Пройдите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67" name="Google Shape;321;p35"/>
          <p:cNvSpPr/>
          <p:nvPr/>
        </p:nvSpPr>
        <p:spPr>
          <a:xfrm>
            <a:off x="8844480" y="4685760"/>
            <a:ext cx="2856240" cy="44928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Применяйте знания на практике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3" name="Прямоугольник: скругленные углы 27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84" name="Google Shape;321;p35"/>
          <p:cNvSpPr/>
          <p:nvPr/>
        </p:nvSpPr>
        <p:spPr>
          <a:xfrm>
            <a:off x="696960" y="5641200"/>
            <a:ext cx="246960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Обучаем работе в ПО: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285" name="Google Shape;126;p27"/>
          <p:cNvSpPr/>
          <p:nvPr/>
        </p:nvSpPr>
        <p:spPr>
          <a:xfrm>
            <a:off x="10168200" y="6337800"/>
            <a:ext cx="1173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sng" strike="noStrike">
                <a:solidFill>
                  <a:srgbClr val="0088FE"/>
                </a:solidFill>
                <a:effectLst/>
                <a:uFillTx/>
                <a:latin typeface="+mn-lt"/>
                <a:ea typeface="Manrope"/>
                <a:hlinkClick r:id="rId1"/>
              </a:rPr>
              <a:t>Записаться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sng" strike="noStrike">
                <a:solidFill>
                  <a:srgbClr val="0088FE"/>
                </a:solidFill>
                <a:effectLst/>
                <a:uFillTx/>
                <a:latin typeface="+mn-lt"/>
                <a:ea typeface="Manrope"/>
                <a:hlinkClick r:id="rId2"/>
              </a:rPr>
              <a:t>на обучение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86" name="Рисунок 42"/>
          <p:cNvSpPr/>
          <p:nvPr/>
        </p:nvSpPr>
        <p:spPr>
          <a:xfrm>
            <a:off x="10400760" y="5517000"/>
            <a:ext cx="682560" cy="680400"/>
          </a:xfrm>
          <a:prstGeom prst="roundRect">
            <a:avLst>
              <a:gd name="adj" fmla="val 9971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pic>
        <p:nvPicPr>
          <p:cNvPr id="287" name="Рисунок 2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4">
            <a:alphaModFix amt="70000"/>
          </a:blip>
          <a:srcRect l="0" t="70797" r="0" b="0"/>
          <a:stretch/>
        </p:blipFill>
        <p:spPr>
          <a:xfrm rot="5400000">
            <a:off x="-1804680" y="3560040"/>
            <a:ext cx="3885840" cy="2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Google Shape;9193;p66"/>
          <p:cNvSpPr/>
          <p:nvPr/>
        </p:nvSpPr>
        <p:spPr>
          <a:xfrm>
            <a:off x="9862200" y="2363040"/>
            <a:ext cx="360000" cy="358560"/>
          </a:xfrm>
          <a:custGeom>
            <a:avLst/>
            <a:gdLst>
              <a:gd name="textAreaLeft" fmla="*/ 0 w 360000"/>
              <a:gd name="textAreaRight" fmla="*/ 360360 w 360000"/>
              <a:gd name="textAreaTop" fmla="*/ 0 h 358560"/>
              <a:gd name="textAreaBottom" fmla="*/ 358920 h 358560"/>
            </a:gdLst>
            <a:ahLst/>
            <a:cxnLst/>
            <a:rect l="textAreaLeft" t="textAreaTop" r="textAreaRight" b="textAreaBottom"/>
            <a:pathLst>
              <a:path w="11348" h="1130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289" name="Google Shape;9317;p66"/>
          <p:cNvSpPr/>
          <p:nvPr/>
        </p:nvSpPr>
        <p:spPr>
          <a:xfrm>
            <a:off x="2210760" y="2378520"/>
            <a:ext cx="343080" cy="343080"/>
          </a:xfrm>
          <a:custGeom>
            <a:avLst/>
            <a:gdLst>
              <a:gd name="textAreaLeft" fmla="*/ 0 w 343080"/>
              <a:gd name="textAreaRight" fmla="*/ 343440 w 343080"/>
              <a:gd name="textAreaTop" fmla="*/ 0 h 343080"/>
              <a:gd name="textAreaBottom" fmla="*/ 343440 h 343080"/>
            </a:gdLst>
            <a:ahLst/>
            <a:cxnLst/>
            <a:rect l="textAreaLeft" t="textAreaTop" r="textAreaRight" b="textAreaBottom"/>
            <a:pathLst>
              <a:path w="10812" h="10811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290" name="Google Shape;10677;p68"/>
          <p:cNvSpPr/>
          <p:nvPr/>
        </p:nvSpPr>
        <p:spPr>
          <a:xfrm>
            <a:off x="5963400" y="2387160"/>
            <a:ext cx="488880" cy="407880"/>
          </a:xfrm>
          <a:custGeom>
            <a:avLst/>
            <a:gdLst>
              <a:gd name="textAreaLeft" fmla="*/ 0 w 488880"/>
              <a:gd name="textAreaRight" fmla="*/ 489240 w 488880"/>
              <a:gd name="textAreaTop" fmla="*/ 0 h 407880"/>
              <a:gd name="textAreaBottom" fmla="*/ 408240 h 407880"/>
            </a:gdLst>
            <a:ahLst/>
            <a:cxnLst/>
            <a:rect l="textAreaLeft" t="textAreaTop" r="textAreaRight" b="textAreaBottom"/>
            <a:pathLst>
              <a:path w="10919" h="9109">
                <a:moveTo>
                  <a:pt x="2917" y="310"/>
                </a:moveTo>
                <a:cubicBezTo>
                  <a:pt x="3119" y="310"/>
                  <a:pt x="3286" y="476"/>
                  <a:pt x="3286" y="679"/>
                </a:cubicBezTo>
                <a:lnTo>
                  <a:pt x="3286" y="1036"/>
                </a:lnTo>
                <a:cubicBezTo>
                  <a:pt x="3250" y="1322"/>
                  <a:pt x="3012" y="1560"/>
                  <a:pt x="2715" y="1560"/>
                </a:cubicBezTo>
                <a:cubicBezTo>
                  <a:pt x="2417" y="1560"/>
                  <a:pt x="2179" y="1322"/>
                  <a:pt x="2179" y="1024"/>
                </a:cubicBezTo>
                <a:lnTo>
                  <a:pt x="2179" y="679"/>
                </a:lnTo>
                <a:cubicBezTo>
                  <a:pt x="2179" y="476"/>
                  <a:pt x="2346" y="310"/>
                  <a:pt x="2560" y="310"/>
                </a:cubicBezTo>
                <a:close/>
                <a:moveTo>
                  <a:pt x="5715" y="310"/>
                </a:moveTo>
                <a:cubicBezTo>
                  <a:pt x="5917" y="310"/>
                  <a:pt x="6084" y="476"/>
                  <a:pt x="6084" y="679"/>
                </a:cubicBezTo>
                <a:lnTo>
                  <a:pt x="6084" y="1036"/>
                </a:lnTo>
                <a:cubicBezTo>
                  <a:pt x="6048" y="1322"/>
                  <a:pt x="5810" y="1560"/>
                  <a:pt x="5513" y="1560"/>
                </a:cubicBezTo>
                <a:cubicBezTo>
                  <a:pt x="5215" y="1560"/>
                  <a:pt x="4977" y="1322"/>
                  <a:pt x="4977" y="1024"/>
                </a:cubicBezTo>
                <a:lnTo>
                  <a:pt x="4977" y="679"/>
                </a:lnTo>
                <a:cubicBezTo>
                  <a:pt x="4977" y="476"/>
                  <a:pt x="5144" y="310"/>
                  <a:pt x="5358" y="310"/>
                </a:cubicBezTo>
                <a:close/>
                <a:moveTo>
                  <a:pt x="8513" y="310"/>
                </a:moveTo>
                <a:cubicBezTo>
                  <a:pt x="8715" y="310"/>
                  <a:pt x="8882" y="476"/>
                  <a:pt x="8882" y="679"/>
                </a:cubicBezTo>
                <a:lnTo>
                  <a:pt x="8882" y="1036"/>
                </a:lnTo>
                <a:cubicBezTo>
                  <a:pt x="8846" y="1322"/>
                  <a:pt x="8608" y="1560"/>
                  <a:pt x="8311" y="1560"/>
                </a:cubicBezTo>
                <a:cubicBezTo>
                  <a:pt x="8013" y="1560"/>
                  <a:pt x="7775" y="1322"/>
                  <a:pt x="7775" y="1024"/>
                </a:cubicBezTo>
                <a:lnTo>
                  <a:pt x="7775" y="679"/>
                </a:lnTo>
                <a:cubicBezTo>
                  <a:pt x="7775" y="476"/>
                  <a:pt x="7941" y="310"/>
                  <a:pt x="8156" y="310"/>
                </a:cubicBezTo>
                <a:close/>
                <a:moveTo>
                  <a:pt x="2893" y="1881"/>
                </a:moveTo>
                <a:lnTo>
                  <a:pt x="2893" y="1977"/>
                </a:lnTo>
                <a:cubicBezTo>
                  <a:pt x="2893" y="2036"/>
                  <a:pt x="2905" y="2096"/>
                  <a:pt x="2941" y="2143"/>
                </a:cubicBezTo>
                <a:lnTo>
                  <a:pt x="2715" y="2358"/>
                </a:lnTo>
                <a:lnTo>
                  <a:pt x="2691" y="2358"/>
                </a:lnTo>
                <a:lnTo>
                  <a:pt x="2465" y="2143"/>
                </a:lnTo>
                <a:cubicBezTo>
                  <a:pt x="2500" y="2096"/>
                  <a:pt x="2512" y="2036"/>
                  <a:pt x="2512" y="1977"/>
                </a:cubicBezTo>
                <a:lnTo>
                  <a:pt x="2512" y="1881"/>
                </a:lnTo>
                <a:close/>
                <a:moveTo>
                  <a:pt x="5715" y="1881"/>
                </a:moveTo>
                <a:lnTo>
                  <a:pt x="5715" y="1977"/>
                </a:lnTo>
                <a:cubicBezTo>
                  <a:pt x="5715" y="2036"/>
                  <a:pt x="5727" y="2096"/>
                  <a:pt x="5751" y="2143"/>
                </a:cubicBezTo>
                <a:lnTo>
                  <a:pt x="5536" y="2358"/>
                </a:lnTo>
                <a:lnTo>
                  <a:pt x="5501" y="2358"/>
                </a:lnTo>
                <a:lnTo>
                  <a:pt x="5274" y="2143"/>
                </a:lnTo>
                <a:cubicBezTo>
                  <a:pt x="5310" y="2096"/>
                  <a:pt x="5322" y="2036"/>
                  <a:pt x="5322" y="1977"/>
                </a:cubicBezTo>
                <a:lnTo>
                  <a:pt x="5322" y="1881"/>
                </a:lnTo>
                <a:close/>
                <a:moveTo>
                  <a:pt x="8501" y="1881"/>
                </a:moveTo>
                <a:lnTo>
                  <a:pt x="8501" y="1977"/>
                </a:lnTo>
                <a:cubicBezTo>
                  <a:pt x="8501" y="2036"/>
                  <a:pt x="8525" y="2096"/>
                  <a:pt x="8549" y="2143"/>
                </a:cubicBezTo>
                <a:lnTo>
                  <a:pt x="8334" y="2358"/>
                </a:lnTo>
                <a:lnTo>
                  <a:pt x="8299" y="2358"/>
                </a:lnTo>
                <a:lnTo>
                  <a:pt x="8072" y="2143"/>
                </a:lnTo>
                <a:cubicBezTo>
                  <a:pt x="8108" y="2096"/>
                  <a:pt x="8120" y="2036"/>
                  <a:pt x="8120" y="1977"/>
                </a:cubicBezTo>
                <a:lnTo>
                  <a:pt x="8120" y="1881"/>
                </a:lnTo>
                <a:close/>
                <a:moveTo>
                  <a:pt x="9906" y="3286"/>
                </a:moveTo>
                <a:cubicBezTo>
                  <a:pt x="10120" y="3286"/>
                  <a:pt x="10275" y="3453"/>
                  <a:pt x="10275" y="3655"/>
                </a:cubicBezTo>
                <a:lnTo>
                  <a:pt x="10275" y="4012"/>
                </a:lnTo>
                <a:cubicBezTo>
                  <a:pt x="10263" y="4298"/>
                  <a:pt x="10013" y="4536"/>
                  <a:pt x="9716" y="4536"/>
                </a:cubicBezTo>
                <a:cubicBezTo>
                  <a:pt x="9418" y="4536"/>
                  <a:pt x="9180" y="4298"/>
                  <a:pt x="9180" y="4001"/>
                </a:cubicBezTo>
                <a:lnTo>
                  <a:pt x="9180" y="3655"/>
                </a:lnTo>
                <a:cubicBezTo>
                  <a:pt x="9180" y="3453"/>
                  <a:pt x="9346" y="3286"/>
                  <a:pt x="9549" y="3286"/>
                </a:cubicBezTo>
                <a:close/>
                <a:moveTo>
                  <a:pt x="1512" y="3286"/>
                </a:moveTo>
                <a:cubicBezTo>
                  <a:pt x="1691" y="3286"/>
                  <a:pt x="1857" y="3453"/>
                  <a:pt x="1857" y="3655"/>
                </a:cubicBezTo>
                <a:lnTo>
                  <a:pt x="1857" y="4012"/>
                </a:lnTo>
                <a:cubicBezTo>
                  <a:pt x="1857" y="4310"/>
                  <a:pt x="1619" y="4548"/>
                  <a:pt x="1322" y="4548"/>
                </a:cubicBezTo>
                <a:cubicBezTo>
                  <a:pt x="1024" y="4548"/>
                  <a:pt x="786" y="4310"/>
                  <a:pt x="786" y="4012"/>
                </a:cubicBezTo>
                <a:lnTo>
                  <a:pt x="786" y="3655"/>
                </a:lnTo>
                <a:cubicBezTo>
                  <a:pt x="786" y="3453"/>
                  <a:pt x="953" y="3286"/>
                  <a:pt x="1155" y="3286"/>
                </a:cubicBezTo>
                <a:close/>
                <a:moveTo>
                  <a:pt x="4310" y="3286"/>
                </a:moveTo>
                <a:cubicBezTo>
                  <a:pt x="4489" y="3286"/>
                  <a:pt x="4655" y="3453"/>
                  <a:pt x="4655" y="3655"/>
                </a:cubicBezTo>
                <a:lnTo>
                  <a:pt x="4655" y="4012"/>
                </a:lnTo>
                <a:cubicBezTo>
                  <a:pt x="4655" y="4310"/>
                  <a:pt x="4417" y="4548"/>
                  <a:pt x="4120" y="4548"/>
                </a:cubicBezTo>
                <a:cubicBezTo>
                  <a:pt x="3822" y="4548"/>
                  <a:pt x="3584" y="4310"/>
                  <a:pt x="3584" y="4012"/>
                </a:cubicBezTo>
                <a:lnTo>
                  <a:pt x="3584" y="3655"/>
                </a:lnTo>
                <a:cubicBezTo>
                  <a:pt x="3584" y="3453"/>
                  <a:pt x="3750" y="3286"/>
                  <a:pt x="3953" y="3286"/>
                </a:cubicBezTo>
                <a:close/>
                <a:moveTo>
                  <a:pt x="7108" y="3286"/>
                </a:moveTo>
                <a:cubicBezTo>
                  <a:pt x="7287" y="3286"/>
                  <a:pt x="7453" y="3453"/>
                  <a:pt x="7453" y="3655"/>
                </a:cubicBezTo>
                <a:lnTo>
                  <a:pt x="7453" y="4012"/>
                </a:lnTo>
                <a:cubicBezTo>
                  <a:pt x="7453" y="4310"/>
                  <a:pt x="7215" y="4548"/>
                  <a:pt x="6918" y="4548"/>
                </a:cubicBezTo>
                <a:cubicBezTo>
                  <a:pt x="6620" y="4548"/>
                  <a:pt x="6382" y="4310"/>
                  <a:pt x="6382" y="4012"/>
                </a:cubicBezTo>
                <a:lnTo>
                  <a:pt x="6382" y="3655"/>
                </a:lnTo>
                <a:cubicBezTo>
                  <a:pt x="6382" y="3453"/>
                  <a:pt x="6548" y="3286"/>
                  <a:pt x="6751" y="3286"/>
                </a:cubicBezTo>
                <a:close/>
                <a:moveTo>
                  <a:pt x="1500" y="4858"/>
                </a:moveTo>
                <a:lnTo>
                  <a:pt x="1500" y="4953"/>
                </a:lnTo>
                <a:cubicBezTo>
                  <a:pt x="1500" y="5013"/>
                  <a:pt x="1512" y="5072"/>
                  <a:pt x="1548" y="5120"/>
                </a:cubicBezTo>
                <a:lnTo>
                  <a:pt x="1322" y="5334"/>
                </a:lnTo>
                <a:lnTo>
                  <a:pt x="1286" y="5334"/>
                </a:lnTo>
                <a:lnTo>
                  <a:pt x="1072" y="5120"/>
                </a:lnTo>
                <a:cubicBezTo>
                  <a:pt x="1095" y="5072"/>
                  <a:pt x="1107" y="5013"/>
                  <a:pt x="1107" y="4953"/>
                </a:cubicBezTo>
                <a:lnTo>
                  <a:pt x="1107" y="4858"/>
                </a:lnTo>
                <a:close/>
                <a:moveTo>
                  <a:pt x="4298" y="4858"/>
                </a:moveTo>
                <a:lnTo>
                  <a:pt x="4298" y="4953"/>
                </a:lnTo>
                <a:cubicBezTo>
                  <a:pt x="4298" y="5013"/>
                  <a:pt x="4310" y="5072"/>
                  <a:pt x="4334" y="5120"/>
                </a:cubicBezTo>
                <a:lnTo>
                  <a:pt x="4120" y="5334"/>
                </a:lnTo>
                <a:lnTo>
                  <a:pt x="4084" y="5334"/>
                </a:lnTo>
                <a:lnTo>
                  <a:pt x="3870" y="5120"/>
                </a:lnTo>
                <a:cubicBezTo>
                  <a:pt x="3893" y="5072"/>
                  <a:pt x="3905" y="5013"/>
                  <a:pt x="3905" y="4953"/>
                </a:cubicBezTo>
                <a:lnTo>
                  <a:pt x="3905" y="4858"/>
                </a:lnTo>
                <a:close/>
                <a:moveTo>
                  <a:pt x="7108" y="4858"/>
                </a:moveTo>
                <a:lnTo>
                  <a:pt x="7108" y="4953"/>
                </a:lnTo>
                <a:cubicBezTo>
                  <a:pt x="7108" y="5013"/>
                  <a:pt x="7120" y="5072"/>
                  <a:pt x="7156" y="5120"/>
                </a:cubicBezTo>
                <a:lnTo>
                  <a:pt x="6929" y="5334"/>
                </a:lnTo>
                <a:lnTo>
                  <a:pt x="6906" y="5334"/>
                </a:lnTo>
                <a:lnTo>
                  <a:pt x="6679" y="5120"/>
                </a:lnTo>
                <a:cubicBezTo>
                  <a:pt x="6703" y="5072"/>
                  <a:pt x="6715" y="5013"/>
                  <a:pt x="6715" y="4953"/>
                </a:cubicBezTo>
                <a:lnTo>
                  <a:pt x="6715" y="4858"/>
                </a:lnTo>
                <a:close/>
                <a:moveTo>
                  <a:pt x="9906" y="4858"/>
                </a:moveTo>
                <a:lnTo>
                  <a:pt x="9906" y="4953"/>
                </a:lnTo>
                <a:cubicBezTo>
                  <a:pt x="9906" y="5013"/>
                  <a:pt x="9918" y="5072"/>
                  <a:pt x="9954" y="5120"/>
                </a:cubicBezTo>
                <a:lnTo>
                  <a:pt x="9727" y="5334"/>
                </a:lnTo>
                <a:lnTo>
                  <a:pt x="9704" y="5334"/>
                </a:lnTo>
                <a:lnTo>
                  <a:pt x="9477" y="5120"/>
                </a:lnTo>
                <a:cubicBezTo>
                  <a:pt x="9501" y="5072"/>
                  <a:pt x="9525" y="5013"/>
                  <a:pt x="9525" y="4953"/>
                </a:cubicBezTo>
                <a:lnTo>
                  <a:pt x="9525" y="4858"/>
                </a:lnTo>
                <a:close/>
                <a:moveTo>
                  <a:pt x="2453" y="0"/>
                </a:moveTo>
                <a:cubicBezTo>
                  <a:pt x="2084" y="0"/>
                  <a:pt x="1762" y="310"/>
                  <a:pt x="1762" y="679"/>
                </a:cubicBezTo>
                <a:lnTo>
                  <a:pt x="1762" y="1036"/>
                </a:lnTo>
                <a:cubicBezTo>
                  <a:pt x="1762" y="1322"/>
                  <a:pt x="1905" y="1572"/>
                  <a:pt x="2119" y="1726"/>
                </a:cubicBezTo>
                <a:lnTo>
                  <a:pt x="2119" y="1977"/>
                </a:lnTo>
                <a:cubicBezTo>
                  <a:pt x="2119" y="1977"/>
                  <a:pt x="2119" y="1988"/>
                  <a:pt x="2107" y="1988"/>
                </a:cubicBezTo>
                <a:lnTo>
                  <a:pt x="1691" y="2203"/>
                </a:lnTo>
                <a:cubicBezTo>
                  <a:pt x="1512" y="2286"/>
                  <a:pt x="1405" y="2465"/>
                  <a:pt x="1405" y="2655"/>
                </a:cubicBezTo>
                <a:lnTo>
                  <a:pt x="1405" y="2989"/>
                </a:lnTo>
                <a:lnTo>
                  <a:pt x="1036" y="2989"/>
                </a:lnTo>
                <a:cubicBezTo>
                  <a:pt x="667" y="2989"/>
                  <a:pt x="357" y="3298"/>
                  <a:pt x="357" y="3667"/>
                </a:cubicBezTo>
                <a:lnTo>
                  <a:pt x="357" y="4024"/>
                </a:lnTo>
                <a:cubicBezTo>
                  <a:pt x="357" y="4310"/>
                  <a:pt x="488" y="4560"/>
                  <a:pt x="714" y="4715"/>
                </a:cubicBezTo>
                <a:lnTo>
                  <a:pt x="714" y="4965"/>
                </a:lnTo>
                <a:cubicBezTo>
                  <a:pt x="714" y="4965"/>
                  <a:pt x="714" y="4977"/>
                  <a:pt x="691" y="4977"/>
                </a:cubicBezTo>
                <a:lnTo>
                  <a:pt x="274" y="5191"/>
                </a:lnTo>
                <a:cubicBezTo>
                  <a:pt x="95" y="5275"/>
                  <a:pt x="0" y="5453"/>
                  <a:pt x="0" y="5656"/>
                </a:cubicBezTo>
                <a:lnTo>
                  <a:pt x="0" y="7382"/>
                </a:lnTo>
                <a:cubicBezTo>
                  <a:pt x="0" y="7513"/>
                  <a:pt x="36" y="7644"/>
                  <a:pt x="119" y="7751"/>
                </a:cubicBezTo>
                <a:lnTo>
                  <a:pt x="298" y="8013"/>
                </a:lnTo>
                <a:cubicBezTo>
                  <a:pt x="333" y="8073"/>
                  <a:pt x="357" y="8156"/>
                  <a:pt x="357" y="8227"/>
                </a:cubicBezTo>
                <a:lnTo>
                  <a:pt x="357" y="8942"/>
                </a:lnTo>
                <a:cubicBezTo>
                  <a:pt x="357" y="9025"/>
                  <a:pt x="429" y="9108"/>
                  <a:pt x="512" y="9108"/>
                </a:cubicBezTo>
                <a:cubicBezTo>
                  <a:pt x="607" y="9108"/>
                  <a:pt x="679" y="9025"/>
                  <a:pt x="679" y="8942"/>
                </a:cubicBezTo>
                <a:lnTo>
                  <a:pt x="679" y="8227"/>
                </a:lnTo>
                <a:cubicBezTo>
                  <a:pt x="679" y="8096"/>
                  <a:pt x="631" y="7953"/>
                  <a:pt x="560" y="7858"/>
                </a:cubicBezTo>
                <a:lnTo>
                  <a:pt x="381" y="7584"/>
                </a:lnTo>
                <a:cubicBezTo>
                  <a:pt x="333" y="7525"/>
                  <a:pt x="321" y="7453"/>
                  <a:pt x="321" y="7382"/>
                </a:cubicBezTo>
                <a:lnTo>
                  <a:pt x="321" y="5656"/>
                </a:lnTo>
                <a:cubicBezTo>
                  <a:pt x="321" y="5572"/>
                  <a:pt x="369" y="5513"/>
                  <a:pt x="429" y="5477"/>
                </a:cubicBezTo>
                <a:lnTo>
                  <a:pt x="714" y="5322"/>
                </a:lnTo>
                <a:lnTo>
                  <a:pt x="976" y="5596"/>
                </a:lnTo>
                <a:cubicBezTo>
                  <a:pt x="1036" y="5656"/>
                  <a:pt x="1131" y="5691"/>
                  <a:pt x="1214" y="5691"/>
                </a:cubicBezTo>
                <a:cubicBezTo>
                  <a:pt x="1310" y="5691"/>
                  <a:pt x="1381" y="5667"/>
                  <a:pt x="1453" y="5596"/>
                </a:cubicBezTo>
                <a:lnTo>
                  <a:pt x="1726" y="5322"/>
                </a:lnTo>
                <a:lnTo>
                  <a:pt x="2000" y="5477"/>
                </a:lnTo>
                <a:cubicBezTo>
                  <a:pt x="2060" y="5501"/>
                  <a:pt x="2107" y="5572"/>
                  <a:pt x="2107" y="5656"/>
                </a:cubicBezTo>
                <a:lnTo>
                  <a:pt x="2107" y="7382"/>
                </a:lnTo>
                <a:cubicBezTo>
                  <a:pt x="2107" y="7453"/>
                  <a:pt x="2096" y="7525"/>
                  <a:pt x="2048" y="7584"/>
                </a:cubicBezTo>
                <a:lnTo>
                  <a:pt x="1869" y="7858"/>
                </a:lnTo>
                <a:cubicBezTo>
                  <a:pt x="1798" y="7977"/>
                  <a:pt x="1750" y="8096"/>
                  <a:pt x="1750" y="8227"/>
                </a:cubicBezTo>
                <a:lnTo>
                  <a:pt x="1750" y="8942"/>
                </a:lnTo>
                <a:cubicBezTo>
                  <a:pt x="1750" y="9025"/>
                  <a:pt x="1822" y="9108"/>
                  <a:pt x="1917" y="9108"/>
                </a:cubicBezTo>
                <a:cubicBezTo>
                  <a:pt x="2000" y="9108"/>
                  <a:pt x="2084" y="9025"/>
                  <a:pt x="2084" y="8942"/>
                </a:cubicBezTo>
                <a:lnTo>
                  <a:pt x="2084" y="8227"/>
                </a:lnTo>
                <a:cubicBezTo>
                  <a:pt x="2084" y="8156"/>
                  <a:pt x="2096" y="8073"/>
                  <a:pt x="2143" y="8013"/>
                </a:cubicBezTo>
                <a:lnTo>
                  <a:pt x="2322" y="7751"/>
                </a:lnTo>
                <a:cubicBezTo>
                  <a:pt x="2393" y="7632"/>
                  <a:pt x="2441" y="7513"/>
                  <a:pt x="2441" y="7382"/>
                </a:cubicBezTo>
                <a:lnTo>
                  <a:pt x="2441" y="5656"/>
                </a:lnTo>
                <a:cubicBezTo>
                  <a:pt x="2441" y="5453"/>
                  <a:pt x="2334" y="5275"/>
                  <a:pt x="2155" y="5191"/>
                </a:cubicBezTo>
                <a:lnTo>
                  <a:pt x="1738" y="4977"/>
                </a:lnTo>
                <a:lnTo>
                  <a:pt x="1726" y="4965"/>
                </a:lnTo>
                <a:lnTo>
                  <a:pt x="1726" y="4703"/>
                </a:lnTo>
                <a:cubicBezTo>
                  <a:pt x="1929" y="4536"/>
                  <a:pt x="2084" y="4298"/>
                  <a:pt x="2084" y="4012"/>
                </a:cubicBezTo>
                <a:lnTo>
                  <a:pt x="2084" y="3655"/>
                </a:lnTo>
                <a:cubicBezTo>
                  <a:pt x="2084" y="3405"/>
                  <a:pt x="1929" y="3179"/>
                  <a:pt x="1726" y="3060"/>
                </a:cubicBezTo>
                <a:lnTo>
                  <a:pt x="1726" y="2643"/>
                </a:lnTo>
                <a:cubicBezTo>
                  <a:pt x="1726" y="2572"/>
                  <a:pt x="1762" y="2512"/>
                  <a:pt x="1822" y="2465"/>
                </a:cubicBezTo>
                <a:lnTo>
                  <a:pt x="2107" y="2322"/>
                </a:lnTo>
                <a:lnTo>
                  <a:pt x="2381" y="2584"/>
                </a:lnTo>
                <a:cubicBezTo>
                  <a:pt x="2441" y="2643"/>
                  <a:pt x="2524" y="2691"/>
                  <a:pt x="2619" y="2691"/>
                </a:cubicBezTo>
                <a:cubicBezTo>
                  <a:pt x="2703" y="2691"/>
                  <a:pt x="2774" y="2655"/>
                  <a:pt x="2858" y="2584"/>
                </a:cubicBezTo>
                <a:lnTo>
                  <a:pt x="3119" y="2322"/>
                </a:lnTo>
                <a:lnTo>
                  <a:pt x="3405" y="2465"/>
                </a:lnTo>
                <a:cubicBezTo>
                  <a:pt x="3465" y="2500"/>
                  <a:pt x="3512" y="2572"/>
                  <a:pt x="3512" y="2643"/>
                </a:cubicBezTo>
                <a:lnTo>
                  <a:pt x="3512" y="3060"/>
                </a:lnTo>
                <a:cubicBezTo>
                  <a:pt x="3298" y="3179"/>
                  <a:pt x="3155" y="3405"/>
                  <a:pt x="3155" y="3655"/>
                </a:cubicBezTo>
                <a:lnTo>
                  <a:pt x="3155" y="4012"/>
                </a:lnTo>
                <a:cubicBezTo>
                  <a:pt x="3155" y="4298"/>
                  <a:pt x="3286" y="4548"/>
                  <a:pt x="3512" y="4703"/>
                </a:cubicBezTo>
                <a:lnTo>
                  <a:pt x="3512" y="4953"/>
                </a:lnTo>
                <a:cubicBezTo>
                  <a:pt x="3512" y="4953"/>
                  <a:pt x="3512" y="4965"/>
                  <a:pt x="3489" y="4965"/>
                </a:cubicBezTo>
                <a:lnTo>
                  <a:pt x="3072" y="5179"/>
                </a:lnTo>
                <a:cubicBezTo>
                  <a:pt x="2893" y="5263"/>
                  <a:pt x="2798" y="5441"/>
                  <a:pt x="2798" y="5632"/>
                </a:cubicBezTo>
                <a:lnTo>
                  <a:pt x="2798" y="7358"/>
                </a:lnTo>
                <a:cubicBezTo>
                  <a:pt x="2798" y="7501"/>
                  <a:pt x="2834" y="7632"/>
                  <a:pt x="2917" y="7739"/>
                </a:cubicBezTo>
                <a:lnTo>
                  <a:pt x="3096" y="8001"/>
                </a:lnTo>
                <a:cubicBezTo>
                  <a:pt x="3131" y="8061"/>
                  <a:pt x="3155" y="8132"/>
                  <a:pt x="3155" y="8215"/>
                </a:cubicBezTo>
                <a:lnTo>
                  <a:pt x="3155" y="8930"/>
                </a:lnTo>
                <a:cubicBezTo>
                  <a:pt x="3155" y="9013"/>
                  <a:pt x="3227" y="9085"/>
                  <a:pt x="3310" y="9085"/>
                </a:cubicBezTo>
                <a:cubicBezTo>
                  <a:pt x="3405" y="9085"/>
                  <a:pt x="3477" y="9013"/>
                  <a:pt x="3477" y="8930"/>
                </a:cubicBezTo>
                <a:lnTo>
                  <a:pt x="3477" y="8215"/>
                </a:lnTo>
                <a:cubicBezTo>
                  <a:pt x="3477" y="8073"/>
                  <a:pt x="3429" y="7942"/>
                  <a:pt x="3358" y="7834"/>
                </a:cubicBezTo>
                <a:lnTo>
                  <a:pt x="3179" y="7572"/>
                </a:lnTo>
                <a:cubicBezTo>
                  <a:pt x="3131" y="7513"/>
                  <a:pt x="3119" y="7441"/>
                  <a:pt x="3119" y="7358"/>
                </a:cubicBezTo>
                <a:lnTo>
                  <a:pt x="3119" y="5632"/>
                </a:lnTo>
                <a:cubicBezTo>
                  <a:pt x="3119" y="5560"/>
                  <a:pt x="3167" y="5501"/>
                  <a:pt x="3227" y="5453"/>
                </a:cubicBezTo>
                <a:lnTo>
                  <a:pt x="3512" y="5310"/>
                </a:lnTo>
                <a:lnTo>
                  <a:pt x="3774" y="5572"/>
                </a:lnTo>
                <a:cubicBezTo>
                  <a:pt x="3834" y="5632"/>
                  <a:pt x="3929" y="5679"/>
                  <a:pt x="4012" y="5679"/>
                </a:cubicBezTo>
                <a:cubicBezTo>
                  <a:pt x="4108" y="5679"/>
                  <a:pt x="4179" y="5656"/>
                  <a:pt x="4251" y="5572"/>
                </a:cubicBezTo>
                <a:lnTo>
                  <a:pt x="4524" y="5310"/>
                </a:lnTo>
                <a:lnTo>
                  <a:pt x="4798" y="5453"/>
                </a:lnTo>
                <a:cubicBezTo>
                  <a:pt x="4858" y="5489"/>
                  <a:pt x="4905" y="5560"/>
                  <a:pt x="4905" y="5632"/>
                </a:cubicBezTo>
                <a:lnTo>
                  <a:pt x="4905" y="7358"/>
                </a:lnTo>
                <a:cubicBezTo>
                  <a:pt x="4905" y="7441"/>
                  <a:pt x="4893" y="7513"/>
                  <a:pt x="4846" y="7572"/>
                </a:cubicBezTo>
                <a:lnTo>
                  <a:pt x="4667" y="7834"/>
                </a:lnTo>
                <a:cubicBezTo>
                  <a:pt x="4596" y="7953"/>
                  <a:pt x="4548" y="8073"/>
                  <a:pt x="4548" y="8215"/>
                </a:cubicBezTo>
                <a:lnTo>
                  <a:pt x="4548" y="8930"/>
                </a:lnTo>
                <a:cubicBezTo>
                  <a:pt x="4548" y="9013"/>
                  <a:pt x="4620" y="9085"/>
                  <a:pt x="4715" y="9085"/>
                </a:cubicBezTo>
                <a:cubicBezTo>
                  <a:pt x="4798" y="9085"/>
                  <a:pt x="4882" y="9013"/>
                  <a:pt x="4882" y="8930"/>
                </a:cubicBezTo>
                <a:lnTo>
                  <a:pt x="4882" y="8215"/>
                </a:lnTo>
                <a:cubicBezTo>
                  <a:pt x="4882" y="8132"/>
                  <a:pt x="4893" y="8061"/>
                  <a:pt x="4941" y="8001"/>
                </a:cubicBezTo>
                <a:lnTo>
                  <a:pt x="5120" y="7739"/>
                </a:lnTo>
                <a:cubicBezTo>
                  <a:pt x="5191" y="7620"/>
                  <a:pt x="5239" y="7501"/>
                  <a:pt x="5239" y="7358"/>
                </a:cubicBezTo>
                <a:lnTo>
                  <a:pt x="5239" y="5632"/>
                </a:lnTo>
                <a:cubicBezTo>
                  <a:pt x="5239" y="5441"/>
                  <a:pt x="5132" y="5263"/>
                  <a:pt x="4953" y="5179"/>
                </a:cubicBezTo>
                <a:lnTo>
                  <a:pt x="4536" y="4965"/>
                </a:lnTo>
                <a:lnTo>
                  <a:pt x="4524" y="4953"/>
                </a:lnTo>
                <a:lnTo>
                  <a:pt x="4524" y="4703"/>
                </a:lnTo>
                <a:cubicBezTo>
                  <a:pt x="4727" y="4536"/>
                  <a:pt x="4882" y="4298"/>
                  <a:pt x="4882" y="4012"/>
                </a:cubicBezTo>
                <a:lnTo>
                  <a:pt x="4882" y="3655"/>
                </a:lnTo>
                <a:cubicBezTo>
                  <a:pt x="4882" y="3405"/>
                  <a:pt x="4727" y="3179"/>
                  <a:pt x="4524" y="3060"/>
                </a:cubicBezTo>
                <a:lnTo>
                  <a:pt x="4524" y="2643"/>
                </a:lnTo>
                <a:cubicBezTo>
                  <a:pt x="4524" y="2572"/>
                  <a:pt x="4560" y="2512"/>
                  <a:pt x="4620" y="2465"/>
                </a:cubicBezTo>
                <a:lnTo>
                  <a:pt x="4905" y="2322"/>
                </a:lnTo>
                <a:lnTo>
                  <a:pt x="5179" y="2584"/>
                </a:lnTo>
                <a:cubicBezTo>
                  <a:pt x="5239" y="2643"/>
                  <a:pt x="5322" y="2691"/>
                  <a:pt x="5417" y="2691"/>
                </a:cubicBezTo>
                <a:cubicBezTo>
                  <a:pt x="5501" y="2691"/>
                  <a:pt x="5572" y="2655"/>
                  <a:pt x="5655" y="2584"/>
                </a:cubicBezTo>
                <a:lnTo>
                  <a:pt x="5917" y="2322"/>
                </a:lnTo>
                <a:lnTo>
                  <a:pt x="6203" y="2465"/>
                </a:lnTo>
                <a:cubicBezTo>
                  <a:pt x="6263" y="2500"/>
                  <a:pt x="6310" y="2572"/>
                  <a:pt x="6310" y="2643"/>
                </a:cubicBezTo>
                <a:lnTo>
                  <a:pt x="6310" y="3060"/>
                </a:lnTo>
                <a:cubicBezTo>
                  <a:pt x="6096" y="3179"/>
                  <a:pt x="5953" y="3405"/>
                  <a:pt x="5953" y="3655"/>
                </a:cubicBezTo>
                <a:lnTo>
                  <a:pt x="5953" y="4012"/>
                </a:lnTo>
                <a:cubicBezTo>
                  <a:pt x="5953" y="4298"/>
                  <a:pt x="6084" y="4548"/>
                  <a:pt x="6310" y="4703"/>
                </a:cubicBezTo>
                <a:lnTo>
                  <a:pt x="6310" y="4953"/>
                </a:lnTo>
                <a:cubicBezTo>
                  <a:pt x="6310" y="4953"/>
                  <a:pt x="6310" y="4965"/>
                  <a:pt x="6287" y="4965"/>
                </a:cubicBezTo>
                <a:lnTo>
                  <a:pt x="5870" y="5179"/>
                </a:lnTo>
                <a:cubicBezTo>
                  <a:pt x="5691" y="5263"/>
                  <a:pt x="5596" y="5441"/>
                  <a:pt x="5596" y="5632"/>
                </a:cubicBezTo>
                <a:lnTo>
                  <a:pt x="5596" y="7358"/>
                </a:lnTo>
                <a:cubicBezTo>
                  <a:pt x="5596" y="7501"/>
                  <a:pt x="5632" y="7632"/>
                  <a:pt x="5715" y="7739"/>
                </a:cubicBezTo>
                <a:lnTo>
                  <a:pt x="5894" y="8001"/>
                </a:lnTo>
                <a:cubicBezTo>
                  <a:pt x="5929" y="8061"/>
                  <a:pt x="5953" y="8132"/>
                  <a:pt x="5953" y="8215"/>
                </a:cubicBezTo>
                <a:lnTo>
                  <a:pt x="5953" y="8930"/>
                </a:lnTo>
                <a:cubicBezTo>
                  <a:pt x="5953" y="9013"/>
                  <a:pt x="6025" y="9085"/>
                  <a:pt x="6108" y="9085"/>
                </a:cubicBezTo>
                <a:cubicBezTo>
                  <a:pt x="6203" y="9085"/>
                  <a:pt x="6275" y="9013"/>
                  <a:pt x="6275" y="8930"/>
                </a:cubicBezTo>
                <a:lnTo>
                  <a:pt x="6275" y="8215"/>
                </a:lnTo>
                <a:cubicBezTo>
                  <a:pt x="6275" y="8073"/>
                  <a:pt x="6227" y="7942"/>
                  <a:pt x="6156" y="7834"/>
                </a:cubicBezTo>
                <a:lnTo>
                  <a:pt x="5977" y="7572"/>
                </a:lnTo>
                <a:cubicBezTo>
                  <a:pt x="5929" y="7513"/>
                  <a:pt x="5917" y="7441"/>
                  <a:pt x="5917" y="7358"/>
                </a:cubicBezTo>
                <a:lnTo>
                  <a:pt x="5917" y="5632"/>
                </a:lnTo>
                <a:cubicBezTo>
                  <a:pt x="5917" y="5560"/>
                  <a:pt x="5965" y="5501"/>
                  <a:pt x="6025" y="5453"/>
                </a:cubicBezTo>
                <a:lnTo>
                  <a:pt x="6310" y="5310"/>
                </a:lnTo>
                <a:lnTo>
                  <a:pt x="6572" y="5572"/>
                </a:lnTo>
                <a:cubicBezTo>
                  <a:pt x="6632" y="5632"/>
                  <a:pt x="6727" y="5679"/>
                  <a:pt x="6810" y="5679"/>
                </a:cubicBezTo>
                <a:cubicBezTo>
                  <a:pt x="6906" y="5679"/>
                  <a:pt x="6977" y="5656"/>
                  <a:pt x="7049" y="5572"/>
                </a:cubicBezTo>
                <a:lnTo>
                  <a:pt x="7322" y="5310"/>
                </a:lnTo>
                <a:lnTo>
                  <a:pt x="7596" y="5453"/>
                </a:lnTo>
                <a:cubicBezTo>
                  <a:pt x="7656" y="5489"/>
                  <a:pt x="7703" y="5560"/>
                  <a:pt x="7703" y="5632"/>
                </a:cubicBezTo>
                <a:lnTo>
                  <a:pt x="7703" y="7358"/>
                </a:lnTo>
                <a:cubicBezTo>
                  <a:pt x="7703" y="7441"/>
                  <a:pt x="7691" y="7513"/>
                  <a:pt x="7644" y="7572"/>
                </a:cubicBezTo>
                <a:lnTo>
                  <a:pt x="7465" y="7834"/>
                </a:lnTo>
                <a:cubicBezTo>
                  <a:pt x="7394" y="7953"/>
                  <a:pt x="7346" y="8073"/>
                  <a:pt x="7346" y="8215"/>
                </a:cubicBezTo>
                <a:lnTo>
                  <a:pt x="7346" y="8930"/>
                </a:lnTo>
                <a:cubicBezTo>
                  <a:pt x="7346" y="9013"/>
                  <a:pt x="7418" y="9085"/>
                  <a:pt x="7513" y="9085"/>
                </a:cubicBezTo>
                <a:cubicBezTo>
                  <a:pt x="7596" y="9085"/>
                  <a:pt x="7680" y="9013"/>
                  <a:pt x="7680" y="8930"/>
                </a:cubicBezTo>
                <a:lnTo>
                  <a:pt x="7680" y="8215"/>
                </a:lnTo>
                <a:cubicBezTo>
                  <a:pt x="7680" y="8132"/>
                  <a:pt x="7691" y="8061"/>
                  <a:pt x="7739" y="8001"/>
                </a:cubicBezTo>
                <a:lnTo>
                  <a:pt x="7918" y="7739"/>
                </a:lnTo>
                <a:cubicBezTo>
                  <a:pt x="7989" y="7620"/>
                  <a:pt x="8037" y="7501"/>
                  <a:pt x="8037" y="7358"/>
                </a:cubicBezTo>
                <a:lnTo>
                  <a:pt x="8037" y="5632"/>
                </a:lnTo>
                <a:cubicBezTo>
                  <a:pt x="8037" y="5441"/>
                  <a:pt x="7930" y="5263"/>
                  <a:pt x="7751" y="5179"/>
                </a:cubicBezTo>
                <a:lnTo>
                  <a:pt x="7334" y="4965"/>
                </a:lnTo>
                <a:lnTo>
                  <a:pt x="7322" y="4953"/>
                </a:lnTo>
                <a:lnTo>
                  <a:pt x="7322" y="4703"/>
                </a:lnTo>
                <a:cubicBezTo>
                  <a:pt x="7525" y="4536"/>
                  <a:pt x="7680" y="4298"/>
                  <a:pt x="7680" y="4012"/>
                </a:cubicBezTo>
                <a:lnTo>
                  <a:pt x="7680" y="3655"/>
                </a:lnTo>
                <a:cubicBezTo>
                  <a:pt x="7680" y="3405"/>
                  <a:pt x="7525" y="3179"/>
                  <a:pt x="7322" y="3060"/>
                </a:cubicBezTo>
                <a:lnTo>
                  <a:pt x="7322" y="2643"/>
                </a:lnTo>
                <a:cubicBezTo>
                  <a:pt x="7322" y="2572"/>
                  <a:pt x="7358" y="2512"/>
                  <a:pt x="7418" y="2465"/>
                </a:cubicBezTo>
                <a:lnTo>
                  <a:pt x="7703" y="2322"/>
                </a:lnTo>
                <a:lnTo>
                  <a:pt x="7977" y="2584"/>
                </a:lnTo>
                <a:cubicBezTo>
                  <a:pt x="8037" y="2643"/>
                  <a:pt x="8120" y="2691"/>
                  <a:pt x="8215" y="2691"/>
                </a:cubicBezTo>
                <a:cubicBezTo>
                  <a:pt x="8299" y="2691"/>
                  <a:pt x="8370" y="2655"/>
                  <a:pt x="8453" y="2584"/>
                </a:cubicBezTo>
                <a:lnTo>
                  <a:pt x="8715" y="2322"/>
                </a:lnTo>
                <a:lnTo>
                  <a:pt x="9001" y="2465"/>
                </a:lnTo>
                <a:cubicBezTo>
                  <a:pt x="9061" y="2500"/>
                  <a:pt x="9108" y="2572"/>
                  <a:pt x="9108" y="2643"/>
                </a:cubicBezTo>
                <a:lnTo>
                  <a:pt x="9108" y="3060"/>
                </a:lnTo>
                <a:cubicBezTo>
                  <a:pt x="8894" y="3179"/>
                  <a:pt x="8751" y="3405"/>
                  <a:pt x="8751" y="3655"/>
                </a:cubicBezTo>
                <a:lnTo>
                  <a:pt x="8751" y="4012"/>
                </a:lnTo>
                <a:cubicBezTo>
                  <a:pt x="8751" y="4298"/>
                  <a:pt x="8882" y="4548"/>
                  <a:pt x="9108" y="4703"/>
                </a:cubicBezTo>
                <a:lnTo>
                  <a:pt x="9108" y="4953"/>
                </a:lnTo>
                <a:cubicBezTo>
                  <a:pt x="9108" y="4953"/>
                  <a:pt x="9108" y="4965"/>
                  <a:pt x="9084" y="4965"/>
                </a:cubicBezTo>
                <a:lnTo>
                  <a:pt x="8668" y="5179"/>
                </a:lnTo>
                <a:cubicBezTo>
                  <a:pt x="8489" y="5263"/>
                  <a:pt x="8394" y="5441"/>
                  <a:pt x="8394" y="5632"/>
                </a:cubicBezTo>
                <a:lnTo>
                  <a:pt x="8394" y="7358"/>
                </a:lnTo>
                <a:cubicBezTo>
                  <a:pt x="8394" y="7501"/>
                  <a:pt x="8430" y="7632"/>
                  <a:pt x="8513" y="7739"/>
                </a:cubicBezTo>
                <a:lnTo>
                  <a:pt x="8692" y="8001"/>
                </a:lnTo>
                <a:cubicBezTo>
                  <a:pt x="8727" y="8061"/>
                  <a:pt x="8751" y="8132"/>
                  <a:pt x="8751" y="8215"/>
                </a:cubicBezTo>
                <a:lnTo>
                  <a:pt x="8751" y="8930"/>
                </a:lnTo>
                <a:cubicBezTo>
                  <a:pt x="8751" y="9013"/>
                  <a:pt x="8823" y="9085"/>
                  <a:pt x="8906" y="9085"/>
                </a:cubicBezTo>
                <a:cubicBezTo>
                  <a:pt x="9001" y="9085"/>
                  <a:pt x="9073" y="9013"/>
                  <a:pt x="9073" y="8930"/>
                </a:cubicBezTo>
                <a:lnTo>
                  <a:pt x="9073" y="8215"/>
                </a:lnTo>
                <a:cubicBezTo>
                  <a:pt x="9073" y="8073"/>
                  <a:pt x="9025" y="7942"/>
                  <a:pt x="8954" y="7834"/>
                </a:cubicBezTo>
                <a:lnTo>
                  <a:pt x="8775" y="7572"/>
                </a:lnTo>
                <a:cubicBezTo>
                  <a:pt x="8727" y="7513"/>
                  <a:pt x="8715" y="7441"/>
                  <a:pt x="8715" y="7358"/>
                </a:cubicBezTo>
                <a:lnTo>
                  <a:pt x="8715" y="5632"/>
                </a:lnTo>
                <a:cubicBezTo>
                  <a:pt x="8715" y="5560"/>
                  <a:pt x="8763" y="5501"/>
                  <a:pt x="8823" y="5453"/>
                </a:cubicBezTo>
                <a:lnTo>
                  <a:pt x="9108" y="5310"/>
                </a:lnTo>
                <a:lnTo>
                  <a:pt x="9370" y="5572"/>
                </a:lnTo>
                <a:cubicBezTo>
                  <a:pt x="9430" y="5632"/>
                  <a:pt x="9525" y="5679"/>
                  <a:pt x="9608" y="5679"/>
                </a:cubicBezTo>
                <a:cubicBezTo>
                  <a:pt x="9704" y="5679"/>
                  <a:pt x="9775" y="5656"/>
                  <a:pt x="9846" y="5572"/>
                </a:cubicBezTo>
                <a:lnTo>
                  <a:pt x="10120" y="5310"/>
                </a:lnTo>
                <a:lnTo>
                  <a:pt x="10394" y="5453"/>
                </a:lnTo>
                <a:cubicBezTo>
                  <a:pt x="10454" y="5489"/>
                  <a:pt x="10501" y="5560"/>
                  <a:pt x="10501" y="5632"/>
                </a:cubicBezTo>
                <a:lnTo>
                  <a:pt x="10501" y="7358"/>
                </a:lnTo>
                <a:cubicBezTo>
                  <a:pt x="10501" y="7441"/>
                  <a:pt x="10489" y="7513"/>
                  <a:pt x="10442" y="7572"/>
                </a:cubicBezTo>
                <a:lnTo>
                  <a:pt x="10263" y="7834"/>
                </a:lnTo>
                <a:cubicBezTo>
                  <a:pt x="10192" y="7953"/>
                  <a:pt x="10144" y="8073"/>
                  <a:pt x="10144" y="8215"/>
                </a:cubicBezTo>
                <a:lnTo>
                  <a:pt x="10144" y="8930"/>
                </a:lnTo>
                <a:cubicBezTo>
                  <a:pt x="10144" y="9013"/>
                  <a:pt x="10216" y="9085"/>
                  <a:pt x="10311" y="9085"/>
                </a:cubicBezTo>
                <a:cubicBezTo>
                  <a:pt x="10394" y="9085"/>
                  <a:pt x="10478" y="9013"/>
                  <a:pt x="10478" y="8930"/>
                </a:cubicBezTo>
                <a:lnTo>
                  <a:pt x="10478" y="8215"/>
                </a:lnTo>
                <a:cubicBezTo>
                  <a:pt x="10478" y="8132"/>
                  <a:pt x="10489" y="8061"/>
                  <a:pt x="10537" y="8001"/>
                </a:cubicBezTo>
                <a:lnTo>
                  <a:pt x="10716" y="7739"/>
                </a:lnTo>
                <a:cubicBezTo>
                  <a:pt x="10787" y="7620"/>
                  <a:pt x="10835" y="7501"/>
                  <a:pt x="10835" y="7358"/>
                </a:cubicBezTo>
                <a:lnTo>
                  <a:pt x="10835" y="5632"/>
                </a:lnTo>
                <a:cubicBezTo>
                  <a:pt x="10918" y="5429"/>
                  <a:pt x="10811" y="5251"/>
                  <a:pt x="10632" y="5155"/>
                </a:cubicBezTo>
                <a:lnTo>
                  <a:pt x="10216" y="4953"/>
                </a:lnTo>
                <a:lnTo>
                  <a:pt x="10204" y="4941"/>
                </a:lnTo>
                <a:lnTo>
                  <a:pt x="10204" y="4703"/>
                </a:lnTo>
                <a:cubicBezTo>
                  <a:pt x="10418" y="4536"/>
                  <a:pt x="10561" y="4298"/>
                  <a:pt x="10561" y="4012"/>
                </a:cubicBezTo>
                <a:lnTo>
                  <a:pt x="10561" y="3655"/>
                </a:lnTo>
                <a:cubicBezTo>
                  <a:pt x="10561" y="3286"/>
                  <a:pt x="10251" y="2977"/>
                  <a:pt x="9882" y="2977"/>
                </a:cubicBezTo>
                <a:lnTo>
                  <a:pt x="9501" y="2977"/>
                </a:lnTo>
                <a:lnTo>
                  <a:pt x="9501" y="2643"/>
                </a:lnTo>
                <a:cubicBezTo>
                  <a:pt x="9501" y="2453"/>
                  <a:pt x="9406" y="2274"/>
                  <a:pt x="9227" y="2179"/>
                </a:cubicBezTo>
                <a:lnTo>
                  <a:pt x="8811" y="1977"/>
                </a:lnTo>
                <a:lnTo>
                  <a:pt x="8787" y="1953"/>
                </a:lnTo>
                <a:lnTo>
                  <a:pt x="8787" y="1726"/>
                </a:lnTo>
                <a:cubicBezTo>
                  <a:pt x="9001" y="1560"/>
                  <a:pt x="9144" y="1322"/>
                  <a:pt x="9144" y="1036"/>
                </a:cubicBezTo>
                <a:lnTo>
                  <a:pt x="9144" y="679"/>
                </a:lnTo>
                <a:cubicBezTo>
                  <a:pt x="9144" y="310"/>
                  <a:pt x="8834" y="0"/>
                  <a:pt x="8465" y="0"/>
                </a:cubicBezTo>
                <a:lnTo>
                  <a:pt x="8108" y="0"/>
                </a:lnTo>
                <a:cubicBezTo>
                  <a:pt x="7739" y="0"/>
                  <a:pt x="7418" y="310"/>
                  <a:pt x="7418" y="679"/>
                </a:cubicBezTo>
                <a:lnTo>
                  <a:pt x="7418" y="1036"/>
                </a:lnTo>
                <a:cubicBezTo>
                  <a:pt x="7418" y="1322"/>
                  <a:pt x="7560" y="1572"/>
                  <a:pt x="7775" y="1726"/>
                </a:cubicBezTo>
                <a:lnTo>
                  <a:pt x="7775" y="1977"/>
                </a:lnTo>
                <a:cubicBezTo>
                  <a:pt x="7775" y="1977"/>
                  <a:pt x="7775" y="1988"/>
                  <a:pt x="7763" y="1988"/>
                </a:cubicBezTo>
                <a:lnTo>
                  <a:pt x="7346" y="2203"/>
                </a:lnTo>
                <a:cubicBezTo>
                  <a:pt x="7168" y="2286"/>
                  <a:pt x="7060" y="2465"/>
                  <a:pt x="7060" y="2655"/>
                </a:cubicBezTo>
                <a:lnTo>
                  <a:pt x="7060" y="2989"/>
                </a:lnTo>
                <a:lnTo>
                  <a:pt x="6679" y="2989"/>
                </a:lnTo>
                <a:lnTo>
                  <a:pt x="6679" y="2655"/>
                </a:lnTo>
                <a:cubicBezTo>
                  <a:pt x="6679" y="2465"/>
                  <a:pt x="6572" y="2286"/>
                  <a:pt x="6394" y="2203"/>
                </a:cubicBezTo>
                <a:lnTo>
                  <a:pt x="5977" y="1988"/>
                </a:lnTo>
                <a:lnTo>
                  <a:pt x="5965" y="1977"/>
                </a:lnTo>
                <a:lnTo>
                  <a:pt x="5965" y="1726"/>
                </a:lnTo>
                <a:cubicBezTo>
                  <a:pt x="6167" y="1560"/>
                  <a:pt x="6322" y="1322"/>
                  <a:pt x="6322" y="1036"/>
                </a:cubicBezTo>
                <a:lnTo>
                  <a:pt x="6322" y="679"/>
                </a:lnTo>
                <a:cubicBezTo>
                  <a:pt x="6322" y="310"/>
                  <a:pt x="6013" y="0"/>
                  <a:pt x="5632" y="0"/>
                </a:cubicBezTo>
                <a:lnTo>
                  <a:pt x="5274" y="0"/>
                </a:lnTo>
                <a:cubicBezTo>
                  <a:pt x="4905" y="0"/>
                  <a:pt x="4596" y="310"/>
                  <a:pt x="4596" y="679"/>
                </a:cubicBezTo>
                <a:lnTo>
                  <a:pt x="4596" y="1036"/>
                </a:lnTo>
                <a:cubicBezTo>
                  <a:pt x="4596" y="1322"/>
                  <a:pt x="4727" y="1572"/>
                  <a:pt x="4953" y="1726"/>
                </a:cubicBezTo>
                <a:lnTo>
                  <a:pt x="4953" y="1977"/>
                </a:lnTo>
                <a:cubicBezTo>
                  <a:pt x="4953" y="1977"/>
                  <a:pt x="4953" y="1988"/>
                  <a:pt x="4941" y="1988"/>
                </a:cubicBezTo>
                <a:lnTo>
                  <a:pt x="4524" y="2203"/>
                </a:lnTo>
                <a:cubicBezTo>
                  <a:pt x="4346" y="2286"/>
                  <a:pt x="4239" y="2465"/>
                  <a:pt x="4239" y="2655"/>
                </a:cubicBezTo>
                <a:lnTo>
                  <a:pt x="4239" y="2989"/>
                </a:lnTo>
                <a:lnTo>
                  <a:pt x="3846" y="2989"/>
                </a:lnTo>
                <a:lnTo>
                  <a:pt x="3846" y="2655"/>
                </a:lnTo>
                <a:cubicBezTo>
                  <a:pt x="3846" y="2465"/>
                  <a:pt x="3750" y="2286"/>
                  <a:pt x="3572" y="2203"/>
                </a:cubicBezTo>
                <a:lnTo>
                  <a:pt x="3155" y="1988"/>
                </a:lnTo>
                <a:lnTo>
                  <a:pt x="3131" y="1977"/>
                </a:lnTo>
                <a:lnTo>
                  <a:pt x="3131" y="1726"/>
                </a:lnTo>
                <a:cubicBezTo>
                  <a:pt x="3346" y="1560"/>
                  <a:pt x="3489" y="1322"/>
                  <a:pt x="3489" y="1036"/>
                </a:cubicBezTo>
                <a:lnTo>
                  <a:pt x="3489" y="679"/>
                </a:lnTo>
                <a:cubicBezTo>
                  <a:pt x="3489" y="310"/>
                  <a:pt x="3179" y="0"/>
                  <a:pt x="2810" y="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291" name="Овал 103"/>
          <p:cNvSpPr/>
          <p:nvPr/>
        </p:nvSpPr>
        <p:spPr>
          <a:xfrm>
            <a:off x="365868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92" name="Овал 104"/>
          <p:cNvSpPr/>
          <p:nvPr/>
        </p:nvSpPr>
        <p:spPr>
          <a:xfrm>
            <a:off x="606780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93" name="Овал 105"/>
          <p:cNvSpPr/>
          <p:nvPr/>
        </p:nvSpPr>
        <p:spPr>
          <a:xfrm>
            <a:off x="8798040" y="4884120"/>
            <a:ext cx="52920" cy="52920"/>
          </a:xfrm>
          <a:prstGeom prst="ellipse">
            <a:avLst/>
          </a:prstGeom>
          <a:solidFill>
            <a:srgbClr val="0386F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7200" rIns="90000" bIns="-72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294" name="Google Shape;229;p31">
            <a:hlinkClick r:id="rId5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5" name="Google Shape;230;p31">
            <a:hlinkClick r:id="rId6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6" name="Google Shape;231;p31">
            <a:hlinkClick r:id="rId7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7" name="Google Shape;232;p31">
            <a:hlinkClick r:id="rId8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8" name="Google Shape;232;p31">
            <a:hlinkClick r:id="rId9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299" name="Google Shape;232;p31">
            <a:hlinkClick r:id="rId10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0" name="Google Shape;229;p31">
            <a:hlinkClick r:id="rId11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1" name="Google Shape;229;p31">
            <a:hlinkClick r:id="rId12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2" name="Google Shape;229;p31">
            <a:hlinkClick r:id="rId13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3" name="Google Shape;269;p32">
            <a:hlinkClick r:id="rId14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04" name="Google Shape;230;p31">
            <a:hlinkClick r:id="rId15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5" name="Google Shape;232;p31">
            <a:hlinkClick r:id="rId16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6" name="Google Shape;232;p31">
            <a:hlinkClick r:id="rId17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07" name="Google Shape;321;p35"/>
          <p:cNvSpPr/>
          <p:nvPr/>
        </p:nvSpPr>
        <p:spPr>
          <a:xfrm>
            <a:off x="8617320" y="5641200"/>
            <a:ext cx="84708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Renga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21;p35"/>
          <p:cNvSpPr/>
          <p:nvPr/>
        </p:nvSpPr>
        <p:spPr>
          <a:xfrm>
            <a:off x="1127160" y="4113360"/>
            <a:ext cx="4742280" cy="2367360"/>
          </a:xfrm>
          <a:prstGeom prst="snip1Rect">
            <a:avLst>
              <a:gd name="adj" fmla="val 1666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en-US" sz="11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09" name="Google Shape;321;p35"/>
          <p:cNvSpPr/>
          <p:nvPr/>
        </p:nvSpPr>
        <p:spPr>
          <a:xfrm>
            <a:off x="6136200" y="2153160"/>
            <a:ext cx="4742280" cy="1745640"/>
          </a:xfrm>
          <a:prstGeom prst="snip1Rect">
            <a:avLst>
              <a:gd name="adj" fmla="val 1666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en-US" sz="11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10" name="Google Shape;321;p35"/>
          <p:cNvSpPr/>
          <p:nvPr/>
        </p:nvSpPr>
        <p:spPr>
          <a:xfrm>
            <a:off x="1127160" y="2153160"/>
            <a:ext cx="4742280" cy="1745640"/>
          </a:xfrm>
          <a:prstGeom prst="snip1Rect">
            <a:avLst>
              <a:gd name="adj" fmla="val 16667"/>
            </a:avLst>
          </a:prstGeom>
          <a:solidFill>
            <a:srgbClr val="F2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en-US" sz="11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11" name="TextBox 10"/>
          <p:cNvSpPr/>
          <p:nvPr/>
        </p:nvSpPr>
        <p:spPr>
          <a:xfrm>
            <a:off x="1916280" y="2675160"/>
            <a:ext cx="381276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Технический специалист-спикер разбирает узкие темы для инженеров-проектировщиков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и специалистов САПР/BIM. Участники задают вопросы в чате, смотрят демонстрацию ПО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и практические примеры.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12" name="TextBox 11"/>
          <p:cNvSpPr/>
          <p:nvPr/>
        </p:nvSpPr>
        <p:spPr>
          <a:xfrm>
            <a:off x="1916280" y="2367360"/>
            <a:ext cx="2994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Вебинары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13" name="TextBox 13"/>
          <p:cNvSpPr/>
          <p:nvPr/>
        </p:nvSpPr>
        <p:spPr>
          <a:xfrm>
            <a:off x="1838520" y="4655880"/>
            <a:ext cx="389016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Участники ТД тестируют ПО, решают задачи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и оценивают инструменты для своих проектов. 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Офлайн: 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занятия проходят  в оборудованном учебном классе  с сертифицированным инструктором; </a:t>
            </a:r>
            <a:r>
              <a:rPr lang="ru-RU" sz="1200" b="1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Онлайн: </a:t>
            </a: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обучение проводится под руководством инструктора, участникам требуется заранее подготовленное техническое оборудование.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14" name="TextBox 14"/>
          <p:cNvSpPr/>
          <p:nvPr/>
        </p:nvSpPr>
        <p:spPr>
          <a:xfrm>
            <a:off x="1838520" y="4348080"/>
            <a:ext cx="2994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Тест-драйвы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6925320" y="2669400"/>
            <a:ext cx="395352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Очное обучение, где участники прослушивают информацию с демонстрацией от сертифицированного инструктора по созданию моделей объекта в программном обеспечении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с возможностью задать вопросы.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6925320" y="2361600"/>
            <a:ext cx="2994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Мастер-классы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17" name="Рисунок 19" descr="Изображение выглядит как одежда, человек, Человеческое лицо, улыбка&#10;&#10;Контент, сгенерированный ИИ, может содержать ошибки."/>
          <p:cNvSpPr/>
          <p:nvPr/>
        </p:nvSpPr>
        <p:spPr>
          <a:xfrm>
            <a:off x="6138360" y="4123800"/>
            <a:ext cx="3962160" cy="2367360"/>
          </a:xfrm>
          <a:prstGeom prst="snipRoundRect">
            <a:avLst>
              <a:gd name="adj1" fmla="val 0"/>
              <a:gd name="adj2" fmla="val 16667"/>
            </a:avLst>
          </a:prstGeom>
          <a:blipFill rotWithShape="0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318" name="Google Shape;321;p35"/>
          <p:cNvSpPr/>
          <p:nvPr/>
        </p:nvSpPr>
        <p:spPr>
          <a:xfrm>
            <a:off x="8250840" y="5749200"/>
            <a:ext cx="2628000" cy="73260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100" b="0" u="none" strike="noStrike">
                <a:solidFill>
                  <a:schemeClr val="lt1"/>
                </a:solidFill>
                <a:effectLst/>
                <a:uFillTx/>
                <a:latin typeface="+mn-lt"/>
                <a:ea typeface="Manrope"/>
              </a:rPr>
              <a:t>Очный мастер-класс по работе с </a:t>
            </a:r>
            <a:r>
              <a:rPr lang="ru-RU" sz="11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Model Studio CS Электрика</a:t>
            </a:r>
            <a:r>
              <a:rPr lang="ru-RU" sz="1100" b="0" u="none" strike="noStrike">
                <a:solidFill>
                  <a:schemeClr val="lt1"/>
                </a:solidFill>
                <a:effectLst/>
                <a:uFillTx/>
                <a:latin typeface="+mn-lt"/>
                <a:ea typeface="Manrope"/>
              </a:rPr>
              <a:t>, 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100" b="0" u="none" strike="noStrike">
                <a:solidFill>
                  <a:schemeClr val="lt1"/>
                </a:solidFill>
                <a:effectLst/>
                <a:uFillTx/>
                <a:latin typeface="+mn-lt"/>
                <a:ea typeface="Manrope"/>
              </a:rPr>
              <a:t>г. Санкт- Петербург.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grpSp>
        <p:nvGrpSpPr>
          <p:cNvPr id="319" name="Google Shape;597;p43"/>
          <p:cNvGrpSpPr/>
          <p:nvPr/>
        </p:nvGrpSpPr>
        <p:grpSpPr>
          <a:xfrm>
            <a:off x="1371960" y="2956680"/>
            <a:ext cx="411120" cy="315360"/>
            <a:chOff x="1371960" y="2956680"/>
            <a:chExt cx="411120" cy="315360"/>
          </a:xfrm>
        </p:grpSpPr>
        <p:sp>
          <p:nvSpPr>
            <p:cNvPr id="320" name="Google Shape;598;p43"/>
            <p:cNvSpPr/>
            <p:nvPr/>
          </p:nvSpPr>
          <p:spPr>
            <a:xfrm>
              <a:off x="1371960" y="2956680"/>
              <a:ext cx="411120" cy="315360"/>
            </a:xfrm>
            <a:custGeom>
              <a:avLst/>
              <a:gdLst>
                <a:gd name="textAreaLeft" fmla="*/ 0 w 411120"/>
                <a:gd name="textAreaRight" fmla="*/ 411480 w 411120"/>
                <a:gd name="textAreaTop" fmla="*/ 0 h 315360"/>
                <a:gd name="textAreaBottom" fmla="*/ 315720 h 315360"/>
              </a:gdLst>
              <a:ahLst/>
              <a:cxnLst/>
              <a:rect l="textAreaLeft" t="textAreaTop" r="textAreaRight" b="textAreaBottom"/>
              <a:pathLst>
                <a:path w="12919" h="9907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1" name="Google Shape;599;p43"/>
            <p:cNvSpPr/>
            <p:nvPr/>
          </p:nvSpPr>
          <p:spPr>
            <a:xfrm>
              <a:off x="1407240" y="2985480"/>
              <a:ext cx="11880" cy="1224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82" h="394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" tIns="6120" rIns="612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2" name="Google Shape;600;p43"/>
            <p:cNvSpPr/>
            <p:nvPr/>
          </p:nvSpPr>
          <p:spPr>
            <a:xfrm>
              <a:off x="1429200" y="2985480"/>
              <a:ext cx="12240" cy="1224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94" h="394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" tIns="6120" rIns="612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3" name="Google Shape;601;p43"/>
            <p:cNvSpPr/>
            <p:nvPr/>
          </p:nvSpPr>
          <p:spPr>
            <a:xfrm>
              <a:off x="1451520" y="2985480"/>
              <a:ext cx="12240" cy="1224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394" h="394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20" tIns="6120" rIns="612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4" name="Google Shape;602;p43"/>
            <p:cNvSpPr/>
            <p:nvPr/>
          </p:nvSpPr>
          <p:spPr>
            <a:xfrm>
              <a:off x="1671480" y="2985480"/>
              <a:ext cx="79200" cy="1224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501" h="394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9600" tIns="6120" rIns="3960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5" name="Google Shape;603;p43"/>
            <p:cNvSpPr/>
            <p:nvPr/>
          </p:nvSpPr>
          <p:spPr>
            <a:xfrm>
              <a:off x="1635480" y="2985480"/>
              <a:ext cx="26640" cy="1224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846" h="394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3320" tIns="6120" rIns="1332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6" name="Google Shape;604;p43"/>
            <p:cNvSpPr/>
            <p:nvPr/>
          </p:nvSpPr>
          <p:spPr>
            <a:xfrm>
              <a:off x="1494360" y="3050280"/>
              <a:ext cx="166680" cy="121320"/>
            </a:xfrm>
            <a:custGeom>
              <a:avLst/>
              <a:gdLst>
                <a:gd name="textAreaLeft" fmla="*/ 0 w 166680"/>
                <a:gd name="textAreaRight" fmla="*/ 167040 w 166680"/>
                <a:gd name="textAreaTop" fmla="*/ 0 h 121320"/>
                <a:gd name="textAreaBottom" fmla="*/ 121680 h 121320"/>
              </a:gdLst>
              <a:ahLst/>
              <a:cxnLst/>
              <a:rect l="textAreaLeft" t="textAreaTop" r="textAreaRight" b="textAreaBottom"/>
              <a:pathLst>
                <a:path w="5239" h="3822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3520" tIns="60840" rIns="83520" bIns="6084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7" name="Google Shape;605;p43"/>
            <p:cNvSpPr/>
            <p:nvPr/>
          </p:nvSpPr>
          <p:spPr>
            <a:xfrm>
              <a:off x="1551960" y="3084480"/>
              <a:ext cx="54000" cy="532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3280"/>
                <a:gd name="textAreaBottom" fmla="*/ 53640 h 53280"/>
              </a:gdLst>
              <a:ahLst/>
              <a:cxnLst/>
              <a:rect l="textAreaLeft" t="textAreaTop" r="textAreaRight" b="textAreaBottom"/>
              <a:pathLst>
                <a:path w="1704" h="1683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7000" tIns="26640" rIns="27000" bIns="2664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8" name="Google Shape;606;p43"/>
            <p:cNvSpPr/>
            <p:nvPr/>
          </p:nvSpPr>
          <p:spPr>
            <a:xfrm>
              <a:off x="1416600" y="3228120"/>
              <a:ext cx="160200" cy="12240"/>
            </a:xfrm>
            <a:custGeom>
              <a:avLst/>
              <a:gdLst>
                <a:gd name="textAreaLeft" fmla="*/ 0 w 160200"/>
                <a:gd name="textAreaRight" fmla="*/ 160560 w 1602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5037" h="393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6120" rIns="8028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29" name="Google Shape;607;p43"/>
            <p:cNvSpPr/>
            <p:nvPr/>
          </p:nvSpPr>
          <p:spPr>
            <a:xfrm>
              <a:off x="1698120" y="3227760"/>
              <a:ext cx="43200" cy="1188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1371" h="382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6120" rIns="21600" bIns="61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</p:grpSp>
      <p:sp>
        <p:nvSpPr>
          <p:cNvPr id="330" name="Google Shape;596;p43"/>
          <p:cNvSpPr/>
          <p:nvPr/>
        </p:nvSpPr>
        <p:spPr>
          <a:xfrm>
            <a:off x="6326640" y="2944080"/>
            <a:ext cx="492120" cy="401040"/>
          </a:xfrm>
          <a:custGeom>
            <a:avLst/>
            <a:gdLst>
              <a:gd name="textAreaLeft" fmla="*/ 0 w 492120"/>
              <a:gd name="textAreaRight" fmla="*/ 492480 w 492120"/>
              <a:gd name="textAreaTop" fmla="*/ 0 h 401040"/>
              <a:gd name="textAreaBottom" fmla="*/ 401400 h 401040"/>
            </a:gdLst>
            <a:ahLst/>
            <a:cxnLst/>
            <a:rect l="textAreaLeft" t="textAreaTop" r="textAreaRight" b="textAreaBottom"/>
            <a:pathLst>
              <a:path w="11943" h="9734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grpSp>
        <p:nvGrpSpPr>
          <p:cNvPr id="331" name="Google Shape;591;p43"/>
          <p:cNvGrpSpPr/>
          <p:nvPr/>
        </p:nvGrpSpPr>
        <p:grpSpPr>
          <a:xfrm>
            <a:off x="1376640" y="5166720"/>
            <a:ext cx="379440" cy="237240"/>
            <a:chOff x="1376640" y="5166720"/>
            <a:chExt cx="379440" cy="237240"/>
          </a:xfrm>
        </p:grpSpPr>
        <p:sp>
          <p:nvSpPr>
            <p:cNvPr id="332" name="Google Shape;592;p43"/>
            <p:cNvSpPr/>
            <p:nvPr/>
          </p:nvSpPr>
          <p:spPr>
            <a:xfrm>
              <a:off x="1436400" y="5194440"/>
              <a:ext cx="113400" cy="11340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113400"/>
                <a:gd name="textAreaBottom" fmla="*/ 113760 h 113400"/>
              </a:gdLst>
              <a:ahLst/>
              <a:cxnLst/>
              <a:rect l="textAreaLeft" t="textAreaTop" r="textAreaRight" b="textAreaBottom"/>
              <a:pathLst>
                <a:path w="3573" h="3573">
                  <a:moveTo>
                    <a:pt x="1786" y="358"/>
                  </a:moveTo>
                  <a:cubicBezTo>
                    <a:pt x="2572" y="358"/>
                    <a:pt x="3215" y="1001"/>
                    <a:pt x="3215" y="1787"/>
                  </a:cubicBezTo>
                  <a:cubicBezTo>
                    <a:pt x="3215" y="2572"/>
                    <a:pt x="2572" y="3215"/>
                    <a:pt x="1786" y="3215"/>
                  </a:cubicBezTo>
                  <a:cubicBezTo>
                    <a:pt x="988" y="3215"/>
                    <a:pt x="357" y="2572"/>
                    <a:pt x="357" y="1787"/>
                  </a:cubicBezTo>
                  <a:cubicBezTo>
                    <a:pt x="334" y="1001"/>
                    <a:pt x="988" y="358"/>
                    <a:pt x="1786" y="358"/>
                  </a:cubicBezTo>
                  <a:close/>
                  <a:moveTo>
                    <a:pt x="1786" y="1"/>
                  </a:moveTo>
                  <a:cubicBezTo>
                    <a:pt x="798" y="1"/>
                    <a:pt x="0" y="810"/>
                    <a:pt x="0" y="1787"/>
                  </a:cubicBezTo>
                  <a:cubicBezTo>
                    <a:pt x="0" y="2787"/>
                    <a:pt x="798" y="3572"/>
                    <a:pt x="1786" y="3572"/>
                  </a:cubicBezTo>
                  <a:cubicBezTo>
                    <a:pt x="2762" y="3572"/>
                    <a:pt x="3572" y="2775"/>
                    <a:pt x="3572" y="1787"/>
                  </a:cubicBezTo>
                  <a:cubicBezTo>
                    <a:pt x="3572" y="810"/>
                    <a:pt x="2762" y="1"/>
                    <a:pt x="17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6880" tIns="56880" rIns="56880" bIns="5688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33" name="Google Shape;593;p43"/>
            <p:cNvSpPr/>
            <p:nvPr/>
          </p:nvSpPr>
          <p:spPr>
            <a:xfrm>
              <a:off x="1585080" y="5267880"/>
              <a:ext cx="62280" cy="6228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1965" h="1965">
                  <a:moveTo>
                    <a:pt x="989" y="358"/>
                  </a:moveTo>
                  <a:cubicBezTo>
                    <a:pt x="1322" y="358"/>
                    <a:pt x="1608" y="643"/>
                    <a:pt x="1608" y="977"/>
                  </a:cubicBezTo>
                  <a:cubicBezTo>
                    <a:pt x="1608" y="1322"/>
                    <a:pt x="1322" y="1608"/>
                    <a:pt x="989" y="1608"/>
                  </a:cubicBezTo>
                  <a:cubicBezTo>
                    <a:pt x="982" y="1608"/>
                    <a:pt x="975" y="1608"/>
                    <a:pt x="968" y="1608"/>
                  </a:cubicBezTo>
                  <a:cubicBezTo>
                    <a:pt x="632" y="1608"/>
                    <a:pt x="358" y="1327"/>
                    <a:pt x="358" y="977"/>
                  </a:cubicBezTo>
                  <a:cubicBezTo>
                    <a:pt x="358" y="643"/>
                    <a:pt x="643" y="358"/>
                    <a:pt x="989" y="358"/>
                  </a:cubicBezTo>
                  <a:close/>
                  <a:moveTo>
                    <a:pt x="989" y="0"/>
                  </a:moveTo>
                  <a:cubicBezTo>
                    <a:pt x="441" y="0"/>
                    <a:pt x="0" y="429"/>
                    <a:pt x="0" y="977"/>
                  </a:cubicBezTo>
                  <a:cubicBezTo>
                    <a:pt x="0" y="1512"/>
                    <a:pt x="429" y="1965"/>
                    <a:pt x="989" y="1965"/>
                  </a:cubicBezTo>
                  <a:cubicBezTo>
                    <a:pt x="1524" y="1965"/>
                    <a:pt x="1965" y="1536"/>
                    <a:pt x="1965" y="977"/>
                  </a:cubicBezTo>
                  <a:cubicBezTo>
                    <a:pt x="1965" y="441"/>
                    <a:pt x="1536" y="0"/>
                    <a:pt x="98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1320" tIns="31320" rIns="31320" bIns="313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34" name="Google Shape;594;p43"/>
            <p:cNvSpPr/>
            <p:nvPr/>
          </p:nvSpPr>
          <p:spPr>
            <a:xfrm>
              <a:off x="1658880" y="5267880"/>
              <a:ext cx="62280" cy="6228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1965" h="1965">
                  <a:moveTo>
                    <a:pt x="1000" y="358"/>
                  </a:moveTo>
                  <a:cubicBezTo>
                    <a:pt x="1334" y="358"/>
                    <a:pt x="1620" y="643"/>
                    <a:pt x="1620" y="977"/>
                  </a:cubicBezTo>
                  <a:cubicBezTo>
                    <a:pt x="1620" y="1322"/>
                    <a:pt x="1334" y="1608"/>
                    <a:pt x="1000" y="1608"/>
                  </a:cubicBezTo>
                  <a:cubicBezTo>
                    <a:pt x="655" y="1608"/>
                    <a:pt x="369" y="1334"/>
                    <a:pt x="369" y="977"/>
                  </a:cubicBezTo>
                  <a:cubicBezTo>
                    <a:pt x="369" y="643"/>
                    <a:pt x="655" y="358"/>
                    <a:pt x="1000" y="358"/>
                  </a:cubicBezTo>
                  <a:close/>
                  <a:moveTo>
                    <a:pt x="977" y="0"/>
                  </a:moveTo>
                  <a:cubicBezTo>
                    <a:pt x="429" y="0"/>
                    <a:pt x="0" y="429"/>
                    <a:pt x="0" y="977"/>
                  </a:cubicBezTo>
                  <a:cubicBezTo>
                    <a:pt x="0" y="1512"/>
                    <a:pt x="429" y="1965"/>
                    <a:pt x="977" y="1965"/>
                  </a:cubicBezTo>
                  <a:cubicBezTo>
                    <a:pt x="1536" y="1965"/>
                    <a:pt x="1965" y="1536"/>
                    <a:pt x="1965" y="977"/>
                  </a:cubicBezTo>
                  <a:cubicBezTo>
                    <a:pt x="1965" y="441"/>
                    <a:pt x="1536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1320" tIns="31320" rIns="31320" bIns="3132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  <p:sp>
          <p:nvSpPr>
            <p:cNvPr id="335" name="Google Shape;595;p43"/>
            <p:cNvSpPr/>
            <p:nvPr/>
          </p:nvSpPr>
          <p:spPr>
            <a:xfrm>
              <a:off x="1376640" y="5166720"/>
              <a:ext cx="379440" cy="23724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237240"/>
                <a:gd name="textAreaBottom" fmla="*/ 237600 h 237240"/>
              </a:gdLst>
              <a:ahLst/>
              <a:cxnLst/>
              <a:rect l="textAreaLeft" t="textAreaTop" r="textAreaRight" b="textAreaBottom"/>
              <a:pathLst>
                <a:path w="11919" h="7459">
                  <a:moveTo>
                    <a:pt x="9144" y="1315"/>
                  </a:moveTo>
                  <a:cubicBezTo>
                    <a:pt x="9418" y="1315"/>
                    <a:pt x="9656" y="1506"/>
                    <a:pt x="9739" y="1756"/>
                  </a:cubicBezTo>
                  <a:lnTo>
                    <a:pt x="8096" y="1756"/>
                  </a:lnTo>
                  <a:cubicBezTo>
                    <a:pt x="8168" y="1506"/>
                    <a:pt x="8406" y="1315"/>
                    <a:pt x="8692" y="1315"/>
                  </a:cubicBezTo>
                  <a:close/>
                  <a:moveTo>
                    <a:pt x="3822" y="6566"/>
                  </a:moveTo>
                  <a:lnTo>
                    <a:pt x="3822" y="6970"/>
                  </a:lnTo>
                  <a:cubicBezTo>
                    <a:pt x="3822" y="7042"/>
                    <a:pt x="3762" y="7113"/>
                    <a:pt x="3679" y="7113"/>
                  </a:cubicBezTo>
                  <a:lnTo>
                    <a:pt x="2024" y="7113"/>
                  </a:lnTo>
                  <a:cubicBezTo>
                    <a:pt x="1953" y="7113"/>
                    <a:pt x="1881" y="7054"/>
                    <a:pt x="1881" y="6970"/>
                  </a:cubicBezTo>
                  <a:lnTo>
                    <a:pt x="1881" y="6566"/>
                  </a:lnTo>
                  <a:close/>
                  <a:moveTo>
                    <a:pt x="10001" y="6566"/>
                  </a:moveTo>
                  <a:lnTo>
                    <a:pt x="10001" y="6970"/>
                  </a:lnTo>
                  <a:lnTo>
                    <a:pt x="10013" y="6970"/>
                  </a:lnTo>
                  <a:cubicBezTo>
                    <a:pt x="10013" y="7042"/>
                    <a:pt x="9954" y="7113"/>
                    <a:pt x="9870" y="7113"/>
                  </a:cubicBezTo>
                  <a:lnTo>
                    <a:pt x="8215" y="7113"/>
                  </a:lnTo>
                  <a:cubicBezTo>
                    <a:pt x="8144" y="7113"/>
                    <a:pt x="8072" y="7054"/>
                    <a:pt x="8072" y="6970"/>
                  </a:cubicBezTo>
                  <a:lnTo>
                    <a:pt x="8072" y="6566"/>
                  </a:lnTo>
                  <a:close/>
                  <a:moveTo>
                    <a:pt x="3660" y="1"/>
                  </a:moveTo>
                  <a:cubicBezTo>
                    <a:pt x="3359" y="1"/>
                    <a:pt x="3052" y="52"/>
                    <a:pt x="2750" y="160"/>
                  </a:cubicBezTo>
                  <a:cubicBezTo>
                    <a:pt x="2667" y="196"/>
                    <a:pt x="2619" y="291"/>
                    <a:pt x="2655" y="386"/>
                  </a:cubicBezTo>
                  <a:cubicBezTo>
                    <a:pt x="2675" y="455"/>
                    <a:pt x="2751" y="500"/>
                    <a:pt x="2824" y="500"/>
                  </a:cubicBezTo>
                  <a:cubicBezTo>
                    <a:pt x="2840" y="500"/>
                    <a:pt x="2855" y="498"/>
                    <a:pt x="2869" y="493"/>
                  </a:cubicBezTo>
                  <a:cubicBezTo>
                    <a:pt x="3132" y="398"/>
                    <a:pt x="3397" y="353"/>
                    <a:pt x="3656" y="353"/>
                  </a:cubicBezTo>
                  <a:cubicBezTo>
                    <a:pt x="4845" y="353"/>
                    <a:pt x="5906" y="1294"/>
                    <a:pt x="5965" y="2565"/>
                  </a:cubicBezTo>
                  <a:cubicBezTo>
                    <a:pt x="6025" y="3887"/>
                    <a:pt x="4965" y="4970"/>
                    <a:pt x="3667" y="4970"/>
                  </a:cubicBezTo>
                  <a:cubicBezTo>
                    <a:pt x="2381" y="4970"/>
                    <a:pt x="1357" y="3934"/>
                    <a:pt x="1357" y="2649"/>
                  </a:cubicBezTo>
                  <a:cubicBezTo>
                    <a:pt x="1357" y="1922"/>
                    <a:pt x="1715" y="1220"/>
                    <a:pt x="2310" y="803"/>
                  </a:cubicBezTo>
                  <a:cubicBezTo>
                    <a:pt x="2381" y="744"/>
                    <a:pt x="2393" y="636"/>
                    <a:pt x="2346" y="565"/>
                  </a:cubicBezTo>
                  <a:cubicBezTo>
                    <a:pt x="2307" y="519"/>
                    <a:pt x="2254" y="493"/>
                    <a:pt x="2198" y="493"/>
                  </a:cubicBezTo>
                  <a:cubicBezTo>
                    <a:pt x="2168" y="493"/>
                    <a:pt x="2137" y="500"/>
                    <a:pt x="2107" y="517"/>
                  </a:cubicBezTo>
                  <a:cubicBezTo>
                    <a:pt x="1679" y="839"/>
                    <a:pt x="1357" y="1279"/>
                    <a:pt x="1179" y="1767"/>
                  </a:cubicBezTo>
                  <a:lnTo>
                    <a:pt x="655" y="1767"/>
                  </a:lnTo>
                  <a:cubicBezTo>
                    <a:pt x="298" y="1767"/>
                    <a:pt x="0" y="2065"/>
                    <a:pt x="0" y="2422"/>
                  </a:cubicBezTo>
                  <a:lnTo>
                    <a:pt x="0" y="5911"/>
                  </a:lnTo>
                  <a:cubicBezTo>
                    <a:pt x="0" y="6268"/>
                    <a:pt x="298" y="6566"/>
                    <a:pt x="655" y="6566"/>
                  </a:cubicBezTo>
                  <a:lnTo>
                    <a:pt x="1560" y="6566"/>
                  </a:lnTo>
                  <a:lnTo>
                    <a:pt x="1560" y="6970"/>
                  </a:lnTo>
                  <a:cubicBezTo>
                    <a:pt x="1560" y="7232"/>
                    <a:pt x="1786" y="7459"/>
                    <a:pt x="2048" y="7459"/>
                  </a:cubicBezTo>
                  <a:lnTo>
                    <a:pt x="3703" y="7459"/>
                  </a:lnTo>
                  <a:cubicBezTo>
                    <a:pt x="3977" y="7459"/>
                    <a:pt x="4191" y="7232"/>
                    <a:pt x="4191" y="6970"/>
                  </a:cubicBezTo>
                  <a:lnTo>
                    <a:pt x="4191" y="6566"/>
                  </a:lnTo>
                  <a:lnTo>
                    <a:pt x="6537" y="6566"/>
                  </a:lnTo>
                  <a:cubicBezTo>
                    <a:pt x="6620" y="6566"/>
                    <a:pt x="6715" y="6494"/>
                    <a:pt x="6715" y="6387"/>
                  </a:cubicBezTo>
                  <a:cubicBezTo>
                    <a:pt x="6715" y="6292"/>
                    <a:pt x="6644" y="6208"/>
                    <a:pt x="6537" y="6208"/>
                  </a:cubicBezTo>
                  <a:lnTo>
                    <a:pt x="655" y="6208"/>
                  </a:lnTo>
                  <a:cubicBezTo>
                    <a:pt x="476" y="6208"/>
                    <a:pt x="345" y="6066"/>
                    <a:pt x="345" y="5887"/>
                  </a:cubicBezTo>
                  <a:lnTo>
                    <a:pt x="345" y="2410"/>
                  </a:lnTo>
                  <a:cubicBezTo>
                    <a:pt x="345" y="2232"/>
                    <a:pt x="476" y="2101"/>
                    <a:pt x="655" y="2101"/>
                  </a:cubicBezTo>
                  <a:lnTo>
                    <a:pt x="1072" y="2101"/>
                  </a:lnTo>
                  <a:cubicBezTo>
                    <a:pt x="726" y="3708"/>
                    <a:pt x="1953" y="5292"/>
                    <a:pt x="3655" y="5292"/>
                  </a:cubicBezTo>
                  <a:cubicBezTo>
                    <a:pt x="5358" y="5292"/>
                    <a:pt x="6608" y="3720"/>
                    <a:pt x="6251" y="2101"/>
                  </a:cubicBezTo>
                  <a:lnTo>
                    <a:pt x="11263" y="2101"/>
                  </a:lnTo>
                  <a:cubicBezTo>
                    <a:pt x="11430" y="2101"/>
                    <a:pt x="11573" y="2232"/>
                    <a:pt x="11573" y="2410"/>
                  </a:cubicBezTo>
                  <a:lnTo>
                    <a:pt x="11573" y="5887"/>
                  </a:lnTo>
                  <a:cubicBezTo>
                    <a:pt x="11573" y="6054"/>
                    <a:pt x="11442" y="6208"/>
                    <a:pt x="11263" y="6208"/>
                  </a:cubicBezTo>
                  <a:lnTo>
                    <a:pt x="7168" y="6208"/>
                  </a:lnTo>
                  <a:cubicBezTo>
                    <a:pt x="7084" y="6208"/>
                    <a:pt x="6989" y="6280"/>
                    <a:pt x="6989" y="6387"/>
                  </a:cubicBezTo>
                  <a:cubicBezTo>
                    <a:pt x="6989" y="6470"/>
                    <a:pt x="7072" y="6566"/>
                    <a:pt x="7168" y="6566"/>
                  </a:cubicBezTo>
                  <a:lnTo>
                    <a:pt x="7727" y="6566"/>
                  </a:lnTo>
                  <a:lnTo>
                    <a:pt x="7727" y="6970"/>
                  </a:lnTo>
                  <a:cubicBezTo>
                    <a:pt x="7727" y="7232"/>
                    <a:pt x="7941" y="7459"/>
                    <a:pt x="8215" y="7459"/>
                  </a:cubicBezTo>
                  <a:lnTo>
                    <a:pt x="9870" y="7459"/>
                  </a:lnTo>
                  <a:cubicBezTo>
                    <a:pt x="10132" y="7459"/>
                    <a:pt x="10358" y="7232"/>
                    <a:pt x="10358" y="6970"/>
                  </a:cubicBezTo>
                  <a:lnTo>
                    <a:pt x="10358" y="6566"/>
                  </a:lnTo>
                  <a:lnTo>
                    <a:pt x="11263" y="6566"/>
                  </a:lnTo>
                  <a:cubicBezTo>
                    <a:pt x="11621" y="6566"/>
                    <a:pt x="11918" y="6268"/>
                    <a:pt x="11918" y="5911"/>
                  </a:cubicBezTo>
                  <a:lnTo>
                    <a:pt x="11918" y="2422"/>
                  </a:lnTo>
                  <a:cubicBezTo>
                    <a:pt x="11918" y="2053"/>
                    <a:pt x="11621" y="1756"/>
                    <a:pt x="11263" y="1756"/>
                  </a:cubicBezTo>
                  <a:lnTo>
                    <a:pt x="10108" y="1756"/>
                  </a:lnTo>
                  <a:cubicBezTo>
                    <a:pt x="10013" y="1291"/>
                    <a:pt x="9632" y="958"/>
                    <a:pt x="9144" y="958"/>
                  </a:cubicBezTo>
                  <a:lnTo>
                    <a:pt x="8692" y="958"/>
                  </a:lnTo>
                  <a:cubicBezTo>
                    <a:pt x="8215" y="958"/>
                    <a:pt x="7811" y="1291"/>
                    <a:pt x="7727" y="1756"/>
                  </a:cubicBezTo>
                  <a:lnTo>
                    <a:pt x="6167" y="1756"/>
                  </a:lnTo>
                  <a:cubicBezTo>
                    <a:pt x="5766" y="673"/>
                    <a:pt x="4751" y="1"/>
                    <a:pt x="366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endParaRPr>
            </a:p>
          </p:txBody>
        </p:sp>
      </p:grpSp>
      <p:sp>
        <p:nvSpPr>
          <p:cNvPr id="336" name="Прямоугольник: скругленные углы 38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37" name="Заголовок 1"/>
          <p:cNvSpPr/>
          <p:nvPr/>
        </p:nvSpPr>
        <p:spPr>
          <a:xfrm>
            <a:off x="1043640" y="1294200"/>
            <a:ext cx="634032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Обучение на бесплатной основе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3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33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340" name="Google Shape;229;p31">
            <a:hlinkClick r:id="rId3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1" name="Google Shape;230;p31">
            <a:hlinkClick r:id="rId4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2" name="Google Shape;231;p31">
            <a:hlinkClick r:id="rId5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3" name="Google Shape;232;p31">
            <a:hlinkClick r:id="rId6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4" name="Google Shape;232;p31">
            <a:hlinkClick r:id="rId7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5" name="Google Shape;232;p31">
            <a:hlinkClick r:id="rId8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6" name="Google Shape;229;p31">
            <a:hlinkClick r:id="rId9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7" name="Google Shape;229;p31">
            <a:hlinkClick r:id="rId10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8" name="Google Shape;229;p31">
            <a:hlinkClick r:id="rId11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49" name="Google Shape;269;p32">
            <a:hlinkClick r:id="rId12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50" name="Google Shape;230;p31">
            <a:hlinkClick r:id="rId13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51" name="Google Shape;232;p31">
            <a:hlinkClick r:id="rId14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52" name="Google Shape;232;p31">
            <a:hlinkClick r:id="rId15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353" name="Рисунок 57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6">
            <a:alphaModFix amt="70000"/>
          </a:blip>
          <a:srcRect l="0" t="55656" r="0" b="0"/>
          <a:stretch/>
        </p:blipFill>
        <p:spPr>
          <a:xfrm rot="5400000">
            <a:off x="10039680" y="3536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Рисунок 58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7">
            <a:alphaModFix amt="70000"/>
          </a:blip>
          <a:srcRect l="0" t="55656" r="0" b="0"/>
          <a:stretch/>
        </p:blipFill>
        <p:spPr>
          <a:xfrm flipH="1" rot="16200000">
            <a:off x="-1733400" y="3536280"/>
            <a:ext cx="3885840" cy="41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Прямоугольник 2"/>
          <p:cNvSpPr/>
          <p:nvPr/>
        </p:nvSpPr>
        <p:spPr>
          <a:xfrm>
            <a:off x="986040" y="3218400"/>
            <a:ext cx="415800" cy="2861640"/>
          </a:xfrm>
          <a:prstGeom prst="rect">
            <a:avLst/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56" name="Объект 2"/>
          <p:cNvSpPr/>
          <p:nvPr/>
        </p:nvSpPr>
        <p:spPr>
          <a:xfrm>
            <a:off x="904680" y="3206520"/>
            <a:ext cx="4833360" cy="28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 lnSpcReduction="9999"/>
          </a:bodyPr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ФГБОУ ВО «СпбГАСУ»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ФГБОУ ВО «НГАСУ (Сибстрин)»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Университет Науки и Технологий Мисис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Казанский государственный архитектурно-строительный университет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ФГБОУ ВО «Тюменский Индустриальный Университет»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ФГБОУ ВО «НовГУ»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ФГБОУ ВО «НИУ «МЭИ»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Московский Политехнический Университет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ФГБОУ ВО «Новосибирский Государственный Технический Университет»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ФГАОУ ВО «СПбПУ»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357" name="Рисунок 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tretch/>
        </p:blipFill>
        <p:spPr>
          <a:xfrm rot="16200000">
            <a:off x="330120" y="3756960"/>
            <a:ext cx="1217520" cy="29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Прямоугольник: скругленные углы 5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59" name="Заголовок 1"/>
          <p:cNvSpPr/>
          <p:nvPr/>
        </p:nvSpPr>
        <p:spPr>
          <a:xfrm>
            <a:off x="826200" y="1437840"/>
            <a:ext cx="918936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Сотрудничество с образовательными учреждениями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60" name="Прямоугольник 18"/>
          <p:cNvSpPr/>
          <p:nvPr/>
        </p:nvSpPr>
        <p:spPr>
          <a:xfrm>
            <a:off x="6535440" y="3239640"/>
            <a:ext cx="415800" cy="1227600"/>
          </a:xfrm>
          <a:prstGeom prst="rect">
            <a:avLst/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61" name="Объект 2"/>
          <p:cNvSpPr/>
          <p:nvPr/>
        </p:nvSpPr>
        <p:spPr>
          <a:xfrm>
            <a:off x="6427800" y="3072600"/>
            <a:ext cx="576396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ГБПОУ КО «ККСТ» им. И.К. Ципулина»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ОГБПОУ «Смоленский строительный колледж»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КГА ПОУ «ДВТК»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FFFFFF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 ГБПОУ «26 КАДР»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362" name="Рисунок 20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42965" t="0" r="0" b="0"/>
          <a:stretch/>
        </p:blipFill>
        <p:spPr>
          <a:xfrm rot="16200000">
            <a:off x="6134400" y="3495240"/>
            <a:ext cx="694080" cy="29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364" name="Прямая со стрелкой 2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365" name="Google Shape;321;p35"/>
          <p:cNvSpPr/>
          <p:nvPr/>
        </p:nvSpPr>
        <p:spPr>
          <a:xfrm>
            <a:off x="6535440" y="5056200"/>
            <a:ext cx="3196440" cy="10054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66" name="TextBox 24"/>
          <p:cNvSpPr/>
          <p:nvPr/>
        </p:nvSpPr>
        <p:spPr>
          <a:xfrm>
            <a:off x="6741720" y="5190840"/>
            <a:ext cx="29163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+mn-lt"/>
              </a:rPr>
              <a:t>Обучаем преподавателей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+mn-lt"/>
              </a:rPr>
              <a:t>и студентов ВУЗов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386FC"/>
                </a:solidFill>
                <a:effectLst/>
                <a:uFillTx/>
                <a:latin typeface="+mn-lt"/>
              </a:rPr>
              <a:t>и колледжей по всей РФ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67" name="Google Shape;321;p35"/>
          <p:cNvSpPr/>
          <p:nvPr/>
        </p:nvSpPr>
        <p:spPr>
          <a:xfrm>
            <a:off x="986040" y="2757240"/>
            <a:ext cx="31964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Университеты и ВУЗы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368" name="Google Shape;321;p35"/>
          <p:cNvSpPr/>
          <p:nvPr/>
        </p:nvSpPr>
        <p:spPr>
          <a:xfrm>
            <a:off x="6535440" y="2790000"/>
            <a:ext cx="3196440" cy="4492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anrope ExtraBold"/>
                <a:ea typeface="Manrope"/>
              </a:rPr>
              <a:t>Колледжи и техникумы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369" name="Google Shape;229;p31">
            <a:hlinkClick r:id="rId3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0" name="Google Shape;230;p31">
            <a:hlinkClick r:id="rId4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1" name="Google Shape;231;p31">
            <a:hlinkClick r:id="rId5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2" name="Google Shape;232;p31">
            <a:hlinkClick r:id="rId6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3" name="Google Shape;232;p31">
            <a:hlinkClick r:id="rId7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4" name="Google Shape;232;p31">
            <a:hlinkClick r:id="rId8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5" name="Google Shape;229;p31">
            <a:hlinkClick r:id="rId9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6" name="Google Shape;229;p31">
            <a:hlinkClick r:id="rId10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7" name="Google Shape;229;p31">
            <a:hlinkClick r:id="rId11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78" name="Google Shape;269;p32">
            <a:hlinkClick r:id="rId12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79" name="Google Shape;230;p31">
            <a:hlinkClick r:id="rId13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80" name="Google Shape;232;p31">
            <a:hlinkClick r:id="rId14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81" name="Google Shape;232;p31">
            <a:hlinkClick r:id="rId15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Прямоугольник: скругленные углы 5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383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384" name="Прямая со стрелкой 2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385" name="Заголовок 1"/>
          <p:cNvSpPr/>
          <p:nvPr/>
        </p:nvSpPr>
        <p:spPr>
          <a:xfrm>
            <a:off x="826200" y="1437840"/>
            <a:ext cx="918936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Главные вопросы: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86" name="Google Shape;321;p35"/>
          <p:cNvSpPr/>
          <p:nvPr/>
        </p:nvSpPr>
        <p:spPr>
          <a:xfrm>
            <a:off x="949680" y="2557800"/>
            <a:ext cx="1431000" cy="101376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6600" b="1" u="none" strike="noStrike">
                <a:solidFill>
                  <a:schemeClr val="lt1"/>
                </a:solidFill>
                <a:effectLst/>
                <a:uFillTx/>
                <a:latin typeface="+mj-lt"/>
                <a:ea typeface="Manrope"/>
              </a:rPr>
              <a:t>01</a:t>
            </a:r>
            <a:endParaRPr lang="ru-RU" sz="66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387" name="Объект 2"/>
          <p:cNvSpPr/>
          <p:nvPr/>
        </p:nvSpPr>
        <p:spPr>
          <a:xfrm>
            <a:off x="2797200" y="2813760"/>
            <a:ext cx="74991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Документ, регламентирующий импортозамещение. Наличие. Принадлежность. Декларативная или конкретная форма?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88" name="Google Shape;321;p35"/>
          <p:cNvSpPr/>
          <p:nvPr/>
        </p:nvSpPr>
        <p:spPr>
          <a:xfrm>
            <a:off x="949680" y="4406040"/>
            <a:ext cx="1431000" cy="101376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6600" b="1" u="none" strike="noStrike">
                <a:solidFill>
                  <a:schemeClr val="lt1"/>
                </a:solidFill>
                <a:effectLst/>
                <a:uFillTx/>
                <a:latin typeface="+mj-lt"/>
                <a:ea typeface="Manrope"/>
              </a:rPr>
              <a:t>02</a:t>
            </a:r>
            <a:endParaRPr lang="ru-RU" sz="66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389" name="Объект 2"/>
          <p:cNvSpPr/>
          <p:nvPr/>
        </p:nvSpPr>
        <p:spPr>
          <a:xfrm>
            <a:off x="2797200" y="4566600"/>
            <a:ext cx="8118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Программное обеспечение, распространяемое ООО "Нормасофт" в рамках документа предприятия. Наличие. Возможность внесения изменения в программу.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390" name="Рисунок 2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2924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2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3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4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5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6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7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8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99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00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401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02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03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Прямоугольник: скругленные углы 4"/>
          <p:cNvSpPr/>
          <p:nvPr/>
        </p:nvSpPr>
        <p:spPr>
          <a:xfrm>
            <a:off x="224280" y="253440"/>
            <a:ext cx="11712600" cy="6365520"/>
          </a:xfrm>
          <a:prstGeom prst="roundRect">
            <a:avLst>
              <a:gd name="adj" fmla="val 281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405" name="Google Shape;529;p41"/>
          <p:cNvSpPr/>
          <p:nvPr/>
        </p:nvSpPr>
        <p:spPr>
          <a:xfrm>
            <a:off x="10015920" y="1959120"/>
            <a:ext cx="134172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4400" b="0" u="none" strike="noStrike">
                <a:solidFill>
                  <a:srgbClr val="0386FC"/>
                </a:solidFill>
                <a:effectLst/>
                <a:uFillTx/>
                <a:latin typeface="Manrope ExtraBold"/>
              </a:rPr>
              <a:t>03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06" name="Google Shape;529;p41"/>
          <p:cNvSpPr/>
          <p:nvPr/>
        </p:nvSpPr>
        <p:spPr>
          <a:xfrm>
            <a:off x="2907000" y="3558240"/>
            <a:ext cx="845028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r" defTabSz="914400">
              <a:lnSpc>
                <a:spcPct val="90000"/>
              </a:lnSpc>
            </a:pPr>
            <a:r>
              <a:rPr lang="ru-RU" sz="3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ВЫБОР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algn="r" defTabSz="914400">
              <a:lnSpc>
                <a:spcPct val="90000"/>
              </a:lnSpc>
            </a:pPr>
            <a:r>
              <a:rPr lang="ru-RU" sz="36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ТЕХНОЛОГИЧЕСКОГО ПАРТНЕРА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07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408" name="Прямая со стрелкой 8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409" name="Google Shape;229;p31">
            <a:hlinkClick r:id="rId1" action="ppaction://hlinksldjump"/>
          </p:cNvPr>
          <p:cNvSpPr/>
          <p:nvPr/>
        </p:nvSpPr>
        <p:spPr>
          <a:xfrm>
            <a:off x="3444480" y="56556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cxnSp>
        <p:nvCxnSpPr>
          <p:cNvPr id="410" name="Прямая со стрелкой 1"/>
          <p:cNvCxnSpPr/>
          <p:nvPr/>
        </p:nvCxnSpPr>
        <p:spPr>
          <a:xfrm>
            <a:off x="3307680" y="5051160"/>
            <a:ext cx="7959600" cy="360"/>
          </a:xfrm>
          <a:prstGeom prst="straightConnector1">
            <a:avLst/>
          </a:prstGeom>
          <a:ln w="635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411" name="Прямоугольник: скругленные углы 30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412" name="Рисунок 3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>
            <a:alphaModFix amt="70000"/>
          </a:blip>
          <a:srcRect l="0" t="55656" r="0" b="0"/>
          <a:stretch/>
        </p:blipFill>
        <p:spPr>
          <a:xfrm>
            <a:off x="7381080" y="298332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3" name="Рисунок 2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 flipH="1">
            <a:off x="360" y="3371760"/>
            <a:ext cx="6197400" cy="34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Google Shape;229;p31">
            <a:hlinkClick r:id="rId4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15" name="Google Shape;230;p31">
            <a:hlinkClick r:id="rId5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16" name="Google Shape;231;p31">
            <a:hlinkClick r:id="rId6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17" name="Google Shape;232;p31">
            <a:hlinkClick r:id="rId7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18" name="Google Shape;232;p31">
            <a:hlinkClick r:id="rId8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19" name="Google Shape;232;p31">
            <a:hlinkClick r:id="rId9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0" name="Google Shape;229;p31">
            <a:hlinkClick r:id="rId10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1" name="Google Shape;229;p31">
            <a:hlinkClick r:id="rId11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2" name="Google Shape;229;p31">
            <a:hlinkClick r:id="rId12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3" name="Google Shape;269;p32">
            <a:hlinkClick r:id="rId13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424" name="Google Shape;230;p31">
            <a:hlinkClick r:id="rId14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5" name="Google Shape;232;p31">
            <a:hlinkClick r:id="rId15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26" name="Google Shape;232;p31">
            <a:hlinkClick r:id="rId16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321;p35"/>
          <p:cNvSpPr/>
          <p:nvPr/>
        </p:nvSpPr>
        <p:spPr>
          <a:xfrm>
            <a:off x="7755840" y="4015080"/>
            <a:ext cx="19695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28" name="Google Shape;321;p35"/>
          <p:cNvSpPr/>
          <p:nvPr/>
        </p:nvSpPr>
        <p:spPr>
          <a:xfrm>
            <a:off x="5717880" y="4015080"/>
            <a:ext cx="18255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29" name="Google Shape;321;p35"/>
          <p:cNvSpPr/>
          <p:nvPr/>
        </p:nvSpPr>
        <p:spPr>
          <a:xfrm>
            <a:off x="5439600" y="3036240"/>
            <a:ext cx="11379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30" name="Google Shape;321;p35"/>
          <p:cNvSpPr/>
          <p:nvPr/>
        </p:nvSpPr>
        <p:spPr>
          <a:xfrm>
            <a:off x="2905200" y="3023280"/>
            <a:ext cx="10263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31" name="Google Shape;321;p35"/>
          <p:cNvSpPr/>
          <p:nvPr/>
        </p:nvSpPr>
        <p:spPr>
          <a:xfrm>
            <a:off x="894240" y="3023280"/>
            <a:ext cx="18255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32" name="Google Shape;321;p35"/>
          <p:cNvSpPr/>
          <p:nvPr/>
        </p:nvSpPr>
        <p:spPr>
          <a:xfrm>
            <a:off x="4324320" y="2245320"/>
            <a:ext cx="1448280" cy="60120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33" name="Google Shape;321;p35"/>
          <p:cNvSpPr/>
          <p:nvPr/>
        </p:nvSpPr>
        <p:spPr>
          <a:xfrm>
            <a:off x="8266320" y="2245320"/>
            <a:ext cx="1613160" cy="60120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34" name="Прямоугольник: скругленные углы 5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435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436" name="Прямая со стрелкой 22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437" name="Заголовок 1"/>
          <p:cNvSpPr/>
          <p:nvPr/>
        </p:nvSpPr>
        <p:spPr>
          <a:xfrm>
            <a:off x="826200" y="1437840"/>
            <a:ext cx="918936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Важность выбора поставщика для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IT</a:t>
            </a: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-служб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38" name="Picture 4"/>
          <p:cNvSpPr/>
          <p:nvPr/>
        </p:nvSpPr>
        <p:spPr>
          <a:xfrm>
            <a:off x="872280" y="2245320"/>
            <a:ext cx="713160" cy="59364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grpSp>
        <p:nvGrpSpPr>
          <p:cNvPr id="439" name="Группа 2"/>
          <p:cNvGrpSpPr/>
          <p:nvPr/>
        </p:nvGrpSpPr>
        <p:grpSpPr>
          <a:xfrm>
            <a:off x="1678320" y="2251800"/>
            <a:ext cx="2611080" cy="580320"/>
            <a:chOff x="1678320" y="2251800"/>
            <a:chExt cx="2611080" cy="580320"/>
          </a:xfrm>
        </p:grpSpPr>
        <p:sp>
          <p:nvSpPr>
            <p:cNvPr id="440" name="Прямоугольник: скругленные углы 4"/>
            <p:cNvSpPr/>
            <p:nvPr/>
          </p:nvSpPr>
          <p:spPr>
            <a:xfrm>
              <a:off x="1678320" y="2251800"/>
              <a:ext cx="2611080" cy="58032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+mn-lt"/>
              </a:endParaRPr>
            </a:p>
          </p:txBody>
        </p:sp>
        <p:pic>
          <p:nvPicPr>
            <p:cNvPr id="441" name="Picture 2" descr="Picture background"/>
            <p:cNvPicPr/>
            <p:nvPr/>
          </p:nvPicPr>
          <p:blipFill>
            <a:blip r:embed="rId2"/>
            <a:stretch/>
          </p:blipFill>
          <p:spPr>
            <a:xfrm>
              <a:off x="1871280" y="2278800"/>
              <a:ext cx="2240280" cy="513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</p:pic>
      </p:grpSp>
      <p:pic>
        <p:nvPicPr>
          <p:cNvPr id="442" name="Picture 4" descr="Picture background"/>
          <p:cNvPicPr/>
          <p:nvPr/>
        </p:nvPicPr>
        <p:blipFill>
          <a:blip r:embed="rId3"/>
          <a:srcRect l="22646" t="0" r="19937" b="0"/>
          <a:stretch/>
        </p:blipFill>
        <p:spPr>
          <a:xfrm>
            <a:off x="8248680" y="3039120"/>
            <a:ext cx="654840" cy="793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43" name="Picture 6" descr="Picture background"/>
          <p:cNvPicPr/>
          <p:nvPr/>
        </p:nvPicPr>
        <p:blipFill>
          <a:blip r:embed="rId4"/>
          <a:stretch/>
        </p:blipFill>
        <p:spPr>
          <a:xfrm>
            <a:off x="937440" y="4112280"/>
            <a:ext cx="1709280" cy="5659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44" name="Picture 8" descr="Picture background"/>
          <p:cNvPicPr/>
          <p:nvPr/>
        </p:nvPicPr>
        <p:blipFill>
          <a:blip r:embed="rId5"/>
          <a:srcRect l="5932" t="17463" r="7020" b="16469"/>
          <a:stretch/>
        </p:blipFill>
        <p:spPr>
          <a:xfrm>
            <a:off x="999720" y="3166200"/>
            <a:ext cx="1584720" cy="5061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45" name="Picture 10" descr="Picture background"/>
          <p:cNvPicPr/>
          <p:nvPr/>
        </p:nvPicPr>
        <p:blipFill>
          <a:blip r:embed="rId6"/>
          <a:stretch/>
        </p:blipFill>
        <p:spPr>
          <a:xfrm>
            <a:off x="3002760" y="3093840"/>
            <a:ext cx="830880" cy="636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46" name="Picture 12" descr="Picture background"/>
          <p:cNvPicPr/>
          <p:nvPr/>
        </p:nvPicPr>
        <p:blipFill>
          <a:blip r:embed="rId7"/>
          <a:stretch/>
        </p:blipFill>
        <p:spPr>
          <a:xfrm>
            <a:off x="4145400" y="3131280"/>
            <a:ext cx="1053360" cy="658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47" name="Picture 14" descr="Picture background"/>
          <p:cNvPicPr/>
          <p:nvPr/>
        </p:nvPicPr>
        <p:blipFill>
          <a:blip r:embed="rId8"/>
          <a:srcRect l="16339" t="12139" r="13583" b="25820"/>
          <a:stretch/>
        </p:blipFill>
        <p:spPr>
          <a:xfrm>
            <a:off x="5623200" y="3076560"/>
            <a:ext cx="770400" cy="681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grpSp>
        <p:nvGrpSpPr>
          <p:cNvPr id="448" name="Группа 40"/>
          <p:cNvGrpSpPr/>
          <p:nvPr/>
        </p:nvGrpSpPr>
        <p:grpSpPr>
          <a:xfrm>
            <a:off x="6037560" y="2215800"/>
            <a:ext cx="2045520" cy="637200"/>
            <a:chOff x="6037560" y="2215800"/>
            <a:chExt cx="2045520" cy="637200"/>
          </a:xfrm>
        </p:grpSpPr>
        <p:sp>
          <p:nvSpPr>
            <p:cNvPr id="449" name="Прямоугольник: скругленные углы 41"/>
            <p:cNvSpPr/>
            <p:nvPr/>
          </p:nvSpPr>
          <p:spPr>
            <a:xfrm>
              <a:off x="6037560" y="2215800"/>
              <a:ext cx="2045520" cy="6372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/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+mn-lt"/>
              </a:endParaRPr>
            </a:p>
          </p:txBody>
        </p:sp>
        <p:pic>
          <p:nvPicPr>
            <p:cNvPr id="450" name="Picture 16" descr="Picture background"/>
            <p:cNvPicPr/>
            <p:nvPr/>
          </p:nvPicPr>
          <p:blipFill>
            <a:blip r:embed="rId9"/>
            <a:stretch/>
          </p:blipFill>
          <p:spPr>
            <a:xfrm>
              <a:off x="6060960" y="2322360"/>
              <a:ext cx="1998000" cy="43668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</p:pic>
      </p:grpSp>
      <p:pic>
        <p:nvPicPr>
          <p:cNvPr id="451" name="Picture 18" descr="Picture background"/>
          <p:cNvPicPr/>
          <p:nvPr/>
        </p:nvPicPr>
        <p:blipFill>
          <a:blip r:embed="rId10"/>
          <a:srcRect l="7002" t="19958" r="6790" b="19776"/>
          <a:stretch/>
        </p:blipFill>
        <p:spPr>
          <a:xfrm>
            <a:off x="5790240" y="4059360"/>
            <a:ext cx="1683720" cy="7034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52" name="Picture 20" descr="Picture background"/>
          <p:cNvPicPr/>
          <p:nvPr/>
        </p:nvPicPr>
        <p:blipFill>
          <a:blip r:embed="rId11"/>
          <a:stretch/>
        </p:blipFill>
        <p:spPr>
          <a:xfrm>
            <a:off x="6912720" y="3093840"/>
            <a:ext cx="791280" cy="6552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53" name="Picture 26" descr="Picture background"/>
          <p:cNvPicPr/>
          <p:nvPr/>
        </p:nvPicPr>
        <p:blipFill>
          <a:blip r:embed="rId12"/>
          <a:srcRect l="5582" t="24190" r="49364" b="27462"/>
          <a:stretch/>
        </p:blipFill>
        <p:spPr>
          <a:xfrm>
            <a:off x="7776000" y="4073760"/>
            <a:ext cx="1805400" cy="6368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54" name="Picture 28" descr="Picture background"/>
          <p:cNvPicPr/>
          <p:nvPr/>
        </p:nvPicPr>
        <p:blipFill>
          <a:blip r:embed="rId13"/>
          <a:srcRect l="3207" t="10143" r="7982" b="16376"/>
          <a:stretch/>
        </p:blipFill>
        <p:spPr>
          <a:xfrm>
            <a:off x="8362080" y="2293200"/>
            <a:ext cx="1363680" cy="5022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55" name="Picture 30" descr="Picture background"/>
          <p:cNvPicPr/>
          <p:nvPr/>
        </p:nvPicPr>
        <p:blipFill>
          <a:blip r:embed="rId14"/>
          <a:srcRect l="5576" t="8530" r="5760" b="15157"/>
          <a:stretch/>
        </p:blipFill>
        <p:spPr>
          <a:xfrm>
            <a:off x="9423720" y="3215880"/>
            <a:ext cx="756360" cy="4564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56" name="Picture 32" descr="Picture background"/>
          <p:cNvPicPr/>
          <p:nvPr/>
        </p:nvPicPr>
        <p:blipFill>
          <a:blip r:embed="rId15"/>
          <a:srcRect l="0" t="0" r="15971" b="3426"/>
          <a:stretch/>
        </p:blipFill>
        <p:spPr>
          <a:xfrm>
            <a:off x="4497840" y="2264400"/>
            <a:ext cx="1050120" cy="5400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pic>
        <p:nvPicPr>
          <p:cNvPr id="457" name="Picture 34" descr="Picture background"/>
          <p:cNvPicPr/>
          <p:nvPr/>
        </p:nvPicPr>
        <p:blipFill>
          <a:blip r:embed="rId16"/>
          <a:srcRect l="0" t="13766" r="0" b="16234"/>
          <a:stretch/>
        </p:blipFill>
        <p:spPr>
          <a:xfrm>
            <a:off x="2975040" y="4073760"/>
            <a:ext cx="2410200" cy="6523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  <p:sp>
        <p:nvSpPr>
          <p:cNvPr id="458" name="Google Shape;321;p35"/>
          <p:cNvSpPr/>
          <p:nvPr/>
        </p:nvSpPr>
        <p:spPr>
          <a:xfrm>
            <a:off x="892440" y="2256480"/>
            <a:ext cx="761400" cy="60120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59" name="Google Shape;321;p35"/>
          <p:cNvSpPr/>
          <p:nvPr/>
        </p:nvSpPr>
        <p:spPr>
          <a:xfrm>
            <a:off x="1823040" y="2245320"/>
            <a:ext cx="2330280" cy="60120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0" name="Google Shape;321;p35"/>
          <p:cNvSpPr/>
          <p:nvPr/>
        </p:nvSpPr>
        <p:spPr>
          <a:xfrm>
            <a:off x="5946480" y="2245320"/>
            <a:ext cx="2188440" cy="60120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1" name="Google Shape;321;p35"/>
          <p:cNvSpPr/>
          <p:nvPr/>
        </p:nvSpPr>
        <p:spPr>
          <a:xfrm>
            <a:off x="4116240" y="3036240"/>
            <a:ext cx="11379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2" name="Google Shape;321;p35"/>
          <p:cNvSpPr/>
          <p:nvPr/>
        </p:nvSpPr>
        <p:spPr>
          <a:xfrm>
            <a:off x="6795360" y="3043080"/>
            <a:ext cx="10263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3" name="Google Shape;321;p35"/>
          <p:cNvSpPr/>
          <p:nvPr/>
        </p:nvSpPr>
        <p:spPr>
          <a:xfrm>
            <a:off x="8046720" y="3043080"/>
            <a:ext cx="10263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4" name="Google Shape;321;p35"/>
          <p:cNvSpPr/>
          <p:nvPr/>
        </p:nvSpPr>
        <p:spPr>
          <a:xfrm>
            <a:off x="9286920" y="3043080"/>
            <a:ext cx="10263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5" name="Google Shape;321;p35"/>
          <p:cNvSpPr/>
          <p:nvPr/>
        </p:nvSpPr>
        <p:spPr>
          <a:xfrm>
            <a:off x="890280" y="4002120"/>
            <a:ext cx="182556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6" name="Google Shape;321;p35"/>
          <p:cNvSpPr/>
          <p:nvPr/>
        </p:nvSpPr>
        <p:spPr>
          <a:xfrm>
            <a:off x="2905200" y="4002120"/>
            <a:ext cx="2600280" cy="76608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Manrope ExtraBold"/>
            </a:endParaRPr>
          </a:p>
        </p:txBody>
      </p:sp>
      <p:sp>
        <p:nvSpPr>
          <p:cNvPr id="467" name="TextBox 79"/>
          <p:cNvSpPr/>
          <p:nvPr/>
        </p:nvSpPr>
        <p:spPr>
          <a:xfrm>
            <a:off x="1693440" y="5120280"/>
            <a:ext cx="960768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Наличие в штате инженеров-программистов и администраторов операционной системы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Linux</a:t>
            </a: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, понимающих инфраструктуру ИТ, а также особенности разворачивания продуктов,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их совместимости с отечественными ОС.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68" name="TextBox 80"/>
          <p:cNvSpPr/>
          <p:nvPr/>
        </p:nvSpPr>
        <p:spPr>
          <a:xfrm>
            <a:off x="1707120" y="6058440"/>
            <a:ext cx="84639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Способность повлиять на разработчиков в критически важных доработках ПО.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69" name="Google Shape;321;p35"/>
          <p:cNvSpPr/>
          <p:nvPr/>
        </p:nvSpPr>
        <p:spPr>
          <a:xfrm>
            <a:off x="890280" y="5196240"/>
            <a:ext cx="713160" cy="5320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+mj-lt"/>
                <a:ea typeface="Manrope"/>
              </a:rPr>
              <a:t>01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sp>
        <p:nvSpPr>
          <p:cNvPr id="470" name="Google Shape;321;p35"/>
          <p:cNvSpPr/>
          <p:nvPr/>
        </p:nvSpPr>
        <p:spPr>
          <a:xfrm>
            <a:off x="903960" y="5937480"/>
            <a:ext cx="713160" cy="53208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+mj-lt"/>
                <a:ea typeface="Manrope"/>
              </a:rPr>
              <a:t>02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+mn-lt"/>
            </a:endParaRPr>
          </a:p>
        </p:txBody>
      </p:sp>
      <p:pic>
        <p:nvPicPr>
          <p:cNvPr id="471" name="Рисунок 8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7">
            <a:alphaModFix amt="70000"/>
          </a:blip>
          <a:srcRect l="0" t="55656" r="0" b="0"/>
          <a:stretch/>
        </p:blipFill>
        <p:spPr>
          <a:xfrm rot="5400000">
            <a:off x="10039680" y="33832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Google Shape;229;p31">
            <a:hlinkClick r:id="rId18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3" name="Google Shape;230;p31">
            <a:hlinkClick r:id="rId19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4" name="Google Shape;231;p31">
            <a:hlinkClick r:id="rId20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5" name="Google Shape;232;p31">
            <a:hlinkClick r:id="rId21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6" name="Google Shape;232;p31">
            <a:hlinkClick r:id="rId22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7" name="Google Shape;232;p31">
            <a:hlinkClick r:id="rId23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8" name="Google Shape;229;p31">
            <a:hlinkClick r:id="rId24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79" name="Google Shape;229;p31">
            <a:hlinkClick r:id="rId25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0" name="Google Shape;229;p31">
            <a:hlinkClick r:id="rId26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1" name="Google Shape;269;p32">
            <a:hlinkClick r:id="rId27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482" name="Google Shape;230;p31">
            <a:hlinkClick r:id="rId28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3" name="Google Shape;232;p31">
            <a:hlinkClick r:id="rId29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4" name="Google Shape;232;p31">
            <a:hlinkClick r:id="rId30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Прямоугольник: скругленные углы 2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486" name="Заголовок 1"/>
          <p:cNvSpPr/>
          <p:nvPr/>
        </p:nvSpPr>
        <p:spPr>
          <a:xfrm>
            <a:off x="826200" y="1437840"/>
            <a:ext cx="1108692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О важности компетенций партнера для функциональных заказчиков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7" name="Google Shape;321;p35"/>
          <p:cNvSpPr/>
          <p:nvPr/>
        </p:nvSpPr>
        <p:spPr>
          <a:xfrm>
            <a:off x="1491120" y="220428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Учебный центр: комплексное обучение работе в ПО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8" name="Google Shape;321;p35"/>
          <p:cNvSpPr/>
          <p:nvPr/>
        </p:nvSpPr>
        <p:spPr>
          <a:xfrm>
            <a:off x="1491120" y="2846880"/>
            <a:ext cx="2310840" cy="40932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WorldSkills</a:t>
            </a: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,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AtomSkills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89" name="Google Shape;321;p35"/>
          <p:cNvSpPr/>
          <p:nvPr/>
        </p:nvSpPr>
        <p:spPr>
          <a:xfrm>
            <a:off x="1491120" y="345492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+mn-lt"/>
              </a:rPr>
              <a:t>Инженеры по всем разделам проектирования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90" name="Google Shape;321;p35"/>
          <p:cNvSpPr/>
          <p:nvPr/>
        </p:nvSpPr>
        <p:spPr>
          <a:xfrm>
            <a:off x="1491120" y="4097880"/>
            <a:ext cx="8292960" cy="4928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+mn-lt"/>
              </a:rPr>
              <a:t>Специалисты по базовому САПР для инженеров ПТО, ОКСов и служб эксплуатации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91" name="Google Shape;321;p35"/>
          <p:cNvSpPr/>
          <p:nvPr/>
        </p:nvSpPr>
        <p:spPr>
          <a:xfrm>
            <a:off x="1491120" y="4789440"/>
            <a:ext cx="534960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+mn-lt"/>
              </a:rPr>
              <a:t>Специалисты по моделированию бизнес-процессов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92" name="Google Shape;321;p35"/>
          <p:cNvSpPr/>
          <p:nvPr/>
        </p:nvSpPr>
        <p:spPr>
          <a:xfrm>
            <a:off x="1491120" y="5432040"/>
            <a:ext cx="5997240" cy="4442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+mn-lt"/>
              </a:rPr>
              <a:t>Специалисты по моделированию технологических процессов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93" name="Google Shape;321;p35"/>
          <p:cNvSpPr/>
          <p:nvPr/>
        </p:nvSpPr>
        <p:spPr>
          <a:xfrm>
            <a:off x="1491120" y="6075000"/>
            <a:ext cx="8292960" cy="492840"/>
          </a:xfrm>
          <a:prstGeom prst="snip1Rect">
            <a:avLst>
              <a:gd name="adj" fmla="val 16667"/>
            </a:avLst>
          </a:prstGeom>
          <a:noFill/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2">
                    <a:lumMod val="25000"/>
                  </a:schemeClr>
                </a:solidFill>
                <a:effectLst/>
                <a:uFillTx/>
                <a:latin typeface="+mn-lt"/>
              </a:rPr>
              <a:t>Специалисты по развертыванию отечественного системного и инфраструктурного ПО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494" name="Google Shape;321;p35"/>
          <p:cNvSpPr/>
          <p:nvPr/>
        </p:nvSpPr>
        <p:spPr>
          <a:xfrm>
            <a:off x="966240" y="220428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pic>
        <p:nvPicPr>
          <p:cNvPr id="495" name="Рисунок 25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/>
          <a:stretch/>
        </p:blipFill>
        <p:spPr>
          <a:xfrm>
            <a:off x="1031040" y="2245680"/>
            <a:ext cx="394560" cy="39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Google Shape;321;p35"/>
          <p:cNvSpPr/>
          <p:nvPr/>
        </p:nvSpPr>
        <p:spPr>
          <a:xfrm>
            <a:off x="966240" y="281340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97" name="Google Shape;321;p35"/>
          <p:cNvSpPr/>
          <p:nvPr/>
        </p:nvSpPr>
        <p:spPr>
          <a:xfrm>
            <a:off x="966240" y="34520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98" name="Google Shape;321;p35"/>
          <p:cNvSpPr/>
          <p:nvPr/>
        </p:nvSpPr>
        <p:spPr>
          <a:xfrm>
            <a:off x="955440" y="414648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499" name="Google Shape;321;p35"/>
          <p:cNvSpPr/>
          <p:nvPr/>
        </p:nvSpPr>
        <p:spPr>
          <a:xfrm>
            <a:off x="955440" y="47894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500" name="Google Shape;321;p35"/>
          <p:cNvSpPr/>
          <p:nvPr/>
        </p:nvSpPr>
        <p:spPr>
          <a:xfrm>
            <a:off x="966240" y="543204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sp>
        <p:nvSpPr>
          <p:cNvPr id="501" name="Google Shape;321;p35"/>
          <p:cNvSpPr/>
          <p:nvPr/>
        </p:nvSpPr>
        <p:spPr>
          <a:xfrm>
            <a:off x="966240" y="6123600"/>
            <a:ext cx="524520" cy="444240"/>
          </a:xfrm>
          <a:prstGeom prst="snip1Rect">
            <a:avLst>
              <a:gd name="adj" fmla="val 16667"/>
            </a:avLst>
          </a:prstGeom>
          <a:solidFill>
            <a:srgbClr val="0386FC"/>
          </a:solidFill>
          <a:ln w="0">
            <a:solidFill>
              <a:srgbClr val="0386F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14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  <p:pic>
        <p:nvPicPr>
          <p:cNvPr id="502" name="Рисунок 26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2"/>
          <a:stretch/>
        </p:blipFill>
        <p:spPr>
          <a:xfrm>
            <a:off x="1064160" y="2872800"/>
            <a:ext cx="329040" cy="32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Рисунок 27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3"/>
          <a:stretch/>
        </p:blipFill>
        <p:spPr>
          <a:xfrm>
            <a:off x="1054440" y="3495240"/>
            <a:ext cx="371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Рисунок 30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4"/>
          <a:stretch/>
        </p:blipFill>
        <p:spPr>
          <a:xfrm>
            <a:off x="1054440" y="4221720"/>
            <a:ext cx="347400" cy="3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Рисунок 29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5"/>
          <a:stretch/>
        </p:blipFill>
        <p:spPr>
          <a:xfrm>
            <a:off x="1050480" y="4864680"/>
            <a:ext cx="307080" cy="30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6" name="Рисунок 28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6"/>
          <a:stretch/>
        </p:blipFill>
        <p:spPr>
          <a:xfrm>
            <a:off x="1031040" y="5468040"/>
            <a:ext cx="370440" cy="37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Рисунок 3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7"/>
          <a:stretch/>
        </p:blipFill>
        <p:spPr>
          <a:xfrm>
            <a:off x="1031040" y="6166800"/>
            <a:ext cx="371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8" name="Рисунок 39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8">
            <a:alphaModFix amt="70000"/>
          </a:blip>
          <a:srcRect l="0" t="55656" r="0" b="0"/>
          <a:stretch/>
        </p:blipFill>
        <p:spPr>
          <a:xfrm rot="5400000">
            <a:off x="-1733040" y="428148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10" name="Прямая со стрелкой 41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11" name="Google Shape;229;p31">
            <a:hlinkClick r:id="rId9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2" name="Google Shape;230;p31">
            <a:hlinkClick r:id="rId10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3" name="Google Shape;231;p31">
            <a:hlinkClick r:id="rId11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4" name="Google Shape;232;p31">
            <a:hlinkClick r:id="rId12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5" name="Google Shape;232;p31">
            <a:hlinkClick r:id="rId13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6" name="Google Shape;232;p31">
            <a:hlinkClick r:id="rId14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7" name="Google Shape;229;p31">
            <a:hlinkClick r:id="rId15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8" name="Google Shape;229;p31">
            <a:hlinkClick r:id="rId16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19" name="Google Shape;229;p31">
            <a:hlinkClick r:id="rId17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0" name="Google Shape;269;p32">
            <a:hlinkClick r:id="rId18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21" name="Google Shape;230;p31">
            <a:hlinkClick r:id="rId19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2" name="Google Shape;232;p31">
            <a:hlinkClick r:id="rId20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3" name="Google Shape;232;p31">
            <a:hlinkClick r:id="rId21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25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Заголовок 1"/>
          <p:cNvSpPr/>
          <p:nvPr/>
        </p:nvSpPr>
        <p:spPr>
          <a:xfrm>
            <a:off x="1043640" y="1470600"/>
            <a:ext cx="330372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6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Совместный план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7" name="Объект 2"/>
          <p:cNvSpPr/>
          <p:nvPr/>
        </p:nvSpPr>
        <p:spPr>
          <a:xfrm>
            <a:off x="921960" y="2072880"/>
            <a:ext cx="4833360" cy="28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28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29" name="Прямая со стрелкой 5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30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1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2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3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4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5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6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7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8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39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40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41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42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pic>
        <p:nvPicPr>
          <p:cNvPr id="544" name="Рисунок 21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">
            <a:alphaModFix amt="70000"/>
          </a:blip>
          <a:srcRect l="0" t="55656" r="0" b="0"/>
          <a:stretch/>
        </p:blipFill>
        <p:spPr>
          <a:xfrm>
            <a:off x="4152960" y="6438960"/>
            <a:ext cx="388584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Заголовок 1"/>
          <p:cNvSpPr/>
          <p:nvPr/>
        </p:nvSpPr>
        <p:spPr>
          <a:xfrm>
            <a:off x="1043640" y="1470600"/>
            <a:ext cx="3303720" cy="76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lang="ru-RU" sz="26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Итоги встречи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46" name="Объект 2"/>
          <p:cNvSpPr/>
          <p:nvPr/>
        </p:nvSpPr>
        <p:spPr>
          <a:xfrm>
            <a:off x="921960" y="2072880"/>
            <a:ext cx="4833360" cy="28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rmAutofit/>
          </a:bodyPr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457200" indent="-317520" defTabSz="914400">
              <a:lnSpc>
                <a:spcPct val="100000"/>
              </a:lnSpc>
              <a:buClr>
                <a:srgbClr val="0386FC"/>
              </a:buClr>
              <a:buFont typeface="Manrope Medium"/>
              <a:buChar char="→"/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+mn-lt"/>
                <a:ea typeface="Manrope"/>
              </a:rPr>
              <a:t>Текст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47" name="Google Shape;321;p35"/>
          <p:cNvSpPr/>
          <p:nvPr/>
        </p:nvSpPr>
        <p:spPr>
          <a:xfrm>
            <a:off x="11584800" y="6330600"/>
            <a:ext cx="606960" cy="527040"/>
          </a:xfrm>
          <a:prstGeom prst="snip1Rect">
            <a:avLst>
              <a:gd name="adj" fmla="val 16667"/>
            </a:avLst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122040" rIns="122040" bIns="158400" anchor="ctr">
            <a:noAutofit/>
          </a:bodyPr>
          <a:p>
            <a:pPr/>
            <a:endParaRPr lang="ru-RU" sz="2000" b="0" u="none" strike="noStrike">
              <a:solidFill>
                <a:schemeClr val="lt1"/>
              </a:solidFill>
              <a:effectLst/>
              <a:uFillTx/>
              <a:latin typeface="Manrope ExtraBold"/>
            </a:endParaRPr>
          </a:p>
        </p:txBody>
      </p:sp>
      <p:cxnSp>
        <p:nvCxnSpPr>
          <p:cNvPr id="548" name="Прямая со стрелкой 6"/>
          <p:cNvCxnSpPr/>
          <p:nvPr/>
        </p:nvCxnSpPr>
        <p:spPr>
          <a:xfrm>
            <a:off x="11884680" y="6469560"/>
            <a:ext cx="360" cy="290880"/>
          </a:xfrm>
          <a:prstGeom prst="straightConnector1">
            <a:avLst/>
          </a:prstGeom>
          <a:ln>
            <a:solidFill>
              <a:srgbClr val="FFFFFF"/>
            </a:solidFill>
            <a:tailEnd len="med" type="triangle" w="med"/>
          </a:ln>
        </p:spPr>
      </p:cxnSp>
      <p:sp>
        <p:nvSpPr>
          <p:cNvPr id="549" name="Google Shape;229;p31">
            <a:hlinkClick r:id="rId2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0" name="Google Shape;230;p31">
            <a:hlinkClick r:id="rId3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1" name="Google Shape;231;p31">
            <a:hlinkClick r:id="rId4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2" name="Google Shape;232;p31">
            <a:hlinkClick r:id="rId5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3" name="Google Shape;232;p31">
            <a:hlinkClick r:id="rId6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4" name="Google Shape;232;p31">
            <a:hlinkClick r:id="rId7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5" name="Google Shape;229;p31">
            <a:hlinkClick r:id="rId8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6" name="Google Shape;229;p31">
            <a:hlinkClick r:id="rId9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7" name="Google Shape;229;p31">
            <a:hlinkClick r:id="rId10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58" name="Google Shape;269;p32">
            <a:hlinkClick r:id="rId11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59" name="Google Shape;230;p31">
            <a:hlinkClick r:id="rId12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0" name="Google Shape;232;p31">
            <a:hlinkClick r:id="rId13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1" name="Google Shape;232;p31">
            <a:hlinkClick r:id="rId14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Прямоугольник: скругленные углы 3"/>
          <p:cNvSpPr/>
          <p:nvPr/>
        </p:nvSpPr>
        <p:spPr>
          <a:xfrm>
            <a:off x="-314280" y="-428760"/>
            <a:ext cx="11086920" cy="1580760"/>
          </a:xfrm>
          <a:prstGeom prst="roundRect">
            <a:avLst>
              <a:gd name="adj" fmla="val 16667"/>
            </a:avLst>
          </a:prstGeom>
          <a:solidFill>
            <a:srgbClr val="038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63" name="Заголовок 1"/>
          <p:cNvSpPr/>
          <p:nvPr/>
        </p:nvSpPr>
        <p:spPr>
          <a:xfrm>
            <a:off x="1093320" y="1568880"/>
            <a:ext cx="34178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lang="ru-RU" sz="5100" b="1" u="none" strike="noStrike">
                <a:solidFill>
                  <a:schemeClr val="dk1"/>
                </a:solidFill>
                <a:effectLst/>
                <a:uFillTx/>
                <a:latin typeface="+mj-lt"/>
              </a:rPr>
              <a:t>Спасибо!</a:t>
            </a:r>
            <a:endParaRPr lang="ru-RU" sz="51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4" name="TextBox 5"/>
          <p:cNvSpPr/>
          <p:nvPr/>
        </p:nvSpPr>
        <p:spPr>
          <a:xfrm>
            <a:off x="1133640" y="2410560"/>
            <a:ext cx="3265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У вас остались вопросы?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5" name="Подзаголовок 2"/>
          <p:cNvSpPr/>
          <p:nvPr/>
        </p:nvSpPr>
        <p:spPr>
          <a:xfrm>
            <a:off x="1093320" y="5751000"/>
            <a:ext cx="2109600" cy="8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2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8 (800) 302-53-50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sales@normasoft.com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04040"/>
                </a:solidFill>
                <a:effectLst/>
                <a:uFillTx/>
                <a:latin typeface="+mn-lt"/>
              </a:rPr>
              <a:t>normasoft.com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6" name="TextBox 9"/>
          <p:cNvSpPr/>
          <p:nvPr/>
        </p:nvSpPr>
        <p:spPr>
          <a:xfrm>
            <a:off x="1093320" y="4831200"/>
            <a:ext cx="6120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anrope ExtraBold"/>
              </a:rPr>
              <a:t>Иванов Иван Иванович,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+mn-lt"/>
              </a:rPr>
              <a:t>руководитель проектов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7" name="Google Shape;229;p31">
            <a:hlinkClick r:id="rId1" action="ppaction://hlinksldjump"/>
          </p:cNvPr>
          <p:cNvSpPr/>
          <p:nvPr/>
        </p:nvSpPr>
        <p:spPr>
          <a:xfrm>
            <a:off x="934200" y="21528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О НАС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8" name="Google Shape;230;p31">
            <a:hlinkClick r:id="rId2" action="ppaction://hlinksldjump"/>
          </p:cNvPr>
          <p:cNvSpPr/>
          <p:nvPr/>
        </p:nvSpPr>
        <p:spPr>
          <a:xfrm>
            <a:off x="3328560" y="215280"/>
            <a:ext cx="1503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УЧЕБНЫЙ ЦЕНТР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69" name="Google Shape;231;p31">
            <a:hlinkClick r:id="rId3" action="ppaction://hlinksldjump"/>
          </p:cNvPr>
          <p:cNvSpPr/>
          <p:nvPr/>
        </p:nvSpPr>
        <p:spPr>
          <a:xfrm>
            <a:off x="207612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НАШ ОПЫТ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0" name="Google Shape;232;p31">
            <a:hlinkClick r:id="rId4" action="ppaction://hlinksldjump"/>
          </p:cNvPr>
          <p:cNvSpPr/>
          <p:nvPr/>
        </p:nvSpPr>
        <p:spPr>
          <a:xfrm>
            <a:off x="620928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ПАРТНЕРА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1" name="Google Shape;232;p31">
            <a:hlinkClick r:id="rId5" action="ppaction://hlinksldjump"/>
          </p:cNvPr>
          <p:cNvSpPr/>
          <p:nvPr/>
        </p:nvSpPr>
        <p:spPr>
          <a:xfrm>
            <a:off x="7973640" y="215280"/>
            <a:ext cx="876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РИСКИ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2" name="Google Shape;232;p31">
            <a:hlinkClick r:id="rId6" action="ppaction://hlinksldjump"/>
          </p:cNvPr>
          <p:cNvSpPr/>
          <p:nvPr/>
        </p:nvSpPr>
        <p:spPr>
          <a:xfrm>
            <a:off x="934200" y="637920"/>
            <a:ext cx="21099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ВНЕДРЯЕМЫЕ ПРОДУКТЫ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3" name="Google Shape;229;p31">
            <a:hlinkClick r:id="rId7" action="ppaction://hlinksldjump"/>
          </p:cNvPr>
          <p:cNvSpPr/>
          <p:nvPr/>
        </p:nvSpPr>
        <p:spPr>
          <a:xfrm>
            <a:off x="3167280" y="637920"/>
            <a:ext cx="101736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БЮДЖЕТ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4" name="Google Shape;229;p31">
            <a:hlinkClick r:id="rId8" action="ppaction://hlinksldjump"/>
          </p:cNvPr>
          <p:cNvSpPr/>
          <p:nvPr/>
        </p:nvSpPr>
        <p:spPr>
          <a:xfrm>
            <a:off x="4307400" y="637920"/>
            <a:ext cx="17845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СОВМЕСТНЫЙ ПЛАН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5" name="Google Shape;229;p31">
            <a:hlinkClick r:id="rId9" action="ppaction://hlinksldjump"/>
          </p:cNvPr>
          <p:cNvSpPr/>
          <p:nvPr/>
        </p:nvSpPr>
        <p:spPr>
          <a:xfrm>
            <a:off x="7297920" y="637920"/>
            <a:ext cx="1403640" cy="336960"/>
          </a:xfrm>
          <a:prstGeom prst="snip1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rgbClr val="0386FC"/>
                </a:solidFill>
                <a:effectLst/>
                <a:uFillTx/>
                <a:latin typeface="Manrope"/>
                <a:ea typeface="Manrope"/>
              </a:rPr>
              <a:t>КОНТАКТЫ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6" name="Google Shape;269;p32">
            <a:hlinkClick r:id="rId10" action="ppaction://hlinksldjump"/>
          </p:cNvPr>
          <p:cNvSpPr/>
          <p:nvPr/>
        </p:nvSpPr>
        <p:spPr>
          <a:xfrm>
            <a:off x="364320" y="200880"/>
            <a:ext cx="349200" cy="321840"/>
          </a:xfrm>
          <a:custGeom>
            <a:avLst/>
            <a:gdLst>
              <a:gd name="textAreaLeft" fmla="*/ 0 w 349200"/>
              <a:gd name="textAreaRight" fmla="*/ 349560 w 349200"/>
              <a:gd name="textAreaTop" fmla="*/ 0 h 321840"/>
              <a:gd name="textAreaBottom" fmla="*/ 322200 h 321840"/>
            </a:gdLst>
            <a:ahLst/>
            <a:cxnLst/>
            <a:rect l="textAreaLeft" t="textAreaTop" r="textAreaRight" b="textAreaBottom"/>
            <a:pathLst>
              <a:path w="11217" h="10342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+mn-lt"/>
            </a:endParaRPr>
          </a:p>
        </p:txBody>
      </p:sp>
      <p:sp>
        <p:nvSpPr>
          <p:cNvPr id="577" name="Google Shape;230;p31">
            <a:hlinkClick r:id="rId11" action="ppaction://hlinksldjump"/>
          </p:cNvPr>
          <p:cNvSpPr/>
          <p:nvPr/>
        </p:nvSpPr>
        <p:spPr>
          <a:xfrm>
            <a:off x="4956840" y="215280"/>
            <a:ext cx="112788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ВОПРОСЫ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8" name="Google Shape;232;p31">
            <a:hlinkClick r:id="rId12" action="ppaction://hlinksldjump"/>
          </p:cNvPr>
          <p:cNvSpPr/>
          <p:nvPr/>
        </p:nvSpPr>
        <p:spPr>
          <a:xfrm>
            <a:off x="6215040" y="637920"/>
            <a:ext cx="96012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ИТОГИ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579" name="Google Shape;232;p31">
            <a:hlinkClick r:id="rId13" action="ppaction://hlinksldjump"/>
          </p:cNvPr>
          <p:cNvSpPr/>
          <p:nvPr/>
        </p:nvSpPr>
        <p:spPr>
          <a:xfrm>
            <a:off x="8960760" y="215280"/>
            <a:ext cx="1639800" cy="336960"/>
          </a:xfrm>
          <a:prstGeom prst="snip1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1188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ВЫБОР 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nanoCAD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pic>
        <p:nvPicPr>
          <p:cNvPr id="580" name="Рисунок 23" descr="Изображение выглядит как Цвет электрик, творческий подход&#10;&#10;Контент, сгенерированный ИИ, может содержать ошибки."/>
          <p:cNvPicPr/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2093" t="0" r="0" b="0"/>
          <a:stretch/>
        </p:blipFill>
        <p:spPr>
          <a:xfrm>
            <a:off x="6590520" y="2217960"/>
            <a:ext cx="5600880" cy="463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Рисунок 24" descr="Изображение выглядит как черный, темнота&#10;&#10;Контент, сгенерированный ИИ, может содержать ошибки."/>
          <p:cNvPicPr/>
          <p:nvPr/>
        </p:nvPicPr>
        <p:blipFill>
          <a:blip r:embed="rId15">
            <a:alphaModFix amt="70000"/>
          </a:blip>
          <a:srcRect l="0" t="55656" r="0" b="0"/>
          <a:stretch/>
        </p:blipFill>
        <p:spPr>
          <a:xfrm rot="5400000">
            <a:off x="-1733040" y="3845160"/>
            <a:ext cx="3885840" cy="418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6688</TotalTime>
  <Application>LibreOffice/26.8.0.3$Linux_X86_64 LibreOffice_project/680$Build-3</Application>
  <AppVersion>15.0000</AppVersion>
  <Words>7334</Words>
  <Paragraphs>1923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2025-11-13T03:59:40Z</dcterms:created>
  <dc:creator>Mirana Alieva</dc:creator>
  <dc:description/>
  <dc:language>ru-RU</dc:language>
  <cp:lastModifiedBy/>
  <dcterms:modified xsi:type="dcterms:W3CDTF">2026-09-27T23:50:58Z</dcterms:modified>
  <cp:revision>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76</vt:i4>
  </property>
</Properties>
</file>