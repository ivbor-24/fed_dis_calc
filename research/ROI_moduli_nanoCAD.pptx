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90" r:id="rId38"/>
    <p:sldId id="271" r:id="rId18"/>
    <p:sldId id="274" r:id="rId22"/>
    <p:sldId id="275" r:id="rId23"/>
    <p:sldId id="291" r:id="rId39"/>
    <p:sldId id="276" r:id="rId24"/>
    <p:sldId id="292" r:id="rId40"/>
    <p:sldId id="277" r:id="rId25"/>
    <p:sldId id="278" r:id="rId26"/>
    <p:sldId id="279" r:id="rId27"/>
    <p:sldId id="280" r:id="rId28"/>
    <p:sldId id="293" r:id="rId41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63" r:id="rId10"/>
    <p:sldId id="258" r:id="rId5"/>
    <p:sldId id="264" r:id="rId11"/>
    <p:sldId id="270" r:id="rId17"/>
    <p:sldId id="289" r:id="rId37"/>
    <p:sldId id="273" r:id="rId2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5" Type="http://schemas.openxmlformats.org/officeDocument/2006/relationships/slide" Target="slides/slide23.xml"/><Relationship Id="rId10" Type="http://schemas.openxmlformats.org/officeDocument/2006/relationships/slide" Target="slides/slide22.xml"/><Relationship Id="rId11" Type="http://schemas.openxmlformats.org/officeDocument/2006/relationships/slide" Target="slides/slide24.xml"/><Relationship Id="rId17" Type="http://schemas.openxmlformats.org/officeDocument/2006/relationships/slide" Target="slides/slide25.xml"/><Relationship Id="rId18" Type="http://schemas.openxmlformats.org/officeDocument/2006/relationships/slide" Target="slides/slide3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27.xml"/><Relationship Id="rId21" Type="http://schemas.openxmlformats.org/officeDocument/2006/relationships/presProps" Target="presProps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7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4.xml"/><Relationship Id="rId30" Type="http://schemas.openxmlformats.org/officeDocument/2006/relationships/slide" Target="slides/slide15.xml"/><Relationship Id="rId31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6.xml"/><Relationship Id="rId38" Type="http://schemas.openxmlformats.org/officeDocument/2006/relationships/slide" Target="slides/slide2.xml"/><Relationship Id="rId39" Type="http://schemas.openxmlformats.org/officeDocument/2006/relationships/slide" Target="slides/slide6.xml"/><Relationship Id="rId40" Type="http://schemas.openxmlformats.org/officeDocument/2006/relationships/slide" Target="slides/slide8.xml"/><Relationship Id="rId41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Затраты после внедрения, тыс. ₽</c:v>
                </c:pt>
              </c:strCache>
            </c:strRef>
          </c:tx>
          <c:spPr>
            <a:solidFill>
              <a:srgbClr val="C9D3E0"/>
            </a:solidFill>
          </c:spPr>
          <c:cat>
            <c:strRef>
              <c:f>Sheet1!$A$2:$A$12</c:f>
              <c:strCache>
                <c:ptCount val="11"/>
                <c:pt idx="0">
                  <c:v>АВТ  20%</c:v>
                </c:pt>
                <c:pt idx="1">
                  <c:v>ПЗУ  30%</c:v>
                </c:pt>
                <c:pt idx="2">
                  <c:v>ПОС  30%</c:v>
                </c:pt>
                <c:pt idx="3">
                  <c:v>СС  20%</c:v>
                </c:pt>
                <c:pt idx="4">
                  <c:v>ПБ  22%</c:v>
                </c:pt>
                <c:pt idx="5">
                  <c:v>ЭО  25%</c:v>
                </c:pt>
                <c:pt idx="6">
                  <c:v>ВК  22%</c:v>
                </c:pt>
                <c:pt idx="7">
                  <c:v>ОВ  22%</c:v>
                </c:pt>
                <c:pt idx="8">
                  <c:v>ТХ  30%</c:v>
                </c:pt>
                <c:pt idx="9">
                  <c:v>АР  35%</c:v>
                </c:pt>
                <c:pt idx="10">
                  <c:v>КР  35%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214.3</c:v>
                </c:pt>
                <c:pt idx="1">
                  <c:v>208.4</c:v>
                </c:pt>
                <c:pt idx="2">
                  <c:v>215.3</c:v>
                </c:pt>
                <c:pt idx="3">
                  <c:v>277.8</c:v>
                </c:pt>
                <c:pt idx="4">
                  <c:v>332.8</c:v>
                </c:pt>
                <c:pt idx="5">
                  <c:v>349.8</c:v>
                </c:pt>
                <c:pt idx="6">
                  <c:v>441.3</c:v>
                </c:pt>
                <c:pt idx="7">
                  <c:v>541.9</c:v>
                </c:pt>
                <c:pt idx="8">
                  <c:v>1042.0</c:v>
                </c:pt>
                <c:pt idx="9">
                  <c:v>1045.0</c:v>
                </c:pt>
                <c:pt idx="10">
                  <c:v>1257.8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Экономия, тыс. ₽</c:v>
                </c:pt>
              </c:strCache>
            </c:strRef>
          </c:tx>
          <c:spPr>
            <a:solidFill>
              <a:srgbClr val="0386FC"/>
            </a:solidFill>
          </c:spPr>
          <c:dLbls>
            <c:numFmt formatCode="#,##0" sourceLinked="0"/>
            <c:txPr>
              <a:bodyPr/>
              <a:lstStyle/>
              <a:p>
                <a:pPr>
                  <a:defRPr sz="900">
                    <a:solidFill>
                      <a:srgbClr val="FFFFFF"/>
                    </a:solidFill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АВТ  20%</c:v>
                </c:pt>
                <c:pt idx="1">
                  <c:v>ПЗУ  30%</c:v>
                </c:pt>
                <c:pt idx="2">
                  <c:v>ПОС  30%</c:v>
                </c:pt>
                <c:pt idx="3">
                  <c:v>СС  20%</c:v>
                </c:pt>
                <c:pt idx="4">
                  <c:v>ПБ  22%</c:v>
                </c:pt>
                <c:pt idx="5">
                  <c:v>ЭО  25%</c:v>
                </c:pt>
                <c:pt idx="6">
                  <c:v>ВК  22%</c:v>
                </c:pt>
                <c:pt idx="7">
                  <c:v>ОВ  22%</c:v>
                </c:pt>
                <c:pt idx="8">
                  <c:v>ТХ  30%</c:v>
                </c:pt>
                <c:pt idx="9">
                  <c:v>АР  35%</c:v>
                </c:pt>
                <c:pt idx="10">
                  <c:v>КР  35%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53.6</c:v>
                </c:pt>
                <c:pt idx="1">
                  <c:v>89.3</c:v>
                </c:pt>
                <c:pt idx="2">
                  <c:v>92.3</c:v>
                </c:pt>
                <c:pt idx="3">
                  <c:v>69.5</c:v>
                </c:pt>
                <c:pt idx="4">
                  <c:v>93.9</c:v>
                </c:pt>
                <c:pt idx="5">
                  <c:v>116.6</c:v>
                </c:pt>
                <c:pt idx="6">
                  <c:v>124.4</c:v>
                </c:pt>
                <c:pt idx="7">
                  <c:v>152.8</c:v>
                </c:pt>
                <c:pt idx="8">
                  <c:v>446.6</c:v>
                </c:pt>
                <c:pt idx="9">
                  <c:v>562.7</c:v>
                </c:pt>
                <c:pt idx="10">
                  <c:v>677.3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3E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728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solidFill>
            <a:srgbClr val="1A1A1A"/>
          </a:solidFill>
          <a:latin typeface="+mn-l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0"/>
              <a:t>Эффект за год, тыс. ₽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Детский сад на 200 мест</c:v>
                </c:pt>
              </c:strCache>
            </c:strRef>
          </c:tx>
          <c:spPr>
            <a:solidFill>
              <a:srgbClr val="C9D3E0"/>
            </a:solidFill>
          </c:spPr>
          <c:dLbls>
            <c:numFmt formatCode="#,##0" sourceLinked="0"/>
            <c:txPr>
              <a:bodyPr/>
              <a:lstStyle/>
              <a:p>
                <a:pPr>
                  <a:defRPr sz="1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АР и КР (СПДС)</c:v>
                </c:pt>
                <c:pt idx="1">
                  <c:v>Электро</c:v>
                </c:pt>
                <c:pt idx="2">
                  <c:v>СКС + ОПС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977.6</c:v>
                </c:pt>
                <c:pt idx="1">
                  <c:v>557.0</c:v>
                </c:pt>
                <c:pt idx="2">
                  <c:v>938.6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Котельная 25 Гкал/ч</c:v>
                </c:pt>
              </c:strCache>
            </c:strRef>
          </c:tx>
          <c:spPr>
            <a:solidFill>
              <a:srgbClr val="0386FC"/>
            </a:solidFill>
          </c:spPr>
          <c:dLbls>
            <c:numFmt formatCode="#,##0" sourceLinked="0"/>
            <c:txPr>
              <a:bodyPr/>
              <a:lstStyle/>
              <a:p>
                <a:pPr>
                  <a:defRPr sz="1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АР и КР (СПДС)</c:v>
                </c:pt>
                <c:pt idx="1">
                  <c:v>Электро</c:v>
                </c:pt>
                <c:pt idx="2">
                  <c:v>СКС + ОПС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1351.9</c:v>
                </c:pt>
                <c:pt idx="1">
                  <c:v>1048.8</c:v>
                </c:pt>
                <c:pt idx="2">
                  <c:v>1220.8</c:v>
                </c:pt>
              </c:numCache>
            </c:numRef>
          </c:val>
        </c:ser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3E0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1A1A1A"/>
          </a:solidFill>
          <a:latin typeface="+mn-l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Экономия времени, %</c:v>
                </c:pt>
              </c:strCache>
            </c:strRef>
          </c:tx>
          <c:spPr>
            <a:solidFill>
              <a:srgbClr val="0386FC"/>
            </a:solidFill>
          </c:spPr>
          <c:dLbls>
            <c:numFmt formatCode="0%" sourceLinked="0"/>
            <c:txPr>
              <a:bodyPr/>
              <a:lstStyle/>
              <a:p>
                <a:pPr>
                  <a:defRPr sz="1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Трассировка и журналы</c:v>
                </c:pt>
                <c:pt idx="1">
                  <c:v>Спецификация оборудования (АР, КР)</c:v>
                </c:pt>
                <c:pt idx="2">
                  <c:v>Сведение и согласование (АР, КР)</c:v>
                </c:pt>
                <c:pt idx="3">
                  <c:v>Спецификации СКС и ОПС</c:v>
                </c:pt>
                <c:pt idx="4">
                  <c:v>ВРУ и щиты</c:v>
                </c:pt>
                <c:pt idx="5">
                  <c:v>Исправления по замечаниям</c:v>
                </c:pt>
                <c:pt idx="6">
                  <c:v>Корректировки смет</c:v>
                </c:pt>
                <c:pt idx="7">
                  <c:v>Электротехнический расчёт</c:v>
                </c:pt>
                <c:pt idx="8">
                  <c:v>Ведомости материалов (АР, КР)</c:v>
                </c:pt>
                <c:pt idx="9">
                  <c:v>Спецрасчёты СКС и ОПС</c:v>
                </c:pt>
                <c:pt idx="10">
                  <c:v>Перечни и объёмы для смет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0.33</c:v>
                </c:pt>
                <c:pt idx="1">
                  <c:v>0.33</c:v>
                </c:pt>
                <c:pt idx="2">
                  <c:v>0.38</c:v>
                </c:pt>
                <c:pt idx="3">
                  <c:v>0.44</c:v>
                </c:pt>
                <c:pt idx="4">
                  <c:v>0.44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0.58</c:v>
                </c:pt>
                <c:pt idx="10">
                  <c:v>1.0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3E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A1A1A"/>
          </a:solidFill>
          <a:latin typeface="+mn-lt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Рост производительности</c:v>
                </c:pt>
              </c:strCache>
            </c:strRef>
          </c:tx>
          <c:spPr>
            <a:solidFill>
              <a:srgbClr val="0386FC"/>
            </a:solidFill>
          </c:spPr>
          <c:dLbls>
            <c:numFmt formatCode="0%" sourceLinked="0"/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Mechanical</c:v>
                </c:pt>
                <c:pt idx="1">
                  <c:v>Architecture</c:v>
                </c:pt>
                <c:pt idx="2">
                  <c:v>MEP</c:v>
                </c:pt>
                <c:pt idx="3">
                  <c:v>Electrical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0.55</c:v>
                </c:pt>
                <c:pt idx="1">
                  <c:v>0.61</c:v>
                </c:pt>
                <c:pt idx="2">
                  <c:v>0.85</c:v>
                </c:pt>
                <c:pt idx="3">
                  <c:v>0.95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3E0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+mn-lt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start</c:v>
                </c:pt>
              </c:strCache>
            </c:strRef>
          </c:tx>
          <c:spPr>
            <a:noFill/>
          </c:spPr>
          <c:cat>
            <c:strRef>
              <c:f>Sheet1!$A$2:$A$5</c:f>
              <c:strCache>
                <c:ptCount val="4"/>
                <c:pt idx="0">
                  <c:v>Бенчмарки Autodesk</c:v>
                </c:pt>
                <c:pt idx="1">
                  <c:v>Кейсы пользователей nanoCAD</c:v>
                </c:pt>
                <c:pt idx="2">
                  <c:v>Сумма этапов работ (таблицы)</c:v>
                </c:pt>
                <c:pt idx="3">
                  <c:v>Принято в расчётах ROI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0.55</c:v>
                </c:pt>
                <c:pt idx="1">
                  <c:v>0.3</c:v>
                </c:pt>
                <c:pt idx="2">
                  <c:v>0.29</c:v>
                </c:pt>
                <c:pt idx="3">
                  <c:v>0.21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Диапазон экономии</c:v>
                </c:pt>
              </c:strCache>
            </c:strRef>
          </c:tx>
          <c:spPr>
            <a:solidFill>
              <a:srgbClr val="0386FC"/>
            </a:solidFill>
          </c:spPr>
          <c:dPt>
            <c:idx val="3"/>
            <c:spPr>
              <a:solidFill>
                <a:srgbClr val="1A1A1A"/>
              </a:solidFill>
            </c:spPr>
          </c:dPt>
          <c:cat>
            <c:strRef>
              <c:f>Sheet1!$A$2:$A$5</c:f>
              <c:strCache>
                <c:ptCount val="4"/>
                <c:pt idx="0">
                  <c:v>Бенчмарки Autodesk</c:v>
                </c:pt>
                <c:pt idx="1">
                  <c:v>Кейсы пользователей nanoCAD</c:v>
                </c:pt>
                <c:pt idx="2">
                  <c:v>Сумма этапов работ (таблицы)</c:v>
                </c:pt>
                <c:pt idx="3">
                  <c:v>Принято в расчётах ROI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0.4</c:v>
                </c:pt>
                <c:pt idx="1">
                  <c:v>0.53</c:v>
                </c:pt>
                <c:pt idx="2">
                  <c:v>0.13</c:v>
                </c:pt>
                <c:pt idx="3">
                  <c:v>0.09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3E0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Gridlines>
          <c:spPr>
            <a:ln>
              <a:solidFill>
                <a:srgbClr val="E5E7EB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B7280"/>
                </a:solidFill>
              </a:defRPr>
            </a:pPr>
          </a:p>
        </c:txPr>
        <c:crossAx val="-2068027336"/>
        <c:crosses val="autoZero"/>
        <c:majorUnit val="0.25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+mn-l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Презентация для руководителя проектной организации: сколько экономят специализированные модули nanoCAD и за сколько окупаются.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Ставка инженера растёт, требования экспертизы ужесточаются, ошибки проекта дорого обходятся на стройке. Ответ — автоматизировать рутину в привычной среде, а не перестраивать весь процесс.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Ключевой аргумент для директора: экономия достигается без перехода на 3D. Суммы внедрения — из расчётов по модулям: СПДС 69 900 + 30 000; Электро 96 900 + 25 100; СКС+ОПС 151 200 + 33 400.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Основной эффект — в АР и КР (СПДС: 35%), затем ТХ, ПОС и ПЗУ (30%). Инженерные разделы — 20–25%. Итого 25% от цены проекта, или 2,48 млн ₽ на одном объекте.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Экономия на оформлении документации, спецификациях и ведомостях АР и КР. Детсад: 46 → 36 дней, котельная: 44 → 31 день. Исправления и согласования: затраты снижаются до 50%.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ЭО. Детсад: 20 → 14 дней, котельная: 40 → 30 дней.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Разделы ПБ, СС, АВТ. Детсад: 43 → 33–35 дней, котельная: 50 → 38 дней.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Сводка по шести расчётам. Цифры — из базовых расчётов по модулям, без изменений.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Справочная информация — отдельные расчёты окупаемости по этим модулям не приводим.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расчёты по модулям используют одну методику и одни допущения. Источник стоимости — калькулятор ПИР.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Таблицы работ — базовые, из материалов по модулям. Процент экономии по этапу — отношение середин диапазонов.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Принятые в ROI значения: СКС/ОПС 43→34 и 50→38 дней (21–24%), Электро 20→14 и 40→30 (25–30%), СПДС 46→36 и 44→31 (22–30%).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Самые быстрые выигрыши: всё, что раньше считалось вручную по чертежу.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Кейсы подтверждают, что 25–30% экономии в наших расчётах — нижняя граница результатов реальных пользователей.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Мировой ориентир для специализированных инструментов поверх 2D-CAD. Это экономия на задачах, а не на всём разделе, поэтому она выше наших 25–30%.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Сравниваем, что заложено в ROI, с таблицами этапов, кейсами nanoCAD и бенчмарками Autodesk. Бенчмарки задачные, кейсы — по отдельным процессам, поэтому выше.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Честно показываем, что расчёт не учитывает. Второй пункт — мост к блоку о Нормасофт.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не просто продаём лицензии: помогаем получить экономию из расчёта на практике.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ru-RU" sz="60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ru-RU" sz="60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60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6D45D1D-E7C6-4CA4-BA68-3EFEC11926A4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10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Заголовок и вертикальный текс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44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90CA34-20D6-4D59-A810-88C261A77E72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10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Вертикальный заголовок и текс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44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4368B1-6205-4591-944C-F695018B317C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10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932400" y="1660320"/>
            <a:ext cx="5053320" cy="4044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64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6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Click to edit the title text format</a:t>
            </a:r>
            <a:endParaRPr lang="ru-RU" sz="64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17" name="Google Shape;60;p10"/>
          <p:cNvSpPr/>
          <p:nvPr/>
        </p:nvSpPr>
        <p:spPr>
          <a:xfrm>
            <a:off x="7112160" y="-558720"/>
            <a:ext cx="4851000" cy="1259280"/>
          </a:xfrm>
          <a:custGeom>
            <a:avLst/>
            <a:gdLst>
              <a:gd name="textAreaLeft" fmla="*/ 0 w 4851000"/>
              <a:gd name="textAreaRight" fmla="*/ 4851360 w 4851000"/>
              <a:gd name="textAreaTop" fmla="*/ 0 h 1259280"/>
              <a:gd name="textAreaBottom" fmla="*/ 1259640 h 1259280"/>
            </a:gdLst>
            <a:ahLst/>
            <a:cxnLst/>
            <a:rect l="textAreaLeft" t="textAreaTop" r="textAreaRight" b="textAreaBottom"/>
            <a:pathLst>
              <a:path w="145542" h="37790">
                <a:moveTo>
                  <a:pt x="0" y="7620"/>
                </a:moveTo>
                <a:cubicBezTo>
                  <a:pt x="4572" y="10287"/>
                  <a:pt x="4837" y="9877"/>
                  <a:pt x="9144" y="12954"/>
                </a:cubicBezTo>
                <a:cubicBezTo>
                  <a:pt x="11455" y="14605"/>
                  <a:pt x="11449" y="18166"/>
                  <a:pt x="12954" y="20574"/>
                </a:cubicBezTo>
                <a:cubicBezTo>
                  <a:pt x="17437" y="27747"/>
                  <a:pt x="23597" y="36404"/>
                  <a:pt x="32004" y="37338"/>
                </a:cubicBezTo>
                <a:cubicBezTo>
                  <a:pt x="40145" y="38243"/>
                  <a:pt x="48783" y="37332"/>
                  <a:pt x="56388" y="34290"/>
                </a:cubicBezTo>
                <a:cubicBezTo>
                  <a:pt x="64316" y="31119"/>
                  <a:pt x="70203" y="23407"/>
                  <a:pt x="78486" y="21336"/>
                </a:cubicBezTo>
                <a:cubicBezTo>
                  <a:pt x="88862" y="18742"/>
                  <a:pt x="99902" y="20563"/>
                  <a:pt x="110490" y="19050"/>
                </a:cubicBezTo>
                <a:cubicBezTo>
                  <a:pt x="123654" y="17169"/>
                  <a:pt x="136139" y="9403"/>
                  <a:pt x="145542" y="0"/>
                </a:cubicBezTo>
              </a:path>
            </a:pathLst>
          </a:custGeom>
          <a:noFill/>
          <a:ln w="9525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8" name="Google Shape;61;p10"/>
          <p:cNvSpPr/>
          <p:nvPr/>
        </p:nvSpPr>
        <p:spPr>
          <a:xfrm>
            <a:off x="5359320" y="6215760"/>
            <a:ext cx="4673160" cy="1022760"/>
          </a:xfrm>
          <a:custGeom>
            <a:avLst/>
            <a:gdLst>
              <a:gd name="textAreaLeft" fmla="*/ 0 w 4673160"/>
              <a:gd name="textAreaRight" fmla="*/ 4673520 w 4673160"/>
              <a:gd name="textAreaTop" fmla="*/ 0 h 1022760"/>
              <a:gd name="textAreaBottom" fmla="*/ 1023120 h 1022760"/>
            </a:gdLst>
            <a:ahLst/>
            <a:cxnLst/>
            <a:rect l="textAreaLeft" t="textAreaTop" r="textAreaRight" b="textAreaBottom"/>
            <a:pathLst>
              <a:path w="140208" h="30697">
                <a:moveTo>
                  <a:pt x="0" y="30697"/>
                </a:moveTo>
                <a:cubicBezTo>
                  <a:pt x="8996" y="26199"/>
                  <a:pt x="12967" y="14940"/>
                  <a:pt x="21336" y="9361"/>
                </a:cubicBezTo>
                <a:cubicBezTo>
                  <a:pt x="31078" y="2866"/>
                  <a:pt x="45626" y="11687"/>
                  <a:pt x="56388" y="7075"/>
                </a:cubicBezTo>
                <a:cubicBezTo>
                  <a:pt x="62811" y="4322"/>
                  <a:pt x="69266" y="-650"/>
                  <a:pt x="76200" y="217"/>
                </a:cubicBezTo>
                <a:cubicBezTo>
                  <a:pt x="99040" y="3072"/>
                  <a:pt x="117190" y="26125"/>
                  <a:pt x="140208" y="26125"/>
                </a:cubicBezTo>
              </a:path>
            </a:pathLst>
          </a:custGeom>
          <a:noFill/>
          <a:ln w="9525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Click to edit the outline text format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Second Outline Level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Third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Fourth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Fifth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Sixth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Seventh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объек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44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87621FD-8356-43EF-A87B-2E4B0DAFDA14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60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60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60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Образец текста</a:t>
            </a:r>
            <a:endParaRPr lang="ru-RU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+mn-lt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8C32702-57E4-4DD1-BA27-7406ED2E64FC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Два объект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44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45AC46C-88B0-4126-B378-F3CAF89DAB09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44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2400" b="1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2400" b="1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3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0250B95-5880-4597-92A8-832E573F204F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Только заголовок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44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61259FA-1359-4A04-A8A6-BB175EC4775D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Click to edit the outline text format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Second Outline Level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Third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Fourth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Fifth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Sixth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Seventh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2B1745B-18EC-4B20-A6EC-8334F33A0F4D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32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32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32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  <a:defRPr lang="ru-RU" sz="32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32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32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Второй уровень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Третий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Четвертый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Manrope Medium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Пятый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398AE75-B39E-410C-99AE-368026AF45E2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3200" b="1" u="none" strike="noStrike">
                <a:solidFill>
                  <a:schemeClr val="dk1"/>
                </a:solidFill>
                <a:effectLst/>
                <a:uFillTx/>
                <a:latin typeface="+mj-l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32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Образец заголовка</a:t>
            </a:r>
            <a:endParaRPr lang="ru-RU" sz="3200" b="1" u="none" strike="noStrike">
              <a:solidFill>
                <a:schemeClr val="dk1"/>
              </a:solidFill>
              <a:effectLst/>
              <a:uFillTx/>
              <a:latin typeface="+mj-lt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pic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Double-click to add an Image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Образец текста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63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28A455A-89CC-4204-BC33-AE6E1EE3CD8E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+mn-lt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microsoft.com/office/2007/relationships/hdphoto" Target="../media/hdphoto1.wdp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4" Type="http://schemas.openxmlformats.org/officeDocument/2006/relationships/slide" Target="slide22.xml"/><Relationship Id="rId5" Type="http://schemas.openxmlformats.org/officeDocument/2006/relationships/slide" Target="slide8.xml"/><Relationship Id="rId6" Type="http://schemas.openxmlformats.org/officeDocument/2006/relationships/slide" Target="slide6.xml"/><Relationship Id="rId11" Type="http://schemas.openxmlformats.org/officeDocument/2006/relationships/slide" Target="slide27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4" Type="http://schemas.openxmlformats.org/officeDocument/2006/relationships/slide" Target="slide5.xml"/><Relationship Id="rId16" Type="http://schemas.openxmlformats.org/officeDocument/2006/relationships/slideLayout" Target="../slideLayouts/slideLayout5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2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3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5.xml"/><Relationship Id="rId5" Type="http://schemas.openxmlformats.org/officeDocument/2006/relationships/slide" Target="slide2.xml"/><Relationship Id="rId10" Type="http://schemas.openxmlformats.org/officeDocument/2006/relationships/slide" Target="slide27.xml"/><Relationship Id="rId11" Type="http://schemas.openxmlformats.org/officeDocument/2006/relationships/chart" Target="../charts/chart1.xml"/><Relationship Id="rId12" Type="http://schemas.openxmlformats.org/officeDocument/2006/relationships/notesSlide" Target="../notesSlides/notesSlide4.xml"/><Relationship Id="rId13" Type="http://schemas.openxmlformats.org/officeDocument/2006/relationships/slide" Target="slide1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6.xml"/><Relationship Id="rId17" Type="http://schemas.openxmlformats.org/officeDocument/2006/relationships/slide" Target="slide8.xml"/><Relationship Id="rId18" Type="http://schemas.openxmlformats.org/officeDocument/2006/relationships/slide" Target="slide10.xml"/><Relationship Id="rId19" Type="http://schemas.openxmlformats.org/officeDocument/2006/relationships/slide" Target="slide12.xml"/><Relationship Id="rId20" Type="http://schemas.openxmlformats.org/officeDocument/2006/relationships/slide" Target="slide13.xml"/><Relationship Id="rId21" Type="http://schemas.openxmlformats.org/officeDocument/2006/relationships/slide" Target="slide18.xml"/><Relationship Id="rId22" Type="http://schemas.openxmlformats.org/officeDocument/2006/relationships/slide" Target="slide2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4" Type="http://schemas.openxmlformats.org/officeDocument/2006/relationships/slide" Target="slide22.xml"/><Relationship Id="rId5" Type="http://schemas.openxmlformats.org/officeDocument/2006/relationships/slide" Target="slide8.xml"/><Relationship Id="rId6" Type="http://schemas.openxmlformats.org/officeDocument/2006/relationships/slide" Target="slide6.xml"/><Relationship Id="rId11" Type="http://schemas.openxmlformats.org/officeDocument/2006/relationships/slide" Target="slide27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4" Type="http://schemas.openxmlformats.org/officeDocument/2006/relationships/slide" Target="slide5.xml"/><Relationship Id="rId16" Type="http://schemas.openxmlformats.org/officeDocument/2006/relationships/slideLayout" Target="../slideLayouts/slideLayout5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5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4" Type="http://schemas.openxmlformats.org/officeDocument/2006/relationships/slide" Target="slide22.xml"/><Relationship Id="rId5" Type="http://schemas.openxmlformats.org/officeDocument/2006/relationships/slide" Target="slide8.xml"/><Relationship Id="rId6" Type="http://schemas.openxmlformats.org/officeDocument/2006/relationships/slide" Target="slide6.xml"/><Relationship Id="rId11" Type="http://schemas.openxmlformats.org/officeDocument/2006/relationships/slide" Target="slide27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4" Type="http://schemas.openxmlformats.org/officeDocument/2006/relationships/slide" Target="slide5.xml"/><Relationship Id="rId16" Type="http://schemas.openxmlformats.org/officeDocument/2006/relationships/slideLayout" Target="../slideLayouts/slideLayout5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6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7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5.xml"/><Relationship Id="rId5" Type="http://schemas.openxmlformats.org/officeDocument/2006/relationships/slide" Target="slide2.xml"/><Relationship Id="rId10" Type="http://schemas.openxmlformats.org/officeDocument/2006/relationships/slide" Target="slide27.xml"/><Relationship Id="rId11" Type="http://schemas.openxmlformats.org/officeDocument/2006/relationships/chart" Target="../charts/chart2.xml"/><Relationship Id="rId12" Type="http://schemas.openxmlformats.org/officeDocument/2006/relationships/notesSlide" Target="../notesSlides/notesSlide8.xml"/><Relationship Id="rId13" Type="http://schemas.openxmlformats.org/officeDocument/2006/relationships/slide" Target="slide1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6.xml"/><Relationship Id="rId17" Type="http://schemas.openxmlformats.org/officeDocument/2006/relationships/slide" Target="slide8.xml"/><Relationship Id="rId18" Type="http://schemas.openxmlformats.org/officeDocument/2006/relationships/slide" Target="slide10.xml"/><Relationship Id="rId19" Type="http://schemas.openxmlformats.org/officeDocument/2006/relationships/slide" Target="slide12.xml"/><Relationship Id="rId20" Type="http://schemas.openxmlformats.org/officeDocument/2006/relationships/slide" Target="slide13.xml"/><Relationship Id="rId21" Type="http://schemas.openxmlformats.org/officeDocument/2006/relationships/slide" Target="slide18.xml"/><Relationship Id="rId22" Type="http://schemas.openxmlformats.org/officeDocument/2006/relationships/slide" Target="slide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9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4" Type="http://schemas.openxmlformats.org/officeDocument/2006/relationships/slide" Target="slide22.xml"/><Relationship Id="rId5" Type="http://schemas.openxmlformats.org/officeDocument/2006/relationships/slide" Target="slide8.xml"/><Relationship Id="rId6" Type="http://schemas.openxmlformats.org/officeDocument/2006/relationships/slide" Target="slide6.xml"/><Relationship Id="rId11" Type="http://schemas.openxmlformats.org/officeDocument/2006/relationships/slide" Target="slide27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4" Type="http://schemas.openxmlformats.org/officeDocument/2006/relationships/slide" Target="slide5.xml"/><Relationship Id="rId16" Type="http://schemas.openxmlformats.org/officeDocument/2006/relationships/slideLayout" Target="../slideLayouts/slideLayout5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10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11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12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5.xml"/><Relationship Id="rId5" Type="http://schemas.openxmlformats.org/officeDocument/2006/relationships/slide" Target="slide2.xml"/><Relationship Id="rId10" Type="http://schemas.openxmlformats.org/officeDocument/2006/relationships/slide" Target="slide27.xml"/><Relationship Id="rId11" Type="http://schemas.openxmlformats.org/officeDocument/2006/relationships/chart" Target="../charts/chart3.xml"/><Relationship Id="rId12" Type="http://schemas.openxmlformats.org/officeDocument/2006/relationships/notesSlide" Target="../notesSlides/notesSlide13.xml"/><Relationship Id="rId13" Type="http://schemas.openxmlformats.org/officeDocument/2006/relationships/slide" Target="slide1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6.xml"/><Relationship Id="rId17" Type="http://schemas.openxmlformats.org/officeDocument/2006/relationships/slide" Target="slide8.xml"/><Relationship Id="rId18" Type="http://schemas.openxmlformats.org/officeDocument/2006/relationships/slide" Target="slide10.xml"/><Relationship Id="rId19" Type="http://schemas.openxmlformats.org/officeDocument/2006/relationships/slide" Target="slide12.xml"/><Relationship Id="rId20" Type="http://schemas.openxmlformats.org/officeDocument/2006/relationships/slide" Target="slide13.xml"/><Relationship Id="rId21" Type="http://schemas.openxmlformats.org/officeDocument/2006/relationships/slide" Target="slide18.xml"/><Relationship Id="rId22" Type="http://schemas.openxmlformats.org/officeDocument/2006/relationships/slide" Target="slide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14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5.xml"/><Relationship Id="rId5" Type="http://schemas.openxmlformats.org/officeDocument/2006/relationships/slide" Target="slide2.xml"/><Relationship Id="rId10" Type="http://schemas.openxmlformats.org/officeDocument/2006/relationships/slide" Target="slide27.xml"/><Relationship Id="rId11" Type="http://schemas.openxmlformats.org/officeDocument/2006/relationships/chart" Target="../charts/chart4.xml"/><Relationship Id="rId12" Type="http://schemas.openxmlformats.org/officeDocument/2006/relationships/notesSlide" Target="../notesSlides/notesSlide15.xml"/><Relationship Id="rId13" Type="http://schemas.openxmlformats.org/officeDocument/2006/relationships/slide" Target="slide1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6.xml"/><Relationship Id="rId17" Type="http://schemas.openxmlformats.org/officeDocument/2006/relationships/slide" Target="slide8.xml"/><Relationship Id="rId18" Type="http://schemas.openxmlformats.org/officeDocument/2006/relationships/slide" Target="slide10.xml"/><Relationship Id="rId19" Type="http://schemas.openxmlformats.org/officeDocument/2006/relationships/slide" Target="slide12.xml"/><Relationship Id="rId20" Type="http://schemas.openxmlformats.org/officeDocument/2006/relationships/slide" Target="slide13.xml"/><Relationship Id="rId21" Type="http://schemas.openxmlformats.org/officeDocument/2006/relationships/slide" Target="slide18.xml"/><Relationship Id="rId22" Type="http://schemas.openxmlformats.org/officeDocument/2006/relationships/slide" Target="slide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5.xml"/><Relationship Id="rId5" Type="http://schemas.openxmlformats.org/officeDocument/2006/relationships/slide" Target="slide2.xml"/><Relationship Id="rId10" Type="http://schemas.openxmlformats.org/officeDocument/2006/relationships/slide" Target="slide27.xml"/><Relationship Id="rId11" Type="http://schemas.openxmlformats.org/officeDocument/2006/relationships/chart" Target="../charts/chart5.xml"/><Relationship Id="rId12" Type="http://schemas.openxmlformats.org/officeDocument/2006/relationships/notesSlide" Target="../notesSlides/notesSlide16.xml"/><Relationship Id="rId13" Type="http://schemas.openxmlformats.org/officeDocument/2006/relationships/slide" Target="slide1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6.xml"/><Relationship Id="rId17" Type="http://schemas.openxmlformats.org/officeDocument/2006/relationships/slide" Target="slide8.xml"/><Relationship Id="rId18" Type="http://schemas.openxmlformats.org/officeDocument/2006/relationships/slide" Target="slide10.xml"/><Relationship Id="rId19" Type="http://schemas.openxmlformats.org/officeDocument/2006/relationships/slide" Target="slide12.xml"/><Relationship Id="rId20" Type="http://schemas.openxmlformats.org/officeDocument/2006/relationships/slide" Target="slide13.xml"/><Relationship Id="rId21" Type="http://schemas.openxmlformats.org/officeDocument/2006/relationships/slide" Target="slide18.xml"/><Relationship Id="rId22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17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4" Type="http://schemas.openxmlformats.org/officeDocument/2006/relationships/slide" Target="slide22.xml"/><Relationship Id="rId5" Type="http://schemas.openxmlformats.org/officeDocument/2006/relationships/slide" Target="slide8.xml"/><Relationship Id="rId6" Type="http://schemas.openxmlformats.org/officeDocument/2006/relationships/slide" Target="slide6.xml"/><Relationship Id="rId11" Type="http://schemas.openxmlformats.org/officeDocument/2006/relationships/slide" Target="slide27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4" Type="http://schemas.openxmlformats.org/officeDocument/2006/relationships/slide" Target="slide5.xml"/><Relationship Id="rId16" Type="http://schemas.openxmlformats.org/officeDocument/2006/relationships/slideLayout" Target="../slideLayouts/slideLayout5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8.xml"/><Relationship Id="rId5" Type="http://schemas.openxmlformats.org/officeDocument/2006/relationships/slide" Target="slide6.xml"/><Relationship Id="rId10" Type="http://schemas.openxmlformats.org/officeDocument/2006/relationships/slide" Target="slide27.xml"/><Relationship Id="rId11" Type="http://schemas.openxmlformats.org/officeDocument/2006/relationships/slide" Target="slide1.xml"/><Relationship Id="rId12" Type="http://schemas.openxmlformats.org/officeDocument/2006/relationships/slide" Target="slide2.xml"/><Relationship Id="rId13" Type="http://schemas.openxmlformats.org/officeDocument/2006/relationships/slide" Target="slide5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10.xml"/><Relationship Id="rId17" Type="http://schemas.openxmlformats.org/officeDocument/2006/relationships/slide" Target="slide12.xml"/><Relationship Id="rId18" Type="http://schemas.openxmlformats.org/officeDocument/2006/relationships/slide" Target="slide13.xml"/><Relationship Id="rId19" Type="http://schemas.openxmlformats.org/officeDocument/2006/relationships/slide" Target="slide18.xml"/><Relationship Id="rId20" Type="http://schemas.openxmlformats.org/officeDocument/2006/relationships/slide" Target="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hyperlink" Target="https://edu.normasoft.com/" TargetMode="External"/><Relationship Id="rId2" Type="http://schemas.openxmlformats.org/officeDocument/2006/relationships/hyperlink" Target="https://edu.normasoft.com/" TargetMode="Externa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6" Type="http://schemas.openxmlformats.org/officeDocument/2006/relationships/slide" Target="slide22.xml"/><Relationship Id="rId7" Type="http://schemas.openxmlformats.org/officeDocument/2006/relationships/slide" Target="slide8.xml"/><Relationship Id="rId8" Type="http://schemas.openxmlformats.org/officeDocument/2006/relationships/slide" Target="slide6.xml"/><Relationship Id="rId13" Type="http://schemas.openxmlformats.org/officeDocument/2006/relationships/slide" Target="slide27.xml"/><Relationship Id="rId14" Type="http://schemas.openxmlformats.org/officeDocument/2006/relationships/slide" Target="slide1.xml"/><Relationship Id="rId15" Type="http://schemas.openxmlformats.org/officeDocument/2006/relationships/slide" Target="slide2.xml"/><Relationship Id="rId16" Type="http://schemas.openxmlformats.org/officeDocument/2006/relationships/slide" Target="slide5.xml"/><Relationship Id="rId18" Type="http://schemas.openxmlformats.org/officeDocument/2006/relationships/slideLayout" Target="../slideLayouts/slideLayout5.xml"/><Relationship Id="rId19" Type="http://schemas.openxmlformats.org/officeDocument/2006/relationships/slide" Target="slide10.xml"/><Relationship Id="rId20" Type="http://schemas.openxmlformats.org/officeDocument/2006/relationships/slide" Target="slide12.xml"/><Relationship Id="rId21" Type="http://schemas.openxmlformats.org/officeDocument/2006/relationships/slide" Target="slide13.xml"/><Relationship Id="rId22" Type="http://schemas.openxmlformats.org/officeDocument/2006/relationships/slide" Target="slide18.xml"/><Relationship Id="rId23" Type="http://schemas.openxmlformats.org/officeDocument/2006/relationships/slide" Target="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5.png"/><Relationship Id="rId8" Type="http://schemas.openxmlformats.org/officeDocument/2006/relationships/image" Target="../media/image2.png"/><Relationship Id="rId10" Type="http://schemas.openxmlformats.org/officeDocument/2006/relationships/slide" Target="slide22.xml"/><Relationship Id="rId11" Type="http://schemas.openxmlformats.org/officeDocument/2006/relationships/slide" Target="slide8.xml"/><Relationship Id="rId12" Type="http://schemas.openxmlformats.org/officeDocument/2006/relationships/slide" Target="slide6.xml"/><Relationship Id="rId17" Type="http://schemas.openxmlformats.org/officeDocument/2006/relationships/slide" Target="slide27.xml"/><Relationship Id="rId18" Type="http://schemas.openxmlformats.org/officeDocument/2006/relationships/slide" Target="slide1.xml"/><Relationship Id="rId19" Type="http://schemas.openxmlformats.org/officeDocument/2006/relationships/slide" Target="slide2.xml"/><Relationship Id="rId20" Type="http://schemas.openxmlformats.org/officeDocument/2006/relationships/slide" Target="slide5.xml"/><Relationship Id="rId22" Type="http://schemas.openxmlformats.org/officeDocument/2006/relationships/slideLayout" Target="../slideLayouts/slideLayout9.xml"/><Relationship Id="rId23" Type="http://schemas.openxmlformats.org/officeDocument/2006/relationships/slide" Target="slide10.xml"/><Relationship Id="rId24" Type="http://schemas.openxmlformats.org/officeDocument/2006/relationships/slide" Target="slide12.xml"/><Relationship Id="rId25" Type="http://schemas.openxmlformats.org/officeDocument/2006/relationships/slide" Target="slide13.xml"/><Relationship Id="rId26" Type="http://schemas.openxmlformats.org/officeDocument/2006/relationships/slide" Target="slide18.xml"/><Relationship Id="rId27" Type="http://schemas.openxmlformats.org/officeDocument/2006/relationships/slide" Target="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3" Type="http://schemas.openxmlformats.org/officeDocument/2006/relationships/slide" Target="slide22.xml"/><Relationship Id="rId4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27.xml"/><Relationship Id="rId11" Type="http://schemas.openxmlformats.org/officeDocument/2006/relationships/notesSlide" Target="../notesSlides/notesSlide18.xml"/><Relationship Id="rId12" Type="http://schemas.openxmlformats.org/officeDocument/2006/relationships/slide" Target="slide1.xml"/><Relationship Id="rId13" Type="http://schemas.openxmlformats.org/officeDocument/2006/relationships/slide" Target="slide2.xml"/><Relationship Id="rId15" Type="http://schemas.openxmlformats.org/officeDocument/2006/relationships/slideLayout" Target="../slideLayouts/slideLayout5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_rels/slide27.xml.rels><?xml version='1.0' encoding='UTF-8' standalone='yes'?>
<Relationships xmlns="http://schemas.openxmlformats.org/package/2006/relationships"><Relationship Id="rId2" Type="http://schemas.openxmlformats.org/officeDocument/2006/relationships/slide" Target="slide22.xml"/><Relationship Id="rId3" Type="http://schemas.openxmlformats.org/officeDocument/2006/relationships/slide" Target="slide8.xml"/><Relationship Id="rId4" Type="http://schemas.openxmlformats.org/officeDocument/2006/relationships/slide" Target="slide6.xml"/><Relationship Id="rId9" Type="http://schemas.openxmlformats.org/officeDocument/2006/relationships/slide" Target="slide27.xml"/><Relationship Id="rId10" Type="http://schemas.openxmlformats.org/officeDocument/2006/relationships/slide" Target="slide5.xml"/><Relationship Id="rId11" Type="http://schemas.openxmlformats.org/officeDocument/2006/relationships/slide" Target="slide2.xml"/><Relationship Id="rId12" Type="http://schemas.openxmlformats.org/officeDocument/2006/relationships/slide" Target="slide1.xml"/><Relationship Id="rId14" Type="http://schemas.openxmlformats.org/officeDocument/2006/relationships/image" Target="../media/image3.png"/><Relationship Id="rId15" Type="http://schemas.openxmlformats.org/officeDocument/2006/relationships/image" Target="../media/image2.png"/><Relationship Id="rId16" Type="http://schemas.openxmlformats.org/officeDocument/2006/relationships/slideLayout" Target="../slideLayouts/slideLayout5.xml"/><Relationship Id="rId17" Type="http://schemas.openxmlformats.org/officeDocument/2006/relationships/slide" Target="slide10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8.xml"/><Relationship Id="rId21" Type="http://schemas.openxmlformats.org/officeDocument/2006/relationships/slide" Target="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Прямоугольник: скругленные углы 2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65" name="Google Shape;321;p35"/>
          <p:cNvSpPr/>
          <p:nvPr/>
        </p:nvSpPr>
        <p:spPr>
          <a:xfrm>
            <a:off x="8378640" y="1713240"/>
            <a:ext cx="113256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lt1"/>
                </a:solidFill>
                <a:effectLst/>
                <a:uFillTx/>
                <a:latin typeface="+mn-lt"/>
              </a:rPr>
              <a:t>Обучение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66" name="Google Shape;321;p35"/>
          <p:cNvSpPr/>
          <p:nvPr/>
        </p:nvSpPr>
        <p:spPr>
          <a:xfrm>
            <a:off x="9511560" y="1713240"/>
            <a:ext cx="1612440" cy="44928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Без 3D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67" name="Google Shape;321;p35"/>
          <p:cNvSpPr/>
          <p:nvPr/>
        </p:nvSpPr>
        <p:spPr>
          <a:xfrm>
            <a:off x="4823640" y="1713240"/>
            <a:ext cx="224928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lt1"/>
                </a:solidFill>
                <a:effectLst/>
                <a:uFillTx/>
                <a:latin typeface="+mn-lt"/>
                <a:ea typeface="Manrope"/>
              </a:rPr>
              <a:t>Окупаемость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68" name="Google Shape;321;p35"/>
          <p:cNvSpPr/>
          <p:nvPr/>
        </p:nvSpPr>
        <p:spPr>
          <a:xfrm>
            <a:off x="7073280" y="1713240"/>
            <a:ext cx="1305000" cy="44928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Модули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69" name="Подзаголовок 2"/>
          <p:cNvSpPr/>
          <p:nvPr/>
        </p:nvSpPr>
        <p:spPr>
          <a:xfrm>
            <a:off x="4716000" y="3840480"/>
            <a:ext cx="6449040" cy="91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 fontScale="70000" lnSpcReduction="19999"/>
          </a:bodyPr>
          <a:p>
            <a:pPr defTabSz="914400">
              <a:lnSpc>
                <a:spcPct val="11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+mn-lt"/>
              </a:rPr>
              <a:t>Экономия времени и ФОТ проектного отдела — без перехода на 3D и полного переобучения штата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70" name="Заголовок 1"/>
          <p:cNvSpPr/>
          <p:nvPr/>
        </p:nvSpPr>
        <p:spPr>
          <a:xfrm>
            <a:off x="4716000" y="2417400"/>
            <a:ext cx="6531480" cy="12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lang="ru-RU" sz="4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Окупаемость модулей nanoCAD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71" name="Подзаголовок 2"/>
          <p:cNvSpPr/>
          <p:nvPr/>
        </p:nvSpPr>
        <p:spPr>
          <a:xfrm>
            <a:off x="5337000" y="5567040"/>
            <a:ext cx="6449040" cy="75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 lnSpcReduction="9999"/>
          </a:bodyPr>
          <a:p>
            <a:pPr defTabSz="914400">
              <a:lnSpc>
                <a:spcPct val="11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ExtraBold"/>
              </a:rPr>
              <a:t>Спикер: </a:t>
            </a:r>
            <a:r>
              <a:rPr lang="ru-RU" sz="18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+mn-lt"/>
              </a:rPr>
              <a:t>ФИО спикера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11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ExtraBold"/>
              </a:rPr>
              <a:t>Должность: </a:t>
            </a:r>
            <a:r>
              <a:rPr lang="ru-RU" sz="1800" b="0" u="none" strike="noStrike">
                <a:solidFill>
                  <a:srgbClr val="707070"/>
                </a:solidFill>
                <a:effectLst/>
                <a:uFillTx/>
                <a:latin typeface="+mn-lt"/>
              </a:rPr>
              <a:t>должность спикера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pic>
        <p:nvPicPr>
          <p:cNvPr id="72" name="Рисунок 12" descr="Изображение выглядит как снимок экрана, Графика, графический дизайн, логотип&#10;&#10;Контент, сгенерированный ИИ, может содержать ошибки."/>
          <p:cNvPicPr/>
          <p:nvPr/>
        </p:nvPicPr>
        <p:blipFill>
          <a:blip r:embed="rId1"/>
          <a:srcRect l="6675" t="0" r="3344" b="0"/>
          <a:stretch/>
        </p:blipFill>
        <p:spPr>
          <a:xfrm>
            <a:off x="446040" y="273240"/>
            <a:ext cx="3801600" cy="12722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73" name="Прямая со стрелкой 14"/>
          <p:cNvCxnSpPr/>
          <p:nvPr/>
        </p:nvCxnSpPr>
        <p:spPr>
          <a:xfrm>
            <a:off x="4339080" y="5354640"/>
            <a:ext cx="667764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74" name="Рисунок 15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2">
            <a:alphaModFix amt="70000"/>
          </a:blip>
          <a:srcRect l="0" t="55656" r="0" b="0"/>
          <a:stretch/>
        </p:blipFill>
        <p:spPr>
          <a:xfrm rot="5400000">
            <a:off x="10039680" y="338328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Подзаголовок 2"/>
          <p:cNvSpPr/>
          <p:nvPr/>
        </p:nvSpPr>
        <p:spPr>
          <a:xfrm>
            <a:off x="9467280" y="685080"/>
            <a:ext cx="1780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1100" b="0" u="none" strike="noStrike">
                <a:solidFill>
                  <a:srgbClr val="404040"/>
                </a:solidFill>
                <a:effectLst/>
                <a:uFillTx/>
                <a:latin typeface="+mn-lt"/>
              </a:rPr>
              <a:t>8 (800) 302-53-50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100" b="0" u="none" strike="noStrike">
                <a:solidFill>
                  <a:srgbClr val="404040"/>
                </a:solidFill>
                <a:effectLst/>
                <a:uFillTx/>
                <a:latin typeface="+mn-lt"/>
              </a:rPr>
              <a:t>sales@normasoft.com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100" b="0" u="none" strike="noStrike">
                <a:solidFill>
                  <a:srgbClr val="404040"/>
                </a:solidFill>
                <a:effectLst/>
                <a:uFillTx/>
                <a:latin typeface="+mn-lt"/>
              </a:rPr>
              <a:t>normasoft.com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pic>
        <p:nvPicPr>
          <p:cNvPr id="76" name="Рисунок 1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l="34670" t="0" r="0" b="0"/>
          <a:stretch/>
        </p:blipFill>
        <p:spPr>
          <a:xfrm flipH="1">
            <a:off x="360" y="2262960"/>
            <a:ext cx="5336640" cy="4594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Прямоугольник: скругленные углы 4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40" name="Google Shape;529;p41"/>
          <p:cNvSpPr/>
          <p:nvPr/>
        </p:nvSpPr>
        <p:spPr>
          <a:xfrm>
            <a:off x="10015920" y="1959120"/>
            <a:ext cx="1341720" cy="84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en" sz="4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01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1" name="Google Shape;529;p41"/>
          <p:cNvSpPr/>
          <p:nvPr/>
        </p:nvSpPr>
        <p:spPr>
          <a:xfrm>
            <a:off x="3840480" y="3558240"/>
            <a:ext cx="7516368" cy="131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ТЯЖЁЛЫЕ ВРЕМЕНА —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СОВРЕМЕННЫЕ РЕШЕНИЯ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2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43" name="Прямая со стрелкой 8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44" name="TextBox 9"/>
          <p:cNvSpPr/>
          <p:nvPr/>
        </p:nvSpPr>
        <p:spPr>
          <a:xfrm>
            <a:off x="4663440" y="5093280"/>
            <a:ext cx="6693408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Как сократить трудозатраты проектного отдела на 25–30% без перехода на 3D и полного переобучения штата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5" name="Прямоугольник: скругленные углы 10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cxnSp>
        <p:nvCxnSpPr>
          <p:cNvPr id="246" name="Прямая со стрелкой 1"/>
          <p:cNvCxnSpPr/>
          <p:nvPr/>
        </p:nvCxnSpPr>
        <p:spPr>
          <a:xfrm>
            <a:off x="5074200" y="4999320"/>
            <a:ext cx="619308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24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7381080" y="292752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Рисунок 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2">
            <a:extLst/>
          </a:blip>
          <a:stretch/>
        </p:blipFill>
        <p:spPr>
          <a:xfrm flipH="1">
            <a:off x="360" y="3371760"/>
            <a:ext cx="6197400" cy="34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59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ВЫЗОВЫ</a:t>
            </a:r>
          </a:p>
        </p:txBody>
      </p:sp>
      <p:sp>
        <p:nvSpPr>
          <p:cNvPr id="260" name="nav">
            <a:hlinkClick action="ppaction://hlinksldjump" r:id="rId14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261" name="nav">
            <a:hlinkClick action="ppaction://hlinksldjump" r:id="rId6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262" name="nav">
            <a:hlinkClick action="ppaction://hlinksldjump" r:id="rId5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263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264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265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МЕТОДИКА</a:t>
            </a:r>
          </a:p>
        </p:txBody>
      </p:sp>
      <p:sp>
        <p:nvSpPr>
          <p:cNvPr id="266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267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268" name="nav">
            <a:hlinkClick action="ppaction://hlinksldjump" r:id="rId4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269" name="nav">
            <a:hlinkClick action="ppaction://hlinksldjump" r:id="rId11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Тяжёлые времена требуют современных решений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1463040" cy="384048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300" b="0">
                <a:solidFill>
                  <a:srgbClr val="FFFFFF"/>
                </a:solidFill>
                <a:latin typeface="+mn-lt"/>
              </a:rPr>
              <a:t>Вызовы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594360" y="2606040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386FC"/>
                </a:solidFill>
                <a:latin typeface="+mj-lt"/>
              </a:rPr>
              <a:t>146 684 ₽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2743200" y="2606040"/>
            <a:ext cx="29260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средняя зарплата в проектировании (ОКВЭД 71, ЕМИСС, январь–апрель 2026): час инженера дорожает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594360" y="3685032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386FC"/>
                </a:solidFill>
                <a:latin typeface="+mj-lt"/>
              </a:rPr>
              <a:t>5,5%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2743200" y="3685032"/>
            <a:ext cx="29260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доля отрицательных заключений госэкспертизы в 2025 году — +1,8 п.п. к 2024 году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594360" y="4764024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386FC"/>
                </a:solidFill>
                <a:latin typeface="+mj-lt"/>
              </a:rPr>
              <a:t>&gt; 70%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2743200" y="4764024"/>
            <a:ext cx="29260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всех переделок в строительстве вызваны ошибками проектирования (Love &amp; Edwards)</a:t>
            </a:r>
          </a:p>
        </p:txBody>
      </p:sp>
      <p:sp>
        <p:nvSpPr>
          <p:cNvPr id="550" name="Snip Single Corner Rectangle 549"/>
          <p:cNvSpPr/>
          <p:nvPr/>
        </p:nvSpPr>
        <p:spPr>
          <a:xfrm>
            <a:off x="6263640" y="2011680"/>
            <a:ext cx="1463040" cy="384048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300" b="0">
                <a:solidFill>
                  <a:srgbClr val="FFFFFF"/>
                </a:solidFill>
                <a:latin typeface="+mn-lt"/>
              </a:rPr>
              <a:t>Решение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6263640" y="2606040"/>
            <a:ext cx="5212080" cy="32461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2" name="TextBox 551"/>
          <p:cNvSpPr txBox="1"/>
          <p:nvPr/>
        </p:nvSpPr>
        <p:spPr>
          <a:xfrm>
            <a:off x="6537960" y="2788920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+mj-lt"/>
              </a:rPr>
              <a:t>Специализированные модули nanoCAD на привычной 2D-платформе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6537960" y="3611880"/>
            <a:ext cx="4663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6888" indent="-246888">
              <a:spcAft>
                <a:spcPts val="800"/>
              </a:spcAft>
              <a:buClr>
                <a:srgbClr val="0386FC"/>
              </a:buClr>
              <a:buFont typeface="+mn-lt"/>
              <a:buChar char="→"/>
            </a:pPr>
            <a:r>
              <a:rPr sz="1300" b="0">
                <a:solidFill>
                  <a:srgbClr val="1A1A1A"/>
                </a:solidFill>
                <a:latin typeface="+mn-lt"/>
              </a:rPr>
              <a:t>Автоматизация рутины: спецификации, ведомости, кабельные журналы, расчёты</a:t>
            </a:r>
          </a:p>
          <a:p>
            <a:pPr algn="l" marL="246888" indent="-246888">
              <a:spcAft>
                <a:spcPts val="800"/>
              </a:spcAft>
              <a:buClr>
                <a:srgbClr val="0386FC"/>
              </a:buClr>
              <a:buFont typeface="+mn-lt"/>
              <a:buChar char="→"/>
            </a:pPr>
            <a:r>
              <a:rPr sz="1300" b="0">
                <a:solidFill>
                  <a:srgbClr val="1A1A1A"/>
                </a:solidFill>
                <a:latin typeface="+mn-lt"/>
              </a:rPr>
              <a:t>Сокращение трудозатрат раздела на 25–30% — консервативная оценка</a:t>
            </a:r>
          </a:p>
          <a:p>
            <a:pPr algn="l" marL="246888" indent="-246888">
              <a:spcAft>
                <a:spcPts val="800"/>
              </a:spcAft>
              <a:buClr>
                <a:srgbClr val="0386FC"/>
              </a:buClr>
              <a:buFont typeface="+mn-lt"/>
              <a:buChar char="→"/>
            </a:pPr>
            <a:r>
              <a:rPr sz="1300" b="0">
                <a:solidFill>
                  <a:srgbClr val="1A1A1A"/>
                </a:solidFill>
                <a:latin typeface="+mn-lt"/>
              </a:rPr>
              <a:t>Окупаемость лицензии и обучения — за 1–3 проекта</a:t>
            </a:r>
          </a:p>
          <a:p>
            <a:pPr algn="l" marL="246888" indent="-246888">
              <a:spcAft>
                <a:spcPts val="800"/>
              </a:spcAft>
              <a:buClr>
                <a:srgbClr val="0386FC"/>
              </a:buClr>
              <a:buFont typeface="+mn-lt"/>
              <a:buChar char="→"/>
            </a:pPr>
            <a:r>
              <a:rPr sz="1300" b="0">
                <a:solidFill>
                  <a:srgbClr val="1A1A1A"/>
                </a:solidFill>
                <a:latin typeface="+mn-lt"/>
              </a:rPr>
              <a:t>Российское ПО: лицензионная чистота и защита данных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Источники: ЕМИСС; итоги Главгосэкспертизы за 2025 год; Love P., Edwards D. Calculating total rework costs in Australian construction projects.</a:t>
            </a:r>
          </a:p>
        </p:txBody>
      </p:sp>
      <p:sp>
        <p:nvSpPr>
          <p:cNvPr id="555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ВЫЗОВЫ</a:t>
            </a:r>
          </a:p>
        </p:txBody>
      </p:sp>
      <p:sp>
        <p:nvSpPr>
          <p:cNvPr id="556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557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558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559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560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561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МЕТОДИКА</a:t>
            </a:r>
          </a:p>
        </p:txBody>
      </p:sp>
      <p:sp>
        <p:nvSpPr>
          <p:cNvPr id="562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63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564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5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Экономия без 3D и полного переобучения штата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3429000" cy="25146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Snip Single Corner Rectangle 543"/>
          <p:cNvSpPr/>
          <p:nvPr/>
        </p:nvSpPr>
        <p:spPr>
          <a:xfrm>
            <a:off x="868680" y="2240280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+mj-lt"/>
              </a:rPr>
              <a:t>01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868680" y="288036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+mj-lt"/>
              </a:rPr>
              <a:t>Привычный 2D-процесс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868680" y="333756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Работа в DWG и в привычной логике чертежа. Не нужно перестраивать процессы отдела и ждать внедрения BIM-стандарта.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4251960" y="2011680"/>
            <a:ext cx="3429000" cy="25146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8" name="Snip Single Corner Rectangle 547"/>
          <p:cNvSpPr/>
          <p:nvPr/>
        </p:nvSpPr>
        <p:spPr>
          <a:xfrm>
            <a:off x="4526280" y="2240280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+mj-lt"/>
              </a:rPr>
              <a:t>02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4526280" y="288036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+mj-lt"/>
              </a:rPr>
              <a:t>Короткие курсы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4526280" y="333756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Обучение в УЦ Нормасофт: отдельный курс по нужному модулю, без полного переобучения. 15 000–25 100 ₽ на сотрудника.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7909560" y="2011680"/>
            <a:ext cx="3429000" cy="25146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2" name="Snip Single Corner Rectangle 551"/>
          <p:cNvSpPr/>
          <p:nvPr/>
        </p:nvSpPr>
        <p:spPr>
          <a:xfrm>
            <a:off x="8183880" y="2240280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+mj-lt"/>
              </a:rPr>
              <a:t>03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8183880" y="288036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+mj-lt"/>
              </a:rPr>
              <a:t>Эффект с первого проекта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8183880" y="333756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Спецификации, журналы и расчёты формируются автоматически сразу. Лицензия и обучение окупаются за 1–3 проекта.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594360" y="47548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+mn-lt"/>
              </a:rPr>
              <a:t>Затраты на внедрение одного рабочего места (лицензия + обучение)</a:t>
            </a:r>
          </a:p>
        </p:txBody>
      </p:sp>
      <p:sp>
        <p:nvSpPr>
          <p:cNvPr id="556" name="Snip Single Corner Rectangle 555"/>
          <p:cNvSpPr/>
          <p:nvPr/>
        </p:nvSpPr>
        <p:spPr>
          <a:xfrm>
            <a:off x="594360" y="5120640"/>
            <a:ext cx="3429000" cy="82296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7" name="TextBox 556"/>
          <p:cNvSpPr txBox="1"/>
          <p:nvPr/>
        </p:nvSpPr>
        <p:spPr>
          <a:xfrm>
            <a:off x="868680" y="5120640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386FC"/>
                </a:solidFill>
                <a:latin typeface="+mj-lt"/>
              </a:rPr>
              <a:t>99 900 ₽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2560320" y="5120640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АР и КР (СПДС)</a:t>
            </a:r>
          </a:p>
        </p:txBody>
      </p:sp>
      <p:sp>
        <p:nvSpPr>
          <p:cNvPr id="559" name="Snip Single Corner Rectangle 558"/>
          <p:cNvSpPr/>
          <p:nvPr/>
        </p:nvSpPr>
        <p:spPr>
          <a:xfrm>
            <a:off x="4251960" y="5120640"/>
            <a:ext cx="3429000" cy="82296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0" name="TextBox 559"/>
          <p:cNvSpPr txBox="1"/>
          <p:nvPr/>
        </p:nvSpPr>
        <p:spPr>
          <a:xfrm>
            <a:off x="4526280" y="5120640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386FC"/>
                </a:solidFill>
                <a:latin typeface="+mj-lt"/>
              </a:rPr>
              <a:t>122 000 ₽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6217920" y="5120640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Электро</a:t>
            </a:r>
          </a:p>
        </p:txBody>
      </p:sp>
      <p:sp>
        <p:nvSpPr>
          <p:cNvPr id="562" name="Snip Single Corner Rectangle 561"/>
          <p:cNvSpPr/>
          <p:nvPr/>
        </p:nvSpPr>
        <p:spPr>
          <a:xfrm>
            <a:off x="7909560" y="5120640"/>
            <a:ext cx="3429000" cy="82296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3" name="TextBox 562"/>
          <p:cNvSpPr txBox="1"/>
          <p:nvPr/>
        </p:nvSpPr>
        <p:spPr>
          <a:xfrm>
            <a:off x="8183880" y="5120640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386FC"/>
                </a:solidFill>
                <a:latin typeface="+mj-lt"/>
              </a:rPr>
              <a:t>184 600 ₽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9875520" y="5120640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СКС + ОПС</a:t>
            </a:r>
          </a:p>
        </p:txBody>
      </p:sp>
      <p:sp>
        <p:nvSpPr>
          <p:cNvPr id="565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ВЫЗОВЫ</a:t>
            </a:r>
          </a:p>
        </p:txBody>
      </p:sp>
      <p:sp>
        <p:nvSpPr>
          <p:cNvPr id="566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567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568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569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570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571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МЕТОДИКА</a:t>
            </a:r>
          </a:p>
        </p:txBody>
      </p:sp>
      <p:sp>
        <p:nvSpPr>
          <p:cNvPr id="572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73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574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75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Где возникает экономия: объект «Детский сад на 200 мест»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3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graphicFrame>
        <p:nvGraphicFramePr>
          <p:cNvPr id="543" name="Chart 542"/>
          <p:cNvGraphicFramePr>
            <a:graphicFrameLocks noGrp="1"/>
          </p:cNvGraphicFramePr>
          <p:nvPr/>
        </p:nvGraphicFramePr>
        <p:xfrm>
          <a:off x="502920" y="1920240"/>
          <a:ext cx="6949440" cy="4069080"/>
        </p:xfrm>
        <a:graphic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544" name="Snip Single Corner Rectangle 543"/>
          <p:cNvSpPr/>
          <p:nvPr/>
        </p:nvSpPr>
        <p:spPr>
          <a:xfrm>
            <a:off x="7818120" y="2011680"/>
            <a:ext cx="3657600" cy="102412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5" name="TextBox 544"/>
          <p:cNvSpPr txBox="1"/>
          <p:nvPr/>
        </p:nvSpPr>
        <p:spPr>
          <a:xfrm>
            <a:off x="8046720" y="2103120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A1A"/>
                </a:solidFill>
                <a:latin typeface="+mj-lt"/>
              </a:rPr>
              <a:t>9 923,8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8046720" y="2596896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тыс. ₽ — базовая цена проектирования без НДС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7818120" y="3172968"/>
            <a:ext cx="3657600" cy="1024128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8" name="TextBox 547"/>
          <p:cNvSpPr txBox="1"/>
          <p:nvPr/>
        </p:nvSpPr>
        <p:spPr>
          <a:xfrm>
            <a:off x="8046720" y="3264408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386FC"/>
                </a:solidFill>
                <a:latin typeface="+mj-lt"/>
              </a:rPr>
              <a:t>2 479,0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8046720" y="3758184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тыс. ₽ — общая экономия по проекту</a:t>
            </a:r>
          </a:p>
        </p:txBody>
      </p:sp>
      <p:sp>
        <p:nvSpPr>
          <p:cNvPr id="550" name="Snip Single Corner Rectangle 549"/>
          <p:cNvSpPr/>
          <p:nvPr/>
        </p:nvSpPr>
        <p:spPr>
          <a:xfrm>
            <a:off x="7818120" y="4334256"/>
            <a:ext cx="3657600" cy="1024128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1" name="TextBox 550"/>
          <p:cNvSpPr txBox="1"/>
          <p:nvPr/>
        </p:nvSpPr>
        <p:spPr>
          <a:xfrm>
            <a:off x="8046720" y="4425696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386FC"/>
                </a:solidFill>
                <a:latin typeface="+mj-lt"/>
              </a:rPr>
              <a:t>25%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8046720" y="4919472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от стоимости проекта — консервативная оценка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7818120" y="5486400"/>
            <a:ext cx="3657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Разделы СМ, КОН, ООС, ОДИ, ЭЭ, ПЗ, ТБЭ — экономия не учитывается (0%).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Расчёт по калькулятору стоимости проектных работ: 848/пр, 707/пр, Ипр 1,68 (II кв. 2026). Длина полосы — затраты раздела, синяя часть — экономия.</a:t>
            </a:r>
          </a:p>
        </p:txBody>
      </p:sp>
      <p:sp>
        <p:nvSpPr>
          <p:cNvPr id="555" name="nav">
            <a:hlinkClick action="ppaction://hlinksldjump" r:id="rId5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ВЫЗОВЫ</a:t>
            </a:r>
          </a:p>
        </p:txBody>
      </p:sp>
      <p:sp>
        <p:nvSpPr>
          <p:cNvPr id="556" name="nav">
            <a:hlinkClick action="ppaction://hlinksldjump" r:id="rId4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ЭКОНОМИЯ</a:t>
            </a:r>
          </a:p>
        </p:txBody>
      </p:sp>
      <p:sp>
        <p:nvSpPr>
          <p:cNvPr id="557" name="nav">
            <a:hlinkClick action="ppaction://hlinksldjump" r:id="rId16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558" name="nav">
            <a:hlinkClick action="ppaction://hlinksldjump" r:id="rId17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559" name="nav">
            <a:hlinkClick action="ppaction://hlinksldjump" r:id="rId18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560" name="nav">
            <a:hlinkClick action="ppaction://hlinksldjump" r:id="rId19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561" name="nav">
            <a:hlinkClick action="ppaction://hlinksldjump" r:id="rId20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МЕТОДИКА</a:t>
            </a:r>
          </a:p>
        </p:txBody>
      </p:sp>
      <p:sp>
        <p:nvSpPr>
          <p:cNvPr id="562" name="nav">
            <a:hlinkClick action="ppaction://hlinksldjump" r:id="rId21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63" name="nav">
            <a:hlinkClick action="ppaction://hlinksldjump" r:id="rId22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564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5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Прямоугольник: скругленные углы 4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40" name="Google Shape;529;p41"/>
          <p:cNvSpPr/>
          <p:nvPr/>
        </p:nvSpPr>
        <p:spPr>
          <a:xfrm>
            <a:off x="10015920" y="1959120"/>
            <a:ext cx="1341720" cy="84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en" sz="4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02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1" name="Google Shape;529;p41"/>
          <p:cNvSpPr/>
          <p:nvPr/>
        </p:nvSpPr>
        <p:spPr>
          <a:xfrm>
            <a:off x="3840480" y="3558240"/>
            <a:ext cx="7516368" cy="131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ОКУПАЕМОСТЬ: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АР и КР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2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43" name="Прямая со стрелкой 8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44" name="TextBox 9"/>
          <p:cNvSpPr/>
          <p:nvPr/>
        </p:nvSpPr>
        <p:spPr>
          <a:xfrm>
            <a:off x="4663440" y="5093280"/>
            <a:ext cx="6693408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Компонент СПДС Платформы nanoCAD: оформление, спецификации и ведомости по основным строительным разделам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5" name="Прямоугольник: скругленные углы 10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cxnSp>
        <p:nvCxnSpPr>
          <p:cNvPr id="246" name="Прямая со стрелкой 1"/>
          <p:cNvCxnSpPr/>
          <p:nvPr/>
        </p:nvCxnSpPr>
        <p:spPr>
          <a:xfrm>
            <a:off x="5074200" y="4999320"/>
            <a:ext cx="619308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24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7381080" y="292752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Рисунок 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2">
            <a:extLst/>
          </a:blip>
          <a:stretch/>
        </p:blipFill>
        <p:spPr>
          <a:xfrm flipH="1">
            <a:off x="360" y="3371760"/>
            <a:ext cx="6197400" cy="34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59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ВЫЗОВЫ</a:t>
            </a:r>
          </a:p>
        </p:txBody>
      </p:sp>
      <p:sp>
        <p:nvSpPr>
          <p:cNvPr id="260" name="nav">
            <a:hlinkClick action="ppaction://hlinksldjump" r:id="rId14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261" name="nav">
            <a:hlinkClick action="ppaction://hlinksldjump" r:id="rId6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АР и КР</a:t>
            </a:r>
          </a:p>
        </p:txBody>
      </p:sp>
      <p:sp>
        <p:nvSpPr>
          <p:cNvPr id="262" name="nav">
            <a:hlinkClick action="ppaction://hlinksldjump" r:id="rId5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263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264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265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МЕТОДИКА</a:t>
            </a:r>
          </a:p>
        </p:txBody>
      </p:sp>
      <p:sp>
        <p:nvSpPr>
          <p:cNvPr id="266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267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268" name="nav">
            <a:hlinkClick action="ppaction://hlinksldjump" r:id="rId4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269" name="nav">
            <a:hlinkClick action="ppaction://hlinksldjump" r:id="rId11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АР и КР: окупаемость компонента СПДС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TextBox 542"/>
          <p:cNvSpPr txBox="1"/>
          <p:nvPr/>
        </p:nvSpPr>
        <p:spPr>
          <a:xfrm>
            <a:off x="594360" y="20116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Что автоматизируется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594360" y="2514600"/>
            <a:ext cx="30632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Оформление по ГОСТ и СПДС параметрическими объектами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Спецификации и ведомости — из данных чертежа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Изменения автоматически попадают в таблицы и марки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Готовые перечни и объёмы для сметного отдела</a:t>
            </a:r>
          </a:p>
        </p:txBody>
      </p:sp>
      <p:sp>
        <p:nvSpPr>
          <p:cNvPr id="545" name="Snip Single Corner Rectangle 544"/>
          <p:cNvSpPr/>
          <p:nvPr/>
        </p:nvSpPr>
        <p:spPr>
          <a:xfrm>
            <a:off x="3886200" y="2011680"/>
            <a:ext cx="3639312" cy="3913632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6" name="TextBox 545"/>
          <p:cNvSpPr txBox="1"/>
          <p:nvPr/>
        </p:nvSpPr>
        <p:spPr>
          <a:xfrm>
            <a:off x="4142232" y="2148840"/>
            <a:ext cx="31546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Детский сад на 200 мест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4142232" y="260604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Трудозатраты по разделу, ч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4142232" y="285292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6B7280"/>
                </a:solidFill>
                <a:latin typeface="+mj-lt"/>
              </a:rPr>
              <a:t>368</a:t>
            </a:r>
            <a:r>
              <a:rPr sz="1800" b="1">
                <a:solidFill>
                  <a:srgbClr val="6B7280"/>
                </a:solidFill>
                <a:latin typeface="+mj-lt"/>
              </a:rPr>
              <a:t>  →  </a:t>
            </a:r>
            <a:r>
              <a:rPr sz="1800" b="1">
                <a:solidFill>
                  <a:srgbClr val="0386FC"/>
                </a:solidFill>
                <a:latin typeface="+mj-lt"/>
              </a:rPr>
              <a:t>288 ч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4142232" y="338328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Экономия ФОТ в год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5897880" y="338328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937 000 ₽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4142232" y="3685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Экономия на правках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5897880" y="3685032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140 500 ₽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4142232" y="398678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Затраты на внедрение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5897880" y="3986784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99 900 ₽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4142232" y="4434840"/>
            <a:ext cx="3127248" cy="1280160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6" name="TextBox 555"/>
          <p:cNvSpPr txBox="1"/>
          <p:nvPr/>
        </p:nvSpPr>
        <p:spPr>
          <a:xfrm>
            <a:off x="4297680" y="45079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ROI за год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4297680" y="47365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386FC"/>
                </a:solidFill>
                <a:latin typeface="+mj-lt"/>
              </a:rPr>
              <a:t>978%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5715000" y="450799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Эффект за год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5623560" y="480060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977 600 ₽</a:t>
            </a:r>
          </a:p>
        </p:txBody>
      </p:sp>
      <p:sp>
        <p:nvSpPr>
          <p:cNvPr id="560" name="TextBox 559"/>
          <p:cNvSpPr txBox="1"/>
          <p:nvPr/>
        </p:nvSpPr>
        <p:spPr>
          <a:xfrm>
            <a:off x="4297680" y="53035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10 проектов в год, ставка 1 171 ₽/ч</a:t>
            </a:r>
          </a:p>
        </p:txBody>
      </p:sp>
      <p:sp>
        <p:nvSpPr>
          <p:cNvPr id="561" name="Snip Single Corner Rectangle 560"/>
          <p:cNvSpPr/>
          <p:nvPr/>
        </p:nvSpPr>
        <p:spPr>
          <a:xfrm>
            <a:off x="7726679" y="2011680"/>
            <a:ext cx="3639312" cy="3913632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2" name="TextBox 561"/>
          <p:cNvSpPr txBox="1"/>
          <p:nvPr/>
        </p:nvSpPr>
        <p:spPr>
          <a:xfrm>
            <a:off x="7982711" y="2148840"/>
            <a:ext cx="31546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Котельная 25 Гкал/ч</a:t>
            </a:r>
          </a:p>
        </p:txBody>
      </p:sp>
      <p:sp>
        <p:nvSpPr>
          <p:cNvPr id="563" name="TextBox 562"/>
          <p:cNvSpPr txBox="1"/>
          <p:nvPr/>
        </p:nvSpPr>
        <p:spPr>
          <a:xfrm>
            <a:off x="7982711" y="260604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Трудозатраты по разделу, ч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7982711" y="285292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6B7280"/>
                </a:solidFill>
                <a:latin typeface="+mj-lt"/>
              </a:rPr>
              <a:t>352</a:t>
            </a:r>
            <a:r>
              <a:rPr sz="1800" b="1">
                <a:solidFill>
                  <a:srgbClr val="6B7280"/>
                </a:solidFill>
                <a:latin typeface="+mj-lt"/>
              </a:rPr>
              <a:t>  →  </a:t>
            </a:r>
            <a:r>
              <a:rPr sz="1800" b="1">
                <a:solidFill>
                  <a:srgbClr val="0386FC"/>
                </a:solidFill>
                <a:latin typeface="+mj-lt"/>
              </a:rPr>
              <a:t>248 ч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7982711" y="338328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Экономия ФОТ в год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9738359" y="338328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1 217 800 ₽</a:t>
            </a:r>
          </a:p>
        </p:txBody>
      </p:sp>
      <p:sp>
        <p:nvSpPr>
          <p:cNvPr id="567" name="TextBox 566"/>
          <p:cNvSpPr txBox="1"/>
          <p:nvPr/>
        </p:nvSpPr>
        <p:spPr>
          <a:xfrm>
            <a:off x="7982711" y="3685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Экономия на правках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9738359" y="3685032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234 000 ₽</a:t>
            </a:r>
          </a:p>
        </p:txBody>
      </p:sp>
      <p:sp>
        <p:nvSpPr>
          <p:cNvPr id="569" name="TextBox 568"/>
          <p:cNvSpPr txBox="1"/>
          <p:nvPr/>
        </p:nvSpPr>
        <p:spPr>
          <a:xfrm>
            <a:off x="7982711" y="398678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Затраты на внедрение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9738359" y="3986784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99 900 ₽</a:t>
            </a:r>
          </a:p>
        </p:txBody>
      </p:sp>
      <p:sp>
        <p:nvSpPr>
          <p:cNvPr id="571" name="Snip Single Corner Rectangle 570"/>
          <p:cNvSpPr/>
          <p:nvPr/>
        </p:nvSpPr>
        <p:spPr>
          <a:xfrm>
            <a:off x="7982711" y="4434840"/>
            <a:ext cx="3127248" cy="1280160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2" name="TextBox 571"/>
          <p:cNvSpPr txBox="1"/>
          <p:nvPr/>
        </p:nvSpPr>
        <p:spPr>
          <a:xfrm>
            <a:off x="8138159" y="45079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ROI за год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8138159" y="47365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386FC"/>
                </a:solidFill>
                <a:latin typeface="+mj-lt"/>
              </a:rPr>
              <a:t>1 353%</a:t>
            </a:r>
          </a:p>
        </p:txBody>
      </p:sp>
      <p:sp>
        <p:nvSpPr>
          <p:cNvPr id="574" name="TextBox 573"/>
          <p:cNvSpPr txBox="1"/>
          <p:nvPr/>
        </p:nvSpPr>
        <p:spPr>
          <a:xfrm>
            <a:off x="9555480" y="450799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Эффект за год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9464040" y="480060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1 351 900 ₽</a:t>
            </a:r>
          </a:p>
        </p:txBody>
      </p:sp>
      <p:sp>
        <p:nvSpPr>
          <p:cNvPr id="576" name="TextBox 575"/>
          <p:cNvSpPr txBox="1"/>
          <p:nvPr/>
        </p:nvSpPr>
        <p:spPr>
          <a:xfrm>
            <a:off x="8138159" y="53035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10 проектов в год, ставка 1 171 ₽/ч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Платформа nanoCAD с компонентом СПДС — 69 900 ₽; обучение — 30 000 ₽ (платформа + компонент). Окупаемость — 1–2 проекта.</a:t>
            </a:r>
          </a:p>
        </p:txBody>
      </p:sp>
      <p:sp>
        <p:nvSpPr>
          <p:cNvPr id="578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ВЫЗОВЫ</a:t>
            </a:r>
          </a:p>
        </p:txBody>
      </p:sp>
      <p:sp>
        <p:nvSpPr>
          <p:cNvPr id="579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580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АР и КР</a:t>
            </a:r>
          </a:p>
        </p:txBody>
      </p:sp>
      <p:sp>
        <p:nvSpPr>
          <p:cNvPr id="581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582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583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584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МЕТОДИКА</a:t>
            </a:r>
          </a:p>
        </p:txBody>
      </p:sp>
      <p:sp>
        <p:nvSpPr>
          <p:cNvPr id="585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86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587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88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Прямоугольник: скругленные углы 4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40" name="Google Shape;529;p41"/>
          <p:cNvSpPr/>
          <p:nvPr/>
        </p:nvSpPr>
        <p:spPr>
          <a:xfrm>
            <a:off x="10015920" y="1959120"/>
            <a:ext cx="1341720" cy="84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en" sz="4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03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1" name="Google Shape;529;p41"/>
          <p:cNvSpPr/>
          <p:nvPr/>
        </p:nvSpPr>
        <p:spPr>
          <a:xfrm>
            <a:off x="3840480" y="3558240"/>
            <a:ext cx="7516368" cy="131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ОКУПАЕМОСТЬ: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ЭЛЕКТРО, СКС, ОПС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2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43" name="Прямая со стрелкой 8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44" name="TextBox 9"/>
          <p:cNvSpPr/>
          <p:nvPr/>
        </p:nvSpPr>
        <p:spPr>
          <a:xfrm>
            <a:off x="4663440" y="5093280"/>
            <a:ext cx="6693408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Специализированные модули для инженерных разделов: расчёты, трассировка, журналы и спецификации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5" name="Прямоугольник: скругленные углы 10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cxnSp>
        <p:nvCxnSpPr>
          <p:cNvPr id="246" name="Прямая со стрелкой 1"/>
          <p:cNvCxnSpPr/>
          <p:nvPr/>
        </p:nvCxnSpPr>
        <p:spPr>
          <a:xfrm>
            <a:off x="5074200" y="4999320"/>
            <a:ext cx="619308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24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7381080" y="292752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Рисунок 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2">
            <a:extLst/>
          </a:blip>
          <a:stretch/>
        </p:blipFill>
        <p:spPr>
          <a:xfrm flipH="1">
            <a:off x="360" y="3371760"/>
            <a:ext cx="6197400" cy="34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59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ВЫЗОВЫ</a:t>
            </a:r>
          </a:p>
        </p:txBody>
      </p:sp>
      <p:sp>
        <p:nvSpPr>
          <p:cNvPr id="260" name="nav">
            <a:hlinkClick action="ppaction://hlinksldjump" r:id="rId14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261" name="nav">
            <a:hlinkClick action="ppaction://hlinksldjump" r:id="rId6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262" name="nav">
            <a:hlinkClick action="ppaction://hlinksldjump" r:id="rId5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ЭЛЕКТРО</a:t>
            </a:r>
          </a:p>
        </p:txBody>
      </p:sp>
      <p:sp>
        <p:nvSpPr>
          <p:cNvPr id="263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264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265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МЕТОДИКА</a:t>
            </a:r>
          </a:p>
        </p:txBody>
      </p:sp>
      <p:sp>
        <p:nvSpPr>
          <p:cNvPr id="266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267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268" name="nav">
            <a:hlinkClick action="ppaction://hlinksldjump" r:id="rId4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269" name="nav">
            <a:hlinkClick action="ppaction://hlinksldjump" r:id="rId11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Электро: окупаемость nanoCAD BIM Электро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TextBox 542"/>
          <p:cNvSpPr txBox="1"/>
          <p:nvPr/>
        </p:nvSpPr>
        <p:spPr>
          <a:xfrm>
            <a:off x="594360" y="20116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Что автоматизируется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594360" y="2514600"/>
            <a:ext cx="30632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Электротехнические и светотехнические расчёты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Трассировка сетей и кабельные журналы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Щиты, выбор аппаратов, однолинейные схемы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Спецификации оборудования по ГОСТ</a:t>
            </a:r>
          </a:p>
        </p:txBody>
      </p:sp>
      <p:sp>
        <p:nvSpPr>
          <p:cNvPr id="545" name="Snip Single Corner Rectangle 544"/>
          <p:cNvSpPr/>
          <p:nvPr/>
        </p:nvSpPr>
        <p:spPr>
          <a:xfrm>
            <a:off x="3886200" y="2011680"/>
            <a:ext cx="3639312" cy="3913632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6" name="TextBox 545"/>
          <p:cNvSpPr txBox="1"/>
          <p:nvPr/>
        </p:nvSpPr>
        <p:spPr>
          <a:xfrm>
            <a:off x="4142232" y="2148840"/>
            <a:ext cx="31546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Детский сад на 200 мест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4142232" y="260604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Трудозатраты по разделу, ч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4142232" y="285292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6B7280"/>
                </a:solidFill>
                <a:latin typeface="+mj-lt"/>
              </a:rPr>
              <a:t>160</a:t>
            </a:r>
            <a:r>
              <a:rPr sz="1800" b="1">
                <a:solidFill>
                  <a:srgbClr val="6B7280"/>
                </a:solidFill>
                <a:latin typeface="+mj-lt"/>
              </a:rPr>
              <a:t>  →  </a:t>
            </a:r>
            <a:r>
              <a:rPr sz="1800" b="1">
                <a:solidFill>
                  <a:srgbClr val="0386FC"/>
                </a:solidFill>
                <a:latin typeface="+mj-lt"/>
              </a:rPr>
              <a:t>112 ч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4142232" y="338328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Экономия ФОТ в год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5897880" y="338328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562 000 ₽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4142232" y="3685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Экономия на правках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5897880" y="3685032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117 000 ₽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4142232" y="398678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Затраты на внедрение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5897880" y="3986784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122 000 ₽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4142232" y="4434840"/>
            <a:ext cx="3127248" cy="1280160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6" name="TextBox 555"/>
          <p:cNvSpPr txBox="1"/>
          <p:nvPr/>
        </p:nvSpPr>
        <p:spPr>
          <a:xfrm>
            <a:off x="4297680" y="45079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ROI за год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4297680" y="47365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386FC"/>
                </a:solidFill>
                <a:latin typeface="+mj-lt"/>
              </a:rPr>
              <a:t>457%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5715000" y="450799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Эффект за год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5623560" y="480060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557 000 ₽</a:t>
            </a:r>
          </a:p>
        </p:txBody>
      </p:sp>
      <p:sp>
        <p:nvSpPr>
          <p:cNvPr id="560" name="TextBox 559"/>
          <p:cNvSpPr txBox="1"/>
          <p:nvPr/>
        </p:nvSpPr>
        <p:spPr>
          <a:xfrm>
            <a:off x="4297680" y="53035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10 проектов в год, ставка 1 171 ₽/ч</a:t>
            </a:r>
          </a:p>
        </p:txBody>
      </p:sp>
      <p:sp>
        <p:nvSpPr>
          <p:cNvPr id="561" name="Snip Single Corner Rectangle 560"/>
          <p:cNvSpPr/>
          <p:nvPr/>
        </p:nvSpPr>
        <p:spPr>
          <a:xfrm>
            <a:off x="7726679" y="2011680"/>
            <a:ext cx="3639312" cy="3913632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2" name="TextBox 561"/>
          <p:cNvSpPr txBox="1"/>
          <p:nvPr/>
        </p:nvSpPr>
        <p:spPr>
          <a:xfrm>
            <a:off x="7982711" y="2148840"/>
            <a:ext cx="31546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Котельная 25 Гкал/ч</a:t>
            </a:r>
          </a:p>
        </p:txBody>
      </p:sp>
      <p:sp>
        <p:nvSpPr>
          <p:cNvPr id="563" name="TextBox 562"/>
          <p:cNvSpPr txBox="1"/>
          <p:nvPr/>
        </p:nvSpPr>
        <p:spPr>
          <a:xfrm>
            <a:off x="7982711" y="260604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Трудозатраты по разделу, ч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7982711" y="285292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6B7280"/>
                </a:solidFill>
                <a:latin typeface="+mj-lt"/>
              </a:rPr>
              <a:t>320</a:t>
            </a:r>
            <a:r>
              <a:rPr sz="1800" b="1">
                <a:solidFill>
                  <a:srgbClr val="6B7280"/>
                </a:solidFill>
                <a:latin typeface="+mj-lt"/>
              </a:rPr>
              <a:t>  →  </a:t>
            </a:r>
            <a:r>
              <a:rPr sz="1800" b="1">
                <a:solidFill>
                  <a:srgbClr val="0386FC"/>
                </a:solidFill>
                <a:latin typeface="+mj-lt"/>
              </a:rPr>
              <a:t>240 ч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7982711" y="338328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Экономия ФОТ в год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9738359" y="338328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936 800 ₽</a:t>
            </a:r>
          </a:p>
        </p:txBody>
      </p:sp>
      <p:sp>
        <p:nvSpPr>
          <p:cNvPr id="567" name="TextBox 566"/>
          <p:cNvSpPr txBox="1"/>
          <p:nvPr/>
        </p:nvSpPr>
        <p:spPr>
          <a:xfrm>
            <a:off x="7982711" y="3685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Экономия на правках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9738359" y="3685032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234 000 ₽</a:t>
            </a:r>
          </a:p>
        </p:txBody>
      </p:sp>
      <p:sp>
        <p:nvSpPr>
          <p:cNvPr id="569" name="TextBox 568"/>
          <p:cNvSpPr txBox="1"/>
          <p:nvPr/>
        </p:nvSpPr>
        <p:spPr>
          <a:xfrm>
            <a:off x="7982711" y="398678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Затраты на внедрение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9738359" y="3986784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122 000 ₽</a:t>
            </a:r>
          </a:p>
        </p:txBody>
      </p:sp>
      <p:sp>
        <p:nvSpPr>
          <p:cNvPr id="571" name="Snip Single Corner Rectangle 570"/>
          <p:cNvSpPr/>
          <p:nvPr/>
        </p:nvSpPr>
        <p:spPr>
          <a:xfrm>
            <a:off x="7982711" y="4434840"/>
            <a:ext cx="3127248" cy="1280160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2" name="TextBox 571"/>
          <p:cNvSpPr txBox="1"/>
          <p:nvPr/>
        </p:nvSpPr>
        <p:spPr>
          <a:xfrm>
            <a:off x="8138159" y="45079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ROI за год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8138159" y="47365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386FC"/>
                </a:solidFill>
                <a:latin typeface="+mj-lt"/>
              </a:rPr>
              <a:t>860%</a:t>
            </a:r>
          </a:p>
        </p:txBody>
      </p:sp>
      <p:sp>
        <p:nvSpPr>
          <p:cNvPr id="574" name="TextBox 573"/>
          <p:cNvSpPr txBox="1"/>
          <p:nvPr/>
        </p:nvSpPr>
        <p:spPr>
          <a:xfrm>
            <a:off x="9555480" y="450799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Эффект за год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9464040" y="480060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1 048 800 ₽</a:t>
            </a:r>
          </a:p>
        </p:txBody>
      </p:sp>
      <p:sp>
        <p:nvSpPr>
          <p:cNvPr id="576" name="TextBox 575"/>
          <p:cNvSpPr txBox="1"/>
          <p:nvPr/>
        </p:nvSpPr>
        <p:spPr>
          <a:xfrm>
            <a:off x="8138159" y="53035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10 проектов в год, ставка 1 171 ₽/ч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nanoCAD BIM Электро — 71 500 ₽ + Платформа nanoCAD — 25 400 ₽; обучение — 25 100 ₽. Окупаемость — 2–3 проекта.</a:t>
            </a:r>
          </a:p>
        </p:txBody>
      </p:sp>
      <p:sp>
        <p:nvSpPr>
          <p:cNvPr id="578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ВЫЗОВЫ</a:t>
            </a:r>
          </a:p>
        </p:txBody>
      </p:sp>
      <p:sp>
        <p:nvSpPr>
          <p:cNvPr id="579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580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581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ЭЛЕКТРО</a:t>
            </a:r>
          </a:p>
        </p:txBody>
      </p:sp>
      <p:sp>
        <p:nvSpPr>
          <p:cNvPr id="582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583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584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МЕТОДИКА</a:t>
            </a:r>
          </a:p>
        </p:txBody>
      </p:sp>
      <p:sp>
        <p:nvSpPr>
          <p:cNvPr id="585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86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587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88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СКС и ОПС: окупаемость nanoCAD ОПС и СКС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TextBox 542"/>
          <p:cNvSpPr txBox="1"/>
          <p:nvPr/>
        </p:nvSpPr>
        <p:spPr>
          <a:xfrm>
            <a:off x="594360" y="20116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Что автоматизируется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594360" y="2514600"/>
            <a:ext cx="30632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Расстановка оборудования и трассировка кабелей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Расчёты: АКБ, падение напряжения, заполнение лотков, оповещение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Кабельные журналы и спецификации — автоматически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+mn-lt"/>
              <a:buChar char="→"/>
            </a:pPr>
            <a:r>
              <a:rPr sz="1200" b="0">
                <a:solidFill>
                  <a:srgbClr val="1A1A1A"/>
                </a:solidFill>
                <a:latin typeface="+mn-lt"/>
              </a:rPr>
              <a:t>Структурные схемы и планы по ГОСТ</a:t>
            </a:r>
          </a:p>
        </p:txBody>
      </p:sp>
      <p:sp>
        <p:nvSpPr>
          <p:cNvPr id="545" name="Snip Single Corner Rectangle 544"/>
          <p:cNvSpPr/>
          <p:nvPr/>
        </p:nvSpPr>
        <p:spPr>
          <a:xfrm>
            <a:off x="3886200" y="2011680"/>
            <a:ext cx="3639312" cy="3913632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6" name="TextBox 545"/>
          <p:cNvSpPr txBox="1"/>
          <p:nvPr/>
        </p:nvSpPr>
        <p:spPr>
          <a:xfrm>
            <a:off x="4142232" y="2148840"/>
            <a:ext cx="31546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Детский сад на 200 мест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4142232" y="260604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Трудозатраты по разделу, ч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4142232" y="285292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6B7280"/>
                </a:solidFill>
                <a:latin typeface="+mj-lt"/>
              </a:rPr>
              <a:t>344</a:t>
            </a:r>
            <a:r>
              <a:rPr sz="1800" b="1">
                <a:solidFill>
                  <a:srgbClr val="6B7280"/>
                </a:solidFill>
                <a:latin typeface="+mj-lt"/>
              </a:rPr>
              <a:t>  →  </a:t>
            </a:r>
            <a:r>
              <a:rPr sz="1800" b="1">
                <a:solidFill>
                  <a:srgbClr val="0386FC"/>
                </a:solidFill>
                <a:latin typeface="+mj-lt"/>
              </a:rPr>
              <a:t>272 ч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4142232" y="338328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Экономия ФОТ в год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5897880" y="338328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843 100 ₽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4142232" y="3685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Экономия на правках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5897880" y="3685032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280 100 ₽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4142232" y="398678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Затраты на внедрение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5897880" y="3986784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184 600 ₽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4142232" y="4434840"/>
            <a:ext cx="3127248" cy="1280160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6" name="TextBox 555"/>
          <p:cNvSpPr txBox="1"/>
          <p:nvPr/>
        </p:nvSpPr>
        <p:spPr>
          <a:xfrm>
            <a:off x="4297680" y="45079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ROI за год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4297680" y="47365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386FC"/>
                </a:solidFill>
                <a:latin typeface="+mj-lt"/>
              </a:rPr>
              <a:t>508%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5715000" y="450799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Эффект за год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5623560" y="480060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938 600 ₽</a:t>
            </a:r>
          </a:p>
        </p:txBody>
      </p:sp>
      <p:sp>
        <p:nvSpPr>
          <p:cNvPr id="560" name="TextBox 559"/>
          <p:cNvSpPr txBox="1"/>
          <p:nvPr/>
        </p:nvSpPr>
        <p:spPr>
          <a:xfrm>
            <a:off x="4297680" y="53035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10 проектов в год, ставка 1 171 ₽/ч</a:t>
            </a:r>
          </a:p>
        </p:txBody>
      </p:sp>
      <p:sp>
        <p:nvSpPr>
          <p:cNvPr id="561" name="Snip Single Corner Rectangle 560"/>
          <p:cNvSpPr/>
          <p:nvPr/>
        </p:nvSpPr>
        <p:spPr>
          <a:xfrm>
            <a:off x="7726679" y="2011680"/>
            <a:ext cx="3639312" cy="3913632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2" name="TextBox 561"/>
          <p:cNvSpPr txBox="1"/>
          <p:nvPr/>
        </p:nvSpPr>
        <p:spPr>
          <a:xfrm>
            <a:off x="7982711" y="2148840"/>
            <a:ext cx="31546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Котельная 25 Гкал/ч</a:t>
            </a:r>
          </a:p>
        </p:txBody>
      </p:sp>
      <p:sp>
        <p:nvSpPr>
          <p:cNvPr id="563" name="TextBox 562"/>
          <p:cNvSpPr txBox="1"/>
          <p:nvPr/>
        </p:nvSpPr>
        <p:spPr>
          <a:xfrm>
            <a:off x="7982711" y="260604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Трудозатраты по разделу, ч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7982711" y="285292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6B7280"/>
                </a:solidFill>
                <a:latin typeface="+mj-lt"/>
              </a:rPr>
              <a:t>400</a:t>
            </a:r>
            <a:r>
              <a:rPr sz="1800" b="1">
                <a:solidFill>
                  <a:srgbClr val="6B7280"/>
                </a:solidFill>
                <a:latin typeface="+mj-lt"/>
              </a:rPr>
              <a:t>  →  </a:t>
            </a:r>
            <a:r>
              <a:rPr sz="1800" b="1">
                <a:solidFill>
                  <a:srgbClr val="0386FC"/>
                </a:solidFill>
                <a:latin typeface="+mj-lt"/>
              </a:rPr>
              <a:t>304 ч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7982711" y="338328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Экономия ФОТ в год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9738359" y="338328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1 124 400 ₽</a:t>
            </a:r>
          </a:p>
        </p:txBody>
      </p:sp>
      <p:sp>
        <p:nvSpPr>
          <p:cNvPr id="567" name="TextBox 566"/>
          <p:cNvSpPr txBox="1"/>
          <p:nvPr/>
        </p:nvSpPr>
        <p:spPr>
          <a:xfrm>
            <a:off x="7982711" y="3685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Экономия на правках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9738359" y="3685032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281 000 ₽</a:t>
            </a:r>
          </a:p>
        </p:txBody>
      </p:sp>
      <p:sp>
        <p:nvSpPr>
          <p:cNvPr id="569" name="TextBox 568"/>
          <p:cNvSpPr txBox="1"/>
          <p:nvPr/>
        </p:nvSpPr>
        <p:spPr>
          <a:xfrm>
            <a:off x="7982711" y="398678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Затраты на внедрение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9738359" y="3986784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184 600 ₽</a:t>
            </a:r>
          </a:p>
        </p:txBody>
      </p:sp>
      <p:sp>
        <p:nvSpPr>
          <p:cNvPr id="571" name="Snip Single Corner Rectangle 570"/>
          <p:cNvSpPr/>
          <p:nvPr/>
        </p:nvSpPr>
        <p:spPr>
          <a:xfrm>
            <a:off x="7982711" y="4434840"/>
            <a:ext cx="3127248" cy="1280160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2" name="TextBox 571"/>
          <p:cNvSpPr txBox="1"/>
          <p:nvPr/>
        </p:nvSpPr>
        <p:spPr>
          <a:xfrm>
            <a:off x="8138159" y="45079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ROI за год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8138159" y="47365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386FC"/>
                </a:solidFill>
                <a:latin typeface="+mj-lt"/>
              </a:rPr>
              <a:t>661%</a:t>
            </a:r>
          </a:p>
        </p:txBody>
      </p:sp>
      <p:sp>
        <p:nvSpPr>
          <p:cNvPr id="574" name="TextBox 573"/>
          <p:cNvSpPr txBox="1"/>
          <p:nvPr/>
        </p:nvSpPr>
        <p:spPr>
          <a:xfrm>
            <a:off x="9555480" y="450799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Эффект за год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9464040" y="480060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1 220 800 ₽</a:t>
            </a:r>
          </a:p>
        </p:txBody>
      </p:sp>
      <p:sp>
        <p:nvSpPr>
          <p:cNvPr id="576" name="TextBox 575"/>
          <p:cNvSpPr txBox="1"/>
          <p:nvPr/>
        </p:nvSpPr>
        <p:spPr>
          <a:xfrm>
            <a:off x="8138159" y="53035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10 проектов в год, ставка 1 171 ₽/ч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nanoCAD ОПС и СКС — по 62 900 ₽ + Платформа nanoCAD — 25 400 ₽; обучение — 2 курса по 16 700 ₽. Окупаемость — 2–3 проекта.</a:t>
            </a:r>
          </a:p>
        </p:txBody>
      </p:sp>
      <p:sp>
        <p:nvSpPr>
          <p:cNvPr id="578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ВЫЗОВЫ</a:t>
            </a:r>
          </a:p>
        </p:txBody>
      </p:sp>
      <p:sp>
        <p:nvSpPr>
          <p:cNvPr id="579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580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581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582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СКС и ОПС</a:t>
            </a:r>
          </a:p>
        </p:txBody>
      </p:sp>
      <p:sp>
        <p:nvSpPr>
          <p:cNvPr id="583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584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МЕТОДИКА</a:t>
            </a:r>
          </a:p>
        </p:txBody>
      </p:sp>
      <p:sp>
        <p:nvSpPr>
          <p:cNvPr id="585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86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587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88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Сводка: эффект за год от одного рабочего места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3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graphicFrame>
        <p:nvGraphicFramePr>
          <p:cNvPr id="543" name="Chart 542"/>
          <p:cNvGraphicFramePr>
            <a:graphicFrameLocks noGrp="1"/>
          </p:cNvGraphicFramePr>
          <p:nvPr/>
        </p:nvGraphicFramePr>
        <p:xfrm>
          <a:off x="502920" y="1920240"/>
          <a:ext cx="6492240" cy="4023360"/>
        </p:xfrm>
        <a:graphic>
          <a:graphicData uri="http://schemas.openxmlformats.org/drawingml/2006/chart">
            <c:chart xmlns:c="http://schemas.openxmlformats.org/drawingml/2006/chart" r:id="rId11"/>
          </a:graphicData>
        </a:graphic>
      </p:graphicFrame>
      <p:graphicFrame>
        <p:nvGraphicFramePr>
          <p:cNvPr id="544" name="Table 543"/>
          <p:cNvGraphicFramePr>
            <a:graphicFrameLocks noGrp="1"/>
          </p:cNvGraphicFramePr>
          <p:nvPr/>
        </p:nvGraphicFramePr>
        <p:xfrm>
          <a:off x="7269480" y="2011680"/>
          <a:ext cx="4206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960120"/>
                <a:gridCol w="1097280"/>
                <a:gridCol w="1097280"/>
              </a:tblGrid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+mn-lt"/>
                        </a:rPr>
                        <a:t>Модуль</a:t>
                      </a:r>
                    </a:p>
                  </a:txBody>
                  <a:tcPr marL="54864" marR="54864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+mn-lt"/>
                        </a:rPr>
                        <a:t>ROI детсад</a:t>
                      </a:r>
                    </a:p>
                  </a:txBody>
                  <a:tcPr marL="54864" marR="54864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+mn-lt"/>
                        </a:rPr>
                        <a:t>ROI котельная</a:t>
                      </a:r>
                    </a:p>
                  </a:txBody>
                  <a:tcPr marL="54864" marR="54864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+mn-lt"/>
                        </a:rPr>
                        <a:t>Окупаемость</a:t>
                      </a:r>
                    </a:p>
                  </a:txBody>
                  <a:tcPr marL="54864" marR="54864" anchor="ctr">
                    <a:solidFill>
                      <a:srgbClr val="0386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+mn-lt"/>
                        </a:rPr>
                        <a:t>АР и КР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386FC"/>
                          </a:solidFill>
                          <a:latin typeface="+mn-lt"/>
                        </a:rPr>
                        <a:t>978%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386FC"/>
                          </a:solidFill>
                          <a:latin typeface="+mn-lt"/>
                        </a:rPr>
                        <a:t>1 353%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+mn-lt"/>
                        </a:rPr>
                        <a:t>1–2 проекта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+mn-lt"/>
                        </a:rPr>
                        <a:t>Электро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386FC"/>
                          </a:solidFill>
                          <a:latin typeface="+mn-lt"/>
                        </a:rPr>
                        <a:t>457%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386FC"/>
                          </a:solidFill>
                          <a:latin typeface="+mn-lt"/>
                        </a:rPr>
                        <a:t>860%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+mn-lt"/>
                        </a:rPr>
                        <a:t>2–3 проекта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+mn-lt"/>
                        </a:rPr>
                        <a:t>СКС + ОПС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386FC"/>
                          </a:solidFill>
                          <a:latin typeface="+mn-lt"/>
                        </a:rPr>
                        <a:t>508%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386FC"/>
                          </a:solidFill>
                          <a:latin typeface="+mn-lt"/>
                        </a:rPr>
                        <a:t>661%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+mn-lt"/>
                        </a:rPr>
                        <a:t>2–3 проекта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  <p:sp>
        <p:nvSpPr>
          <p:cNvPr id="545" name="Snip Single Corner Rectangle 544"/>
          <p:cNvSpPr/>
          <p:nvPr/>
        </p:nvSpPr>
        <p:spPr>
          <a:xfrm>
            <a:off x="7269480" y="4434840"/>
            <a:ext cx="4206240" cy="141732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6" name="TextBox 545"/>
          <p:cNvSpPr txBox="1"/>
          <p:nvPr/>
        </p:nvSpPr>
        <p:spPr>
          <a:xfrm>
            <a:off x="7498079" y="4553712"/>
            <a:ext cx="37947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Все модули окупаются за 1–3 проекта. 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Расчёт — по консервативному сценарию: 20–30% экономии времени по разделу.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Эффект = экономия ФОТ + экономия на исправлениях − затраты на внедрение; 10 однотипных проектов в год.</a:t>
            </a:r>
          </a:p>
        </p:txBody>
      </p:sp>
      <p:sp>
        <p:nvSpPr>
          <p:cNvPr id="548" name="nav">
            <a:hlinkClick action="ppaction://hlinksldjump" r:id="rId5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ВЫЗОВЫ</a:t>
            </a:r>
          </a:p>
        </p:txBody>
      </p:sp>
      <p:sp>
        <p:nvSpPr>
          <p:cNvPr id="549" name="nav">
            <a:hlinkClick action="ppaction://hlinksldjump" r:id="rId4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ЭКОНОМИЯ</a:t>
            </a:r>
          </a:p>
        </p:txBody>
      </p:sp>
      <p:sp>
        <p:nvSpPr>
          <p:cNvPr id="550" name="nav">
            <a:hlinkClick action="ppaction://hlinksldjump" r:id="rId16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551" name="nav">
            <a:hlinkClick action="ppaction://hlinksldjump" r:id="rId17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552" name="nav">
            <a:hlinkClick action="ppaction://hlinksldjump" r:id="rId18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553" name="nav">
            <a:hlinkClick action="ppaction://hlinksldjump" r:id="rId19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554" name="nav">
            <a:hlinkClick action="ppaction://hlinksldjump" r:id="rId20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МЕТОДИКА</a:t>
            </a:r>
          </a:p>
        </p:txBody>
      </p:sp>
      <p:sp>
        <p:nvSpPr>
          <p:cNvPr id="555" name="nav">
            <a:hlinkClick action="ppaction://hlinksldjump" r:id="rId21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56" name="nav">
            <a:hlinkClick action="ppaction://hlinksldjump" r:id="rId22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557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58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Справочно: другие разделы проектирования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TextBox 542"/>
          <p:cNvSpPr txBox="1"/>
          <p:nvPr/>
        </p:nvSpPr>
        <p:spPr>
          <a:xfrm>
            <a:off x="594360" y="1920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386FC"/>
                </a:solidFill>
                <a:latin typeface="+mj-lt"/>
              </a:rPr>
              <a:t>Сокращение времени и трудозатрат — до 25–30% </a:t>
            </a:r>
            <a:r>
              <a:rPr sz="1300" b="0">
                <a:solidFill>
                  <a:srgbClr val="6B7280"/>
                </a:solidFill>
                <a:latin typeface="+mn-lt"/>
              </a:rPr>
              <a:t>(консервативная оценка, аналогичная расчётам выше)</a:t>
            </a:r>
          </a:p>
        </p:txBody>
      </p:sp>
      <p:sp>
        <p:nvSpPr>
          <p:cNvPr id="544" name="Snip Single Corner Rectangle 543"/>
          <p:cNvSpPr/>
          <p:nvPr/>
        </p:nvSpPr>
        <p:spPr>
          <a:xfrm>
            <a:off x="594360" y="2560320"/>
            <a:ext cx="2587752" cy="32461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5" name="TextBox 544"/>
          <p:cNvSpPr txBox="1"/>
          <p:nvPr/>
        </p:nvSpPr>
        <p:spPr>
          <a:xfrm>
            <a:off x="822960" y="274320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nanoCAD BIM ОВ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822960" y="3474720"/>
            <a:ext cx="2130552" cy="329184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+mn-lt"/>
              </a:rPr>
              <a:t>ОВ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822960" y="3977639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Теплотехнические и аэродинамические расчёты, подбор оборудования, схемы и спецификации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822960" y="5193792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386FC"/>
                </a:solidFill>
                <a:latin typeface="+mj-lt"/>
              </a:rPr>
              <a:t>до 25–30%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3364991" y="2560320"/>
            <a:ext cx="2587752" cy="32461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0" name="TextBox 549"/>
          <p:cNvSpPr txBox="1"/>
          <p:nvPr/>
        </p:nvSpPr>
        <p:spPr>
          <a:xfrm>
            <a:off x="3593591" y="274320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nanoCAD BIM ВК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3593591" y="3474720"/>
            <a:ext cx="2130552" cy="329184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+mn-lt"/>
              </a:rPr>
              <a:t>ВК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3593591" y="3977639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Гидравлические расчёты, аксонометрические схемы, спецификации систем водоснабжения и канализации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3593591" y="5193792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386FC"/>
                </a:solidFill>
                <a:latin typeface="+mj-lt"/>
              </a:rPr>
              <a:t>до 25–30%</a:t>
            </a:r>
          </a:p>
        </p:txBody>
      </p:sp>
      <p:sp>
        <p:nvSpPr>
          <p:cNvPr id="554" name="Snip Single Corner Rectangle 553"/>
          <p:cNvSpPr/>
          <p:nvPr/>
        </p:nvSpPr>
        <p:spPr>
          <a:xfrm>
            <a:off x="6135623" y="2560320"/>
            <a:ext cx="2587752" cy="32461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5" name="TextBox 554"/>
          <p:cNvSpPr txBox="1"/>
          <p:nvPr/>
        </p:nvSpPr>
        <p:spPr>
          <a:xfrm>
            <a:off x="6364223" y="274320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GeoniCS</a:t>
            </a:r>
          </a:p>
        </p:txBody>
      </p:sp>
      <p:sp>
        <p:nvSpPr>
          <p:cNvPr id="556" name="Snip Single Corner Rectangle 555"/>
          <p:cNvSpPr/>
          <p:nvPr/>
        </p:nvSpPr>
        <p:spPr>
          <a:xfrm>
            <a:off x="6364223" y="3474720"/>
            <a:ext cx="2130552" cy="329184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+mn-lt"/>
              </a:rPr>
              <a:t>ПЗУ, генплан, сети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6364223" y="3977639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Цифровая модель рельефа, генплан и вертикальная планировка, профили наружных сетей и трасс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6364223" y="5193792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386FC"/>
                </a:solidFill>
                <a:latin typeface="+mj-lt"/>
              </a:rPr>
              <a:t>до 25–30%</a:t>
            </a:r>
          </a:p>
        </p:txBody>
      </p:sp>
      <p:sp>
        <p:nvSpPr>
          <p:cNvPr id="559" name="Snip Single Corner Rectangle 558"/>
          <p:cNvSpPr/>
          <p:nvPr/>
        </p:nvSpPr>
        <p:spPr>
          <a:xfrm>
            <a:off x="8906255" y="2560320"/>
            <a:ext cx="2587752" cy="32461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0" name="TextBox 559"/>
          <p:cNvSpPr txBox="1"/>
          <p:nvPr/>
        </p:nvSpPr>
        <p:spPr>
          <a:xfrm>
            <a:off x="9134855" y="274320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nanoCAD Стройплощадка</a:t>
            </a:r>
          </a:p>
        </p:txBody>
      </p:sp>
      <p:sp>
        <p:nvSpPr>
          <p:cNvPr id="561" name="Snip Single Corner Rectangle 560"/>
          <p:cNvSpPr/>
          <p:nvPr/>
        </p:nvSpPr>
        <p:spPr>
          <a:xfrm>
            <a:off x="9134855" y="3474720"/>
            <a:ext cx="2130552" cy="329184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+mn-lt"/>
              </a:rPr>
              <a:t>ПОС, ППР</a:t>
            </a:r>
          </a:p>
        </p:txBody>
      </p:sp>
      <p:sp>
        <p:nvSpPr>
          <p:cNvPr id="562" name="TextBox 561"/>
          <p:cNvSpPr txBox="1"/>
          <p:nvPr/>
        </p:nvSpPr>
        <p:spPr>
          <a:xfrm>
            <a:off x="9134855" y="3977639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Стройгенпланы, зоны действия кранов и опасные зоны, ведомости для ПОС и ППР</a:t>
            </a:r>
          </a:p>
        </p:txBody>
      </p:sp>
      <p:sp>
        <p:nvSpPr>
          <p:cNvPr id="563" name="TextBox 562"/>
          <p:cNvSpPr txBox="1"/>
          <p:nvPr/>
        </p:nvSpPr>
        <p:spPr>
          <a:xfrm>
            <a:off x="9134855" y="5193792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386FC"/>
                </a:solidFill>
                <a:latin typeface="+mj-lt"/>
              </a:rPr>
              <a:t>до 25–30%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В расчёте по детскому саду: ОВ и ВК — 22%, ПОС и ПЗУ — 30% экономии (слайд «Где возникает экономия»).</a:t>
            </a:r>
          </a:p>
        </p:txBody>
      </p:sp>
      <p:sp>
        <p:nvSpPr>
          <p:cNvPr id="565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ВЫЗОВЫ</a:t>
            </a:r>
          </a:p>
        </p:txBody>
      </p:sp>
      <p:sp>
        <p:nvSpPr>
          <p:cNvPr id="566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567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568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569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570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571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МЕТОДИКА</a:t>
            </a:r>
          </a:p>
        </p:txBody>
      </p:sp>
      <p:sp>
        <p:nvSpPr>
          <p:cNvPr id="572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73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574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75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Прямоугольник: скругленные углы 4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40" name="Google Shape;529;p41"/>
          <p:cNvSpPr/>
          <p:nvPr/>
        </p:nvSpPr>
        <p:spPr>
          <a:xfrm>
            <a:off x="10015920" y="1959120"/>
            <a:ext cx="1341720" cy="84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en" sz="4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04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1" name="Google Shape;529;p41"/>
          <p:cNvSpPr/>
          <p:nvPr/>
        </p:nvSpPr>
        <p:spPr>
          <a:xfrm>
            <a:off x="3840480" y="3558240"/>
            <a:ext cx="7516368" cy="131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МЕТОДИКА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И ОБОСНОВАНИЕ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2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43" name="Прямая со стрелкой 8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44" name="TextBox 9"/>
          <p:cNvSpPr/>
          <p:nvPr/>
        </p:nvSpPr>
        <p:spPr>
          <a:xfrm>
            <a:off x="4663440" y="5093280"/>
            <a:ext cx="6693408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Базовые работы, экономия по этапам, подтверждение кейсами и ограничения расчёта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5" name="Прямоугольник: скругленные углы 10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cxnSp>
        <p:nvCxnSpPr>
          <p:cNvPr id="246" name="Прямая со стрелкой 1"/>
          <p:cNvCxnSpPr/>
          <p:nvPr/>
        </p:nvCxnSpPr>
        <p:spPr>
          <a:xfrm>
            <a:off x="5074200" y="4999320"/>
            <a:ext cx="619308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24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7381080" y="292752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Рисунок 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2">
            <a:extLst/>
          </a:blip>
          <a:stretch/>
        </p:blipFill>
        <p:spPr>
          <a:xfrm flipH="1">
            <a:off x="360" y="3371760"/>
            <a:ext cx="6197400" cy="34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59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ВЫЗОВЫ</a:t>
            </a:r>
          </a:p>
        </p:txBody>
      </p:sp>
      <p:sp>
        <p:nvSpPr>
          <p:cNvPr id="260" name="nav">
            <a:hlinkClick action="ppaction://hlinksldjump" r:id="rId14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261" name="nav">
            <a:hlinkClick action="ppaction://hlinksldjump" r:id="rId6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262" name="nav">
            <a:hlinkClick action="ppaction://hlinksldjump" r:id="rId5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263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264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265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МЕТОДИКА</a:t>
            </a:r>
          </a:p>
        </p:txBody>
      </p:sp>
      <p:sp>
        <p:nvSpPr>
          <p:cNvPr id="266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267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268" name="nav">
            <a:hlinkClick action="ppaction://hlinksldjump" r:id="rId4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269" name="nav">
            <a:hlinkClick action="ppaction://hlinksldjump" r:id="rId11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Методика расчёта окупаемости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5394960" cy="38862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TextBox 543"/>
          <p:cNvSpPr txBox="1"/>
          <p:nvPr/>
        </p:nvSpPr>
        <p:spPr>
          <a:xfrm>
            <a:off x="868680" y="21945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Формулы</a:t>
            </a:r>
          </a:p>
        </p:txBody>
      </p:sp>
      <p:sp>
        <p:nvSpPr>
          <p:cNvPr id="545" name="Snip Single Corner Rectangle 544"/>
          <p:cNvSpPr/>
          <p:nvPr/>
        </p:nvSpPr>
        <p:spPr>
          <a:xfrm>
            <a:off x="868680" y="2697480"/>
            <a:ext cx="4846320" cy="566928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6" name="TextBox 545"/>
          <p:cNvSpPr txBox="1"/>
          <p:nvPr/>
        </p:nvSpPr>
        <p:spPr>
          <a:xfrm>
            <a:off x="1024128" y="269748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+mj-lt"/>
              </a:rPr>
              <a:t>ROI = (Экономия ФОТ + L − Cвнедр) / Cвнедр × 100%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868680" y="3410712"/>
            <a:ext cx="4846320" cy="5669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8" name="TextBox 547"/>
          <p:cNvSpPr txBox="1"/>
          <p:nvPr/>
        </p:nvSpPr>
        <p:spPr>
          <a:xfrm>
            <a:off x="1024128" y="341071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Экономия ФОТ = (Tдо − Tпосле) × N × Rчас</a:t>
            </a:r>
          </a:p>
        </p:txBody>
      </p:sp>
      <p:sp>
        <p:nvSpPr>
          <p:cNvPr id="549" name="Snip Single Corner Rectangle 548"/>
          <p:cNvSpPr/>
          <p:nvPr/>
        </p:nvSpPr>
        <p:spPr>
          <a:xfrm>
            <a:off x="868680" y="4123944"/>
            <a:ext cx="4846320" cy="5669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0" name="TextBox 549"/>
          <p:cNvSpPr txBox="1"/>
          <p:nvPr/>
        </p:nvSpPr>
        <p:spPr>
          <a:xfrm>
            <a:off x="1024128" y="412394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L — экономия на исправлениях = Nсред × Mошиб × Oкол-во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868680" y="4837176"/>
            <a:ext cx="4846320" cy="5669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2" name="TextBox 551"/>
          <p:cNvSpPr txBox="1"/>
          <p:nvPr/>
        </p:nvSpPr>
        <p:spPr>
          <a:xfrm>
            <a:off x="1024128" y="483717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Cвнедр = Cлиц + Cобуч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868680" y="55046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+mn-lt"/>
              </a:rPr>
              <a:t>T — часы на раздел; N — проектов в год; Rчас — стоимость часа инженера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6355080" y="20116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Допущения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6355080" y="2487168"/>
            <a:ext cx="1325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Ставка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7680960" y="2487168"/>
            <a:ext cx="3794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146 000 ₽/мес → 9 370 ₽/день → 1 171 ₽/ч (ЕМИСС, ОКВЭД 71; соцотчисления по 707/пр)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6355080" y="3054096"/>
            <a:ext cx="1325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Цена проекта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7680960" y="3054096"/>
            <a:ext cx="3794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Методики 848/пр и 707/пр, Ипр 1,68 (II кв. 2026), доля раздела — по 707/пр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6355080" y="3621024"/>
            <a:ext cx="1325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Себестоимость</a:t>
            </a:r>
          </a:p>
        </p:txBody>
      </p:sp>
      <p:sp>
        <p:nvSpPr>
          <p:cNvPr id="560" name="TextBox 559"/>
          <p:cNvSpPr txBox="1"/>
          <p:nvPr/>
        </p:nvSpPr>
        <p:spPr>
          <a:xfrm>
            <a:off x="7680960" y="3621024"/>
            <a:ext cx="3794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Рентабельность 10%; ФОТ + отчисления — 53,98% себестоимости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6355080" y="4187952"/>
            <a:ext cx="1325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Загрузка</a:t>
            </a:r>
          </a:p>
        </p:txBody>
      </p:sp>
      <p:sp>
        <p:nvSpPr>
          <p:cNvPr id="562" name="TextBox 561"/>
          <p:cNvSpPr txBox="1"/>
          <p:nvPr/>
        </p:nvSpPr>
        <p:spPr>
          <a:xfrm>
            <a:off x="7680960" y="4187952"/>
            <a:ext cx="3794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10 однотипных проектов в год</a:t>
            </a:r>
          </a:p>
        </p:txBody>
      </p:sp>
      <p:sp>
        <p:nvSpPr>
          <p:cNvPr id="563" name="TextBox 562"/>
          <p:cNvSpPr txBox="1"/>
          <p:nvPr/>
        </p:nvSpPr>
        <p:spPr>
          <a:xfrm>
            <a:off x="6355080" y="4754880"/>
            <a:ext cx="1325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Резерв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7680960" y="4754880"/>
            <a:ext cx="3794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Правки и согласования — около 20% трудового бюджета раздела; затраты на исправления снижаются до 50%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6355080" y="5321808"/>
            <a:ext cx="1325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0386FC"/>
                </a:solidFill>
                <a:latin typeface="+mn-lt"/>
              </a:rPr>
              <a:t>Сценарий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7680960" y="5321808"/>
            <a:ext cx="3794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Консервативный: 20–30% экономии времени по разделу</a:t>
            </a:r>
          </a:p>
        </p:txBody>
      </p:sp>
      <p:sp>
        <p:nvSpPr>
          <p:cNvPr id="567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ВЫЗОВЫ</a:t>
            </a:r>
          </a:p>
        </p:txBody>
      </p:sp>
      <p:sp>
        <p:nvSpPr>
          <p:cNvPr id="568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569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570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571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572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573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МЕТОДИКА</a:t>
            </a:r>
          </a:p>
        </p:txBody>
      </p:sp>
      <p:sp>
        <p:nvSpPr>
          <p:cNvPr id="574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75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576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77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Базовые работы и экономия по этапам: АР и КР, сметы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TextBox 542"/>
          <p:cNvSpPr txBox="1"/>
          <p:nvPr/>
        </p:nvSpPr>
        <p:spPr>
          <a:xfrm>
            <a:off x="594360" y="1965960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АР и КР — компонент СПДС, дни</a:t>
            </a:r>
          </a:p>
        </p:txBody>
      </p:sp>
      <p:graphicFrame>
        <p:nvGraphicFramePr>
          <p:cNvPr id="544" name="Table 543"/>
          <p:cNvGraphicFramePr>
            <a:graphicFrameLocks noGrp="1"/>
          </p:cNvGraphicFramePr>
          <p:nvPr/>
        </p:nvGraphicFramePr>
        <p:xfrm>
          <a:off x="594360" y="2377440"/>
          <a:ext cx="576071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39"/>
                <a:gridCol w="960120"/>
                <a:gridCol w="96012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+mn-lt"/>
                        </a:rPr>
                        <a:t>Этап работ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+mn-lt"/>
                        </a:rPr>
                        <a:t>Без модуля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+mn-lt"/>
                        </a:rPr>
                        <a:t>С модулем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+mn-lt"/>
                        </a:rPr>
                        <a:t>Экономия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Анализ проектной документации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2–3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2–3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  <a:latin typeface="+mj-lt"/>
                        </a:rPr>
                        <a:t>0%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Составление ведомостей материалов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3–5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1–3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386FC"/>
                          </a:solidFill>
                          <a:latin typeface="+mj-lt"/>
                        </a:rPr>
                        <a:t>−50%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Спецификация оборудования*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5–10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3–7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386FC"/>
                          </a:solidFill>
                          <a:latin typeface="+mj-lt"/>
                        </a:rPr>
                        <a:t>−33%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Сведение, оформление по ГОСТ, согласование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3–5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2–3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386FC"/>
                          </a:solidFill>
                          <a:latin typeface="+mj-lt"/>
                        </a:rPr>
                        <a:t>−38%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+mj-lt"/>
                        </a:rPr>
                        <a:t>Итого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  <a:latin typeface="+mj-lt"/>
                        </a:rPr>
                        <a:t>13–23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  <a:latin typeface="+mj-lt"/>
                        </a:rPr>
                        <a:t>8–16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386FC"/>
                          </a:solidFill>
                          <a:latin typeface="+mj-lt"/>
                        </a:rPr>
                        <a:t>−33%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</a:tr>
            </a:tbl>
          </a:graphicData>
        </a:graphic>
      </p:graphicFrame>
      <p:sp>
        <p:nvSpPr>
          <p:cNvPr id="545" name="TextBox 544"/>
          <p:cNvSpPr txBox="1"/>
          <p:nvPr/>
        </p:nvSpPr>
        <p:spPr>
          <a:xfrm>
            <a:off x="6629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Сметный отдел, дни</a:t>
            </a:r>
          </a:p>
        </p:txBody>
      </p:sp>
      <p:graphicFrame>
        <p:nvGraphicFramePr>
          <p:cNvPr id="546" name="Table 545"/>
          <p:cNvGraphicFramePr>
            <a:graphicFrameLocks noGrp="1"/>
          </p:cNvGraphicFramePr>
          <p:nvPr/>
        </p:nvGraphicFramePr>
        <p:xfrm>
          <a:off x="6629400" y="2377440"/>
          <a:ext cx="4846319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39"/>
                <a:gridCol w="960120"/>
                <a:gridCol w="96012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+mn-lt"/>
                        </a:rPr>
                        <a:t>Этап работ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+mn-lt"/>
                        </a:rPr>
                        <a:t>Без модуля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+mn-lt"/>
                        </a:rPr>
                        <a:t>С модулем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+mn-lt"/>
                        </a:rPr>
                        <a:t>Экономия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Перечни материалов, объёмы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2–4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386FC"/>
                          </a:solidFill>
                          <a:latin typeface="+mj-lt"/>
                        </a:rPr>
                        <a:t>−100%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Конъюнктурный анализ цен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5–10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5–10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  <a:latin typeface="+mj-lt"/>
                        </a:rPr>
                        <a:t>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Корректировки смет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1–3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386FC"/>
                          </a:solidFill>
                          <a:latin typeface="+mj-lt"/>
                        </a:rPr>
                        <a:t>−50%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  <p:sp>
        <p:nvSpPr>
          <p:cNvPr id="547" name="TextBox 546"/>
          <p:cNvSpPr txBox="1"/>
          <p:nvPr/>
        </p:nvSpPr>
        <p:spPr>
          <a:xfrm>
            <a:off x="6629400" y="41605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Спецификации и ведомости из чертежа передаются сметчикам готовыми: ручной подсчёт объёмов исключается.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594360" y="5897880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* При использовании готовых баз оборудования. Экономия — по середине диапазона. Детский сад, типовой объём работ.</a:t>
            </a:r>
          </a:p>
        </p:txBody>
      </p:sp>
      <p:sp>
        <p:nvSpPr>
          <p:cNvPr id="549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ВЫЗОВЫ</a:t>
            </a:r>
          </a:p>
        </p:txBody>
      </p:sp>
      <p:sp>
        <p:nvSpPr>
          <p:cNvPr id="550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551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552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553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554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555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МЕТОДИКА</a:t>
            </a:r>
          </a:p>
        </p:txBody>
      </p:sp>
      <p:sp>
        <p:nvSpPr>
          <p:cNvPr id="556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57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558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59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Базовые работы и экономия по этапам: Электро, СКС и ОПС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TextBox 542"/>
          <p:cNvSpPr txBox="1"/>
          <p:nvPr/>
        </p:nvSpPr>
        <p:spPr>
          <a:xfrm>
            <a:off x="594360" y="196596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Электро — nanoCAD BIM Электро, дни</a:t>
            </a:r>
          </a:p>
        </p:txBody>
      </p:sp>
      <p:graphicFrame>
        <p:nvGraphicFramePr>
          <p:cNvPr id="544" name="Table 543"/>
          <p:cNvGraphicFramePr>
            <a:graphicFrameLocks noGrp="1"/>
          </p:cNvGraphicFramePr>
          <p:nvPr/>
        </p:nvGraphicFramePr>
        <p:xfrm>
          <a:off x="594360" y="2377440"/>
          <a:ext cx="534923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59"/>
                <a:gridCol w="960120"/>
                <a:gridCol w="96012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+mn-lt"/>
                        </a:rPr>
                        <a:t>Этап работ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+mn-lt"/>
                        </a:rPr>
                        <a:t>Без модуля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+mn-lt"/>
                        </a:rPr>
                        <a:t>С модулем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+mn-lt"/>
                        </a:rPr>
                        <a:t>Экономия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Сбор исходных данных, ТУ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3–5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3–5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  <a:latin typeface="+mj-lt"/>
                        </a:rPr>
                        <a:t>0%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Трассировка сетей ЭО, ЭМ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5–7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3–5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386FC"/>
                          </a:solidFill>
                          <a:latin typeface="+mj-lt"/>
                        </a:rPr>
                        <a:t>−33%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ВРУ и щиты, селективность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2–3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386FC"/>
                          </a:solidFill>
                          <a:latin typeface="+mj-lt"/>
                        </a:rPr>
                        <a:t>−44%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Оформление РД и ПД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5–7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3–5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386FC"/>
                          </a:solidFill>
                          <a:latin typeface="+mj-lt"/>
                        </a:rPr>
                        <a:t>−33%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Электротехнический расчёт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4–6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2–3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386FC"/>
                          </a:solidFill>
                          <a:latin typeface="+mj-lt"/>
                        </a:rPr>
                        <a:t>−50%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+mj-lt"/>
                        </a:rPr>
                        <a:t>Итого (без расчётов)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  <a:latin typeface="+mj-lt"/>
                        </a:rPr>
                        <a:t>17–24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  <a:latin typeface="+mj-lt"/>
                        </a:rPr>
                        <a:t>11–18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386FC"/>
                          </a:solidFill>
                          <a:latin typeface="+mj-lt"/>
                        </a:rPr>
                        <a:t>−29%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</a:tr>
            </a:tbl>
          </a:graphicData>
        </a:graphic>
      </p:graphicFrame>
      <p:sp>
        <p:nvSpPr>
          <p:cNvPr id="545" name="TextBox 544"/>
          <p:cNvSpPr txBox="1"/>
          <p:nvPr/>
        </p:nvSpPr>
        <p:spPr>
          <a:xfrm>
            <a:off x="6126480" y="196596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СКС и ОПС — nanoCAD ОПС и СКС, дни</a:t>
            </a:r>
          </a:p>
        </p:txBody>
      </p:sp>
      <p:graphicFrame>
        <p:nvGraphicFramePr>
          <p:cNvPr id="546" name="Table 545"/>
          <p:cNvGraphicFramePr>
            <a:graphicFrameLocks noGrp="1"/>
          </p:cNvGraphicFramePr>
          <p:nvPr/>
        </p:nvGraphicFramePr>
        <p:xfrm>
          <a:off x="6126480" y="2377440"/>
          <a:ext cx="534923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59"/>
                <a:gridCol w="960120"/>
                <a:gridCol w="96012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+mn-lt"/>
                        </a:rPr>
                        <a:t>Этап работ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+mn-lt"/>
                        </a:rPr>
                        <a:t>Без модуля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+mn-lt"/>
                        </a:rPr>
                        <a:t>С модулем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+mn-lt"/>
                        </a:rPr>
                        <a:t>Экономия</a:t>
                      </a:r>
                    </a:p>
                  </a:txBody>
                  <a:tcPr marL="54864" marR="54864" marT="27432" marB="27432" anchor="ctr">
                    <a:solidFill>
                      <a:srgbClr val="0386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Графическая часть, кабельные журналы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5–7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3–5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386FC"/>
                          </a:solidFill>
                          <a:latin typeface="+mj-lt"/>
                        </a:rPr>
                        <a:t>−33%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Специализированные расчёты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5–7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2–3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386FC"/>
                          </a:solidFill>
                          <a:latin typeface="+mj-lt"/>
                        </a:rPr>
                        <a:t>−58%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Формирование спецификации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2–3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386FC"/>
                          </a:solidFill>
                          <a:latin typeface="+mj-lt"/>
                        </a:rPr>
                        <a:t>−44%</a:t>
                      </a:r>
                    </a:p>
                  </a:txBody>
                  <a:tcPr marL="54864" marR="54864" marT="27432" marB="27432" anchor="ctr">
                    <a:solidFill>
                      <a:srgbClr val="F1F3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Согласование и сдача проекта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5–7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+mn-lt"/>
                        </a:rPr>
                        <a:t>3–5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386FC"/>
                          </a:solidFill>
                          <a:latin typeface="+mj-lt"/>
                        </a:rPr>
                        <a:t>−33%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+mj-lt"/>
                        </a:rPr>
                        <a:t>Итого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  <a:latin typeface="+mj-lt"/>
                        </a:rPr>
                        <a:t>19–26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  <a:latin typeface="+mj-lt"/>
                        </a:rPr>
                        <a:t>10–16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386FC"/>
                          </a:solidFill>
                          <a:latin typeface="+mj-lt"/>
                        </a:rPr>
                        <a:t>−42%</a:t>
                      </a:r>
                    </a:p>
                  </a:txBody>
                  <a:tcPr marL="54864" marR="54864" marT="27432" marB="27432" anchor="ctr">
                    <a:solidFill>
                      <a:srgbClr val="E3EFFE"/>
                    </a:solidFill>
                  </a:tcPr>
                </a:tc>
              </a:tr>
            </a:tbl>
          </a:graphicData>
        </a:graphic>
      </p:graphicFrame>
      <p:sp>
        <p:nvSpPr>
          <p:cNvPr id="547" name="Snip Single Corner Rectangle 546"/>
          <p:cNvSpPr/>
          <p:nvPr/>
        </p:nvSpPr>
        <p:spPr>
          <a:xfrm>
            <a:off x="594360" y="4892040"/>
            <a:ext cx="10881360" cy="86868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8" name="TextBox 547"/>
          <p:cNvSpPr txBox="1"/>
          <p:nvPr/>
        </p:nvSpPr>
        <p:spPr>
          <a:xfrm>
            <a:off x="868680" y="4892040"/>
            <a:ext cx="10424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По этапам экономия достигает 29–42%. </a:t>
            </a:r>
            <a:r>
              <a:rPr sz="1300" b="0">
                <a:solidFill>
                  <a:srgbClr val="1A1A1A"/>
                </a:solidFill>
                <a:latin typeface="+mn-lt"/>
              </a:rPr>
              <a:t>В расчётах окупаемости принято 21–30% по разделу — консервативный сценарий.</a:t>
            </a:r>
          </a:p>
        </p:txBody>
      </p:sp>
      <p:sp>
        <p:nvSpPr>
          <p:cNvPr id="549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ВЫЗОВЫ</a:t>
            </a:r>
          </a:p>
        </p:txBody>
      </p:sp>
      <p:sp>
        <p:nvSpPr>
          <p:cNvPr id="550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551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552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553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554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555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МЕТОДИКА</a:t>
            </a:r>
          </a:p>
        </p:txBody>
      </p:sp>
      <p:sp>
        <p:nvSpPr>
          <p:cNvPr id="556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57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558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59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Виды работ с наибольшей экономией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3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graphicFrame>
        <p:nvGraphicFramePr>
          <p:cNvPr id="543" name="Chart 542"/>
          <p:cNvGraphicFramePr>
            <a:graphicFrameLocks noGrp="1"/>
          </p:cNvGraphicFramePr>
          <p:nvPr/>
        </p:nvGraphicFramePr>
        <p:xfrm>
          <a:off x="502920" y="1874519"/>
          <a:ext cx="6766560" cy="4114800"/>
        </p:xfrm>
        <a:graphic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544" name="Snip Single Corner Rectangle 543"/>
          <p:cNvSpPr/>
          <p:nvPr/>
        </p:nvSpPr>
        <p:spPr>
          <a:xfrm>
            <a:off x="7589520" y="2011680"/>
            <a:ext cx="3886200" cy="192024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5" name="TextBox 544"/>
          <p:cNvSpPr txBox="1"/>
          <p:nvPr/>
        </p:nvSpPr>
        <p:spPr>
          <a:xfrm>
            <a:off x="7818120" y="2148840"/>
            <a:ext cx="34747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Максимальный эффект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там, где результат формируется из данных чертежа автоматически: спецификации, ведомости, журналы, расчёты, внесение правок.</a:t>
            </a:r>
          </a:p>
        </p:txBody>
      </p:sp>
      <p:sp>
        <p:nvSpPr>
          <p:cNvPr id="546" name="Snip Single Corner Rectangle 545"/>
          <p:cNvSpPr/>
          <p:nvPr/>
        </p:nvSpPr>
        <p:spPr>
          <a:xfrm>
            <a:off x="7589520" y="4114800"/>
            <a:ext cx="3886200" cy="173736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7" name="TextBox 546"/>
          <p:cNvSpPr txBox="1"/>
          <p:nvPr/>
        </p:nvSpPr>
        <p:spPr>
          <a:xfrm>
            <a:off x="7818120" y="4224528"/>
            <a:ext cx="3474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386FC"/>
                </a:solidFill>
                <a:latin typeface="+mj-lt"/>
              </a:rPr>
              <a:t>77–91%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экономия на тех же типах задач в исследовании Autodesk для специализированных наборов AutoCAD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Середина диапазонов из таблиц базовых работ; «Исправления по замечаниям» — допущение методики (до 50%).</a:t>
            </a:r>
          </a:p>
        </p:txBody>
      </p:sp>
      <p:sp>
        <p:nvSpPr>
          <p:cNvPr id="549" name="nav">
            <a:hlinkClick action="ppaction://hlinksldjump" r:id="rId5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ВЫЗОВЫ</a:t>
            </a:r>
          </a:p>
        </p:txBody>
      </p:sp>
      <p:sp>
        <p:nvSpPr>
          <p:cNvPr id="550" name="nav">
            <a:hlinkClick action="ppaction://hlinksldjump" r:id="rId4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551" name="nav">
            <a:hlinkClick action="ppaction://hlinksldjump" r:id="rId16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552" name="nav">
            <a:hlinkClick action="ppaction://hlinksldjump" r:id="rId17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553" name="nav">
            <a:hlinkClick action="ppaction://hlinksldjump" r:id="rId18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554" name="nav">
            <a:hlinkClick action="ppaction://hlinksldjump" r:id="rId19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555" name="nav">
            <a:hlinkClick action="ppaction://hlinksldjump" r:id="rId20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МЕТОДИКА</a:t>
            </a:r>
          </a:p>
        </p:txBody>
      </p:sp>
      <p:sp>
        <p:nvSpPr>
          <p:cNvPr id="556" name="nav">
            <a:hlinkClick action="ppaction://hlinksldjump" r:id="rId21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57" name="nav">
            <a:hlinkClick action="ppaction://hlinksldjump" r:id="rId22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558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59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Подтверждение кейсами: пользователи nanoCAD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1965960"/>
            <a:ext cx="3474720" cy="39319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TextBox 543"/>
          <p:cNvSpPr txBox="1"/>
          <p:nvPr/>
        </p:nvSpPr>
        <p:spPr>
          <a:xfrm>
            <a:off x="850392" y="210312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386FC"/>
                </a:solidFill>
                <a:latin typeface="+mj-lt"/>
              </a:rPr>
              <a:t>−83%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850392" y="2788920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«Уфанет», телеком, СКС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850392" y="3337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+mn-lt"/>
              <a:buChar char="→"/>
            </a:pPr>
            <a:r>
              <a:rPr sz="1100" b="0">
                <a:solidFill>
                  <a:srgbClr val="1A1A1A"/>
                </a:solidFill>
                <a:latin typeface="+mn-lt"/>
              </a:rPr>
              <a:t>2D-проект одного объекта: 4 ч → 40 мин (501 объект)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+mn-lt"/>
              <a:buChar char="→"/>
            </a:pPr>
            <a:r>
              <a:rPr sz="1100" b="0">
                <a:solidFill>
                  <a:srgbClr val="1A1A1A"/>
                </a:solidFill>
                <a:latin typeface="+mn-lt"/>
              </a:rPr>
              <a:t>−30% срока проектирования за счёт проверки коллизий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+mn-lt"/>
              <a:buChar char="→"/>
            </a:pPr>
            <a:r>
              <a:rPr sz="1100" b="0">
                <a:solidFill>
                  <a:srgbClr val="1A1A1A"/>
                </a:solidFill>
                <a:latin typeface="+mn-lt"/>
              </a:rPr>
              <a:t>−70% возвратов рабочей документации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+mn-lt"/>
              <a:buChar char="→"/>
            </a:pPr>
            <a:r>
              <a:rPr sz="1100" b="0">
                <a:solidFill>
                  <a:srgbClr val="1A1A1A"/>
                </a:solidFill>
                <a:latin typeface="+mn-lt"/>
              </a:rPr>
              <a:t>&gt; 1,3 млн ₽ экономии материалов на пилоте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850392" y="54406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CNews, ComNews, 23.07.2026; CADmaster № 106</a:t>
            </a:r>
          </a:p>
        </p:txBody>
      </p:sp>
      <p:sp>
        <p:nvSpPr>
          <p:cNvPr id="548" name="Snip Single Corner Rectangle 547"/>
          <p:cNvSpPr/>
          <p:nvPr/>
        </p:nvSpPr>
        <p:spPr>
          <a:xfrm>
            <a:off x="4297680" y="1965960"/>
            <a:ext cx="3474720" cy="39319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9" name="TextBox 548"/>
          <p:cNvSpPr txBox="1"/>
          <p:nvPr/>
        </p:nvSpPr>
        <p:spPr>
          <a:xfrm>
            <a:off x="4553712" y="210312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386FC"/>
                </a:solidFill>
                <a:latin typeface="+mj-lt"/>
              </a:rPr>
              <a:t>+40%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4553712" y="2788920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«АБТ», Санкт-Петербург, Электро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4553712" y="3337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+mn-lt"/>
              <a:buChar char="→"/>
            </a:pPr>
            <a:r>
              <a:rPr sz="1100" b="0">
                <a:solidFill>
                  <a:srgbClr val="1A1A1A"/>
                </a:solidFill>
                <a:latin typeface="+mn-lt"/>
              </a:rPr>
              <a:t>Эффективность проектирования выросла на 40%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+mn-lt"/>
              <a:buChar char="→"/>
            </a:pPr>
            <a:r>
              <a:rPr sz="1100" b="0">
                <a:solidFill>
                  <a:srgbClr val="1A1A1A"/>
                </a:solidFill>
                <a:latin typeface="+mn-lt"/>
              </a:rPr>
              <a:t>Подбор оборудования и кабелей расчётом по модели сети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+mn-lt"/>
              <a:buChar char="→"/>
            </a:pPr>
            <a:r>
              <a:rPr sz="1100" b="0">
                <a:solidFill>
                  <a:srgbClr val="1A1A1A"/>
                </a:solidFill>
                <a:latin typeface="+mn-lt"/>
              </a:rPr>
              <a:t>Автоматическая спецификация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+mn-lt"/>
              <a:buChar char="→"/>
            </a:pPr>
            <a:r>
              <a:rPr sz="1100" b="0">
                <a:solidFill>
                  <a:srgbClr val="1A1A1A"/>
                </a:solidFill>
                <a:latin typeface="+mn-lt"/>
              </a:rPr>
              <a:t>Меньше замечаний экспертизы и времени на доработку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4553712" y="54406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nanocad.ru; «САПР и графика»; CADmaster № 103</a:t>
            </a:r>
          </a:p>
        </p:txBody>
      </p:sp>
      <p:sp>
        <p:nvSpPr>
          <p:cNvPr id="553" name="Snip Single Corner Rectangle 552"/>
          <p:cNvSpPr/>
          <p:nvPr/>
        </p:nvSpPr>
        <p:spPr>
          <a:xfrm>
            <a:off x="8001000" y="1965960"/>
            <a:ext cx="3474720" cy="39319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4" name="TextBox 553"/>
          <p:cNvSpPr txBox="1"/>
          <p:nvPr/>
        </p:nvSpPr>
        <p:spPr>
          <a:xfrm>
            <a:off x="8257031" y="210312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386FC"/>
                </a:solidFill>
                <a:latin typeface="+mj-lt"/>
              </a:rPr>
              <a:t>до −30%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8257031" y="2788920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Параметрические 2D-элементы, КР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8257031" y="3337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+mn-lt"/>
              <a:buChar char="→"/>
            </a:pPr>
            <a:r>
              <a:rPr sz="1100" b="0">
                <a:solidFill>
                  <a:srgbClr val="1A1A1A"/>
                </a:solidFill>
                <a:latin typeface="+mn-lt"/>
              </a:rPr>
              <a:t>Сокращение сроков разработки документации до 30%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+mn-lt"/>
              <a:buChar char="→"/>
            </a:pPr>
            <a:r>
              <a:rPr sz="1100" b="0">
                <a:solidFill>
                  <a:srgbClr val="1A1A1A"/>
                </a:solidFill>
                <a:latin typeface="+mn-lt"/>
              </a:rPr>
              <a:t>Библиотека типовых параметрических элементов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+mn-lt"/>
              <a:buChar char="→"/>
            </a:pPr>
            <a:r>
              <a:rPr sz="1100" b="0">
                <a:solidFill>
                  <a:srgbClr val="1A1A1A"/>
                </a:solidFill>
                <a:latin typeface="+mn-lt"/>
              </a:rPr>
              <a:t>Настройка под стандарт предприятия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+mn-lt"/>
              <a:buChar char="→"/>
            </a:pPr>
            <a:r>
              <a:rPr sz="1100" b="0">
                <a:solidFill>
                  <a:srgbClr val="1A1A1A"/>
                </a:solidFill>
                <a:latin typeface="+mn-lt"/>
              </a:rPr>
              <a:t>Оперативный контроль качества проекта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8257031" y="54406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Данные вендора, nanoCAD Конструкции PS</a:t>
            </a:r>
          </a:p>
        </p:txBody>
      </p:sp>
      <p:sp>
        <p:nvSpPr>
          <p:cNvPr id="558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ВЫЗОВЫ</a:t>
            </a:r>
          </a:p>
        </p:txBody>
      </p:sp>
      <p:sp>
        <p:nvSpPr>
          <p:cNvPr id="559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560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561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562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563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564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МЕТОДИКА</a:t>
            </a:r>
          </a:p>
        </p:txBody>
      </p:sp>
      <p:sp>
        <p:nvSpPr>
          <p:cNvPr id="565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КЕЙСЫ</a:t>
            </a:r>
          </a:p>
        </p:txBody>
      </p:sp>
      <p:sp>
        <p:nvSpPr>
          <p:cNvPr id="566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567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8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Кейсы: специализированные наборы AutoCAD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3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graphicFrame>
        <p:nvGraphicFramePr>
          <p:cNvPr id="543" name="Chart 542"/>
          <p:cNvGraphicFramePr>
            <a:graphicFrameLocks noGrp="1"/>
          </p:cNvGraphicFramePr>
          <p:nvPr/>
        </p:nvGraphicFramePr>
        <p:xfrm>
          <a:off x="502920" y="2240280"/>
          <a:ext cx="5669280" cy="3017520"/>
        </p:xfrm>
        <a:graphic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544" name="TextBox 543"/>
          <p:cNvSpPr txBox="1"/>
          <p:nvPr/>
        </p:nvSpPr>
        <p:spPr>
          <a:xfrm>
            <a:off x="594360" y="1920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+mn-lt"/>
              </a:rPr>
              <a:t>Общий рост производительности по сравнению с базовым AutoCAD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6537960" y="19202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Экономия времени на отдельных задачах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6537960" y="2423160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386FC"/>
                </a:solidFill>
                <a:latin typeface="+mj-lt"/>
              </a:rPr>
              <a:t>−91%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7589520" y="2423160"/>
            <a:ext cx="3886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планы трубопроводов (MEP)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6537960" y="2880360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386FC"/>
                </a:solidFill>
                <a:latin typeface="+mj-lt"/>
              </a:rPr>
              <a:t>−86%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7589520" y="2880360"/>
            <a:ext cx="3886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силовые и электрические планы (MEP)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6537960" y="3337560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386FC"/>
                </a:solidFill>
                <a:latin typeface="+mj-lt"/>
              </a:rPr>
              <a:t>−84%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7589520" y="3337560"/>
            <a:ext cx="3886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новые электрические схемы (Electrical)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6537960" y="3794760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386FC"/>
                </a:solidFill>
                <a:latin typeface="+mj-lt"/>
              </a:rPr>
              <a:t>−82%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7589520" y="3794760"/>
            <a:ext cx="3886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нумерация проводов (Electrical)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6537960" y="4251960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386FC"/>
                </a:solidFill>
                <a:latin typeface="+mj-lt"/>
              </a:rPr>
              <a:t>−81%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7589520" y="4251960"/>
            <a:ext cx="3886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планы ОВ и воздуховодов (MEP)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6537960" y="4709160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386FC"/>
                </a:solidFill>
                <a:latin typeface="+mj-lt"/>
              </a:rPr>
              <a:t>−77%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7589520" y="4709160"/>
            <a:ext cx="3886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правки существующих схем (Electrical)</a:t>
            </a:r>
          </a:p>
        </p:txBody>
      </p:sp>
      <p:sp>
        <p:nvSpPr>
          <p:cNvPr id="558" name="Snip Single Corner Rectangle 557"/>
          <p:cNvSpPr/>
          <p:nvPr/>
        </p:nvSpPr>
        <p:spPr>
          <a:xfrm>
            <a:off x="594360" y="5394960"/>
            <a:ext cx="10881360" cy="50292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9" name="TextBox 558"/>
          <p:cNvSpPr txBox="1"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Методика: независимый консультант по заказу Autodesk; один опытный пользователь, одинаковые задачи в базовом AutoCAD и в специализированном наборе.</a:t>
            </a:r>
          </a:p>
        </p:txBody>
      </p:sp>
      <p:sp>
        <p:nvSpPr>
          <p:cNvPr id="560" name="TextBox 559"/>
          <p:cNvSpPr txBox="1"/>
          <p:nvPr/>
        </p:nvSpPr>
        <p:spPr>
          <a:xfrm>
            <a:off x="594360" y="5989320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Autodesk: AutoCAD Toolsets Productivity Studies (Electrical, MEP, Architecture, Mechanical).</a:t>
            </a:r>
          </a:p>
        </p:txBody>
      </p:sp>
      <p:sp>
        <p:nvSpPr>
          <p:cNvPr id="561" name="nav">
            <a:hlinkClick action="ppaction://hlinksldjump" r:id="rId5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ВЫЗОВЫ</a:t>
            </a:r>
          </a:p>
        </p:txBody>
      </p:sp>
      <p:sp>
        <p:nvSpPr>
          <p:cNvPr id="562" name="nav">
            <a:hlinkClick action="ppaction://hlinksldjump" r:id="rId4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563" name="nav">
            <a:hlinkClick action="ppaction://hlinksldjump" r:id="rId16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564" name="nav">
            <a:hlinkClick action="ppaction://hlinksldjump" r:id="rId17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565" name="nav">
            <a:hlinkClick action="ppaction://hlinksldjump" r:id="rId18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566" name="nav">
            <a:hlinkClick action="ppaction://hlinksldjump" r:id="rId19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567" name="nav">
            <a:hlinkClick action="ppaction://hlinksldjump" r:id="rId20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МЕТОДИКА</a:t>
            </a:r>
          </a:p>
        </p:txBody>
      </p:sp>
      <p:sp>
        <p:nvSpPr>
          <p:cNvPr id="568" name="nav">
            <a:hlinkClick action="ppaction://hlinksldjump" r:id="rId21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КЕЙСЫ</a:t>
            </a:r>
          </a:p>
        </p:txBody>
      </p:sp>
      <p:sp>
        <p:nvSpPr>
          <p:cNvPr id="569" name="nav">
            <a:hlinkClick action="ppaction://hlinksldjump" r:id="rId22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570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71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Наши расчёты выполнены по консервативному сценарию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3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graphicFrame>
        <p:nvGraphicFramePr>
          <p:cNvPr id="543" name="Chart 542"/>
          <p:cNvGraphicFramePr>
            <a:graphicFrameLocks noGrp="1"/>
          </p:cNvGraphicFramePr>
          <p:nvPr/>
        </p:nvGraphicFramePr>
        <p:xfrm>
          <a:off x="502920" y="1920240"/>
          <a:ext cx="7315200" cy="3017520"/>
        </p:xfrm>
        <a:graphic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544" name="TextBox 543"/>
          <p:cNvSpPr txBox="1"/>
          <p:nvPr/>
        </p:nvSpPr>
        <p:spPr>
          <a:xfrm>
            <a:off x="7955279" y="2240280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386FC"/>
                </a:solidFill>
                <a:latin typeface="+mj-lt"/>
              </a:rPr>
              <a:t>21–30%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7955279" y="2880360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386FC"/>
                </a:solidFill>
                <a:latin typeface="+mj-lt"/>
              </a:rPr>
              <a:t>29–42%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7955279" y="3520440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386FC"/>
                </a:solidFill>
                <a:latin typeface="+mj-lt"/>
              </a:rPr>
              <a:t>30–83%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7955279" y="4160520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386FC"/>
                </a:solidFill>
                <a:latin typeface="+mj-lt"/>
              </a:rPr>
              <a:t>55–95%</a:t>
            </a:r>
          </a:p>
        </p:txBody>
      </p:sp>
      <p:sp>
        <p:nvSpPr>
          <p:cNvPr id="548" name="Snip Single Corner Rectangle 547"/>
          <p:cNvSpPr/>
          <p:nvPr/>
        </p:nvSpPr>
        <p:spPr>
          <a:xfrm>
            <a:off x="9189720" y="2011680"/>
            <a:ext cx="2286000" cy="283464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9" name="TextBox 548"/>
          <p:cNvSpPr txBox="1"/>
          <p:nvPr/>
        </p:nvSpPr>
        <p:spPr>
          <a:xfrm>
            <a:off x="9372600" y="2148840"/>
            <a:ext cx="19659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+mj-lt"/>
              </a:rPr>
              <a:t>Исправления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В расчётах — снижение затрат до 50%.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У «Уфанет» — −70% возвратов документации.</a:t>
            </a:r>
          </a:p>
        </p:txBody>
      </p:sp>
      <p:sp>
        <p:nvSpPr>
          <p:cNvPr id="550" name="Snip Single Corner Rectangle 549"/>
          <p:cNvSpPr/>
          <p:nvPr/>
        </p:nvSpPr>
        <p:spPr>
          <a:xfrm>
            <a:off x="594360" y="5120640"/>
            <a:ext cx="10881360" cy="73152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1" name="TextBox 550"/>
          <p:cNvSpPr txBox="1"/>
          <p:nvPr/>
        </p:nvSpPr>
        <p:spPr>
          <a:xfrm>
            <a:off x="822960" y="5120640"/>
            <a:ext cx="10424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+mj-lt"/>
              </a:rPr>
              <a:t>Вывод: </a:t>
            </a:r>
            <a:r>
              <a:rPr sz="1300" b="0">
                <a:solidFill>
                  <a:srgbClr val="1A1A1A"/>
                </a:solidFill>
                <a:latin typeface="+mn-lt"/>
              </a:rPr>
              <a:t>25–30% экономии по разделу — нижняя граница наблюдаемых результатов. Фактический эффект, как правило, выше.</a:t>
            </a:r>
          </a:p>
        </p:txBody>
      </p:sp>
      <p:sp>
        <p:nvSpPr>
          <p:cNvPr id="552" name="nav">
            <a:hlinkClick action="ppaction://hlinksldjump" r:id="rId5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ВЫЗОВЫ</a:t>
            </a:r>
          </a:p>
        </p:txBody>
      </p:sp>
      <p:sp>
        <p:nvSpPr>
          <p:cNvPr id="553" name="nav">
            <a:hlinkClick action="ppaction://hlinksldjump" r:id="rId4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554" name="nav">
            <a:hlinkClick action="ppaction://hlinksldjump" r:id="rId16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555" name="nav">
            <a:hlinkClick action="ppaction://hlinksldjump" r:id="rId17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556" name="nav">
            <a:hlinkClick action="ppaction://hlinksldjump" r:id="rId18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557" name="nav">
            <a:hlinkClick action="ppaction://hlinksldjump" r:id="rId19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558" name="nav">
            <a:hlinkClick action="ppaction://hlinksldjump" r:id="rId20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МЕТОДИКА</a:t>
            </a:r>
          </a:p>
        </p:txBody>
      </p:sp>
      <p:sp>
        <p:nvSpPr>
          <p:cNvPr id="559" name="nav">
            <a:hlinkClick action="ppaction://hlinksldjump" r:id="rId21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КЕЙСЫ</a:t>
            </a:r>
          </a:p>
        </p:txBody>
      </p:sp>
      <p:sp>
        <p:nvSpPr>
          <p:cNvPr id="560" name="nav">
            <a:hlinkClick action="ppaction://hlinksldjump" r:id="rId22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561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2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Ограничения методики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10881360" cy="169164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Snip Single Corner Rectangle 543"/>
          <p:cNvSpPr/>
          <p:nvPr/>
        </p:nvSpPr>
        <p:spPr>
          <a:xfrm>
            <a:off x="868680" y="2286000"/>
            <a:ext cx="548640" cy="54864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+mj-lt"/>
              </a:rPr>
              <a:t>01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1691640" y="2240280"/>
            <a:ext cx="9509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+mj-lt"/>
              </a:rPr>
              <a:t>Параллельная работа над несколькими проектами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1691640" y="2724912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Методика считает экономию на один проект. Если специалист одновременно ведёт несколько объектов, распределение его времени и фактический эффект по каждому проекту учесть и оценить невозможно.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594360" y="3931920"/>
            <a:ext cx="10881360" cy="169164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8" name="Snip Single Corner Rectangle 547"/>
          <p:cNvSpPr/>
          <p:nvPr/>
        </p:nvSpPr>
        <p:spPr>
          <a:xfrm>
            <a:off x="868680" y="4206240"/>
            <a:ext cx="548640" cy="54864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+mj-lt"/>
              </a:rPr>
              <a:t>02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1691640" y="4160520"/>
            <a:ext cx="9509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+mj-lt"/>
              </a:rPr>
              <a:t>Просадка эффективности при переходе на новое ПО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1691640" y="4645152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+mn-lt"/>
              </a:rPr>
              <a:t>Временное снижение производительности в период освоения не учитывается: оно слишком зависит от методики внедрения. С Нормасофт переход быстрее и проще — короткие курсы по модулю, готовые шаблоны и базы, сопровождение консультантов.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594360" y="5897880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+mn-lt"/>
              </a:rPr>
              <a:t>Ставки — средние по ОКВЭД 71 без региональной поправки; цены лицензий — годовые, на дату расчёта.</a:t>
            </a:r>
          </a:p>
        </p:txBody>
      </p:sp>
      <p:sp>
        <p:nvSpPr>
          <p:cNvPr id="552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ВЫЗОВЫ</a:t>
            </a:r>
          </a:p>
        </p:txBody>
      </p:sp>
      <p:sp>
        <p:nvSpPr>
          <p:cNvPr id="553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554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555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556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557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558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МЕТОДИКА</a:t>
            </a:r>
          </a:p>
        </p:txBody>
      </p:sp>
      <p:sp>
        <p:nvSpPr>
          <p:cNvPr id="559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60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ОГРАНИЧЕНИЯ</a:t>
            </a:r>
          </a:p>
        </p:txBody>
      </p:sp>
      <p:sp>
        <p:nvSpPr>
          <p:cNvPr id="561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62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Прямоугольник: скругленные углы 4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40" name="Google Shape;529;p41"/>
          <p:cNvSpPr/>
          <p:nvPr/>
        </p:nvSpPr>
        <p:spPr>
          <a:xfrm>
            <a:off x="10015920" y="1959120"/>
            <a:ext cx="1341720" cy="84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en" sz="4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05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1" name="Google Shape;529;p41"/>
          <p:cNvSpPr/>
          <p:nvPr/>
        </p:nvSpPr>
        <p:spPr>
          <a:xfrm>
            <a:off x="3840480" y="3558240"/>
            <a:ext cx="7516368" cy="131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НОРМАСОФТ: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r" defTabSz="914400">
              <a:lnSpc>
                <a:spcPct val="90000"/>
              </a:lnSpc>
            </a:pPr>
            <a:r>
              <a:rPr lang="ru-RU" sz="3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ВНЕДРЕНИЕ ПОД КЛЮЧ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2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43" name="Прямая со стрелкой 8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44" name="TextBox 9"/>
          <p:cNvSpPr/>
          <p:nvPr/>
        </p:nvSpPr>
        <p:spPr>
          <a:xfrm>
            <a:off x="4663440" y="5093280"/>
            <a:ext cx="6693408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Учебный центр, консультанты по всем разделам проектирования и собственные разработки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45" name="Прямоугольник: скругленные углы 10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cxnSp>
        <p:nvCxnSpPr>
          <p:cNvPr id="246" name="Прямая со стрелкой 1"/>
          <p:cNvCxnSpPr/>
          <p:nvPr/>
        </p:nvCxnSpPr>
        <p:spPr>
          <a:xfrm>
            <a:off x="5074200" y="4999320"/>
            <a:ext cx="619308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24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7381080" y="292752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Рисунок 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2">
            <a:extLst/>
          </a:blip>
          <a:stretch/>
        </p:blipFill>
        <p:spPr>
          <a:xfrm flipH="1">
            <a:off x="360" y="3371760"/>
            <a:ext cx="6197400" cy="34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59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ВЫЗОВЫ</a:t>
            </a:r>
          </a:p>
        </p:txBody>
      </p:sp>
      <p:sp>
        <p:nvSpPr>
          <p:cNvPr id="260" name="nav">
            <a:hlinkClick action="ppaction://hlinksldjump" r:id="rId14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261" name="nav">
            <a:hlinkClick action="ppaction://hlinksldjump" r:id="rId6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262" name="nav">
            <a:hlinkClick action="ppaction://hlinksldjump" r:id="rId5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263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264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265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МЕТОДИКА</a:t>
            </a:r>
          </a:p>
        </p:txBody>
      </p:sp>
      <p:sp>
        <p:nvSpPr>
          <p:cNvPr id="266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267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268" name="nav">
            <a:hlinkClick action="ppaction://hlinksldjump" r:id="rId4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НОРМАСОФТ</a:t>
            </a:r>
          </a:p>
        </p:txBody>
      </p:sp>
      <p:sp>
        <p:nvSpPr>
          <p:cNvPr id="269" name="nav">
            <a:hlinkClick action="ppaction://hlinksldjump" r:id="rId11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>
            <a:lumMod val="95000"/>
          </a:scheme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98" name="Google Shape;321;p35"/>
          <p:cNvSpPr/>
          <p:nvPr/>
        </p:nvSpPr>
        <p:spPr>
          <a:xfrm>
            <a:off x="595440" y="1672200"/>
            <a:ext cx="143928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20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Миссия:</a:t>
            </a:r>
            <a:endParaRPr lang="ru-RU" sz="20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99" name="TextBox 2"/>
          <p:cNvSpPr/>
          <p:nvPr/>
        </p:nvSpPr>
        <p:spPr>
          <a:xfrm>
            <a:off x="2091960" y="1704600"/>
            <a:ext cx="8496720" cy="38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9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Обеспечение технологического суверенитета российских компаний</a:t>
            </a:r>
            <a:endParaRPr lang="ru-RU" sz="19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0" name="Google Shape;321;p35"/>
          <p:cNvSpPr/>
          <p:nvPr/>
        </p:nvSpPr>
        <p:spPr>
          <a:xfrm>
            <a:off x="595440" y="2615400"/>
            <a:ext cx="233892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20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Направления:</a:t>
            </a:r>
            <a:endParaRPr lang="ru-RU" sz="20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101" name="Google Shape;321;p35"/>
          <p:cNvSpPr/>
          <p:nvPr/>
        </p:nvSpPr>
        <p:spPr>
          <a:xfrm>
            <a:off x="3157920" y="2615400"/>
            <a:ext cx="4278240" cy="8096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Поставляем и внедряем инфраструктурное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и инженерное программное обеспечение, программы для учета и управления оборудованием, приборами,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IT</a:t>
            </a: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-активами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2" name="Google Shape;321;p35"/>
          <p:cNvSpPr/>
          <p:nvPr/>
        </p:nvSpPr>
        <p:spPr>
          <a:xfrm>
            <a:off x="6453000" y="3660840"/>
            <a:ext cx="2849760" cy="8096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Развиваем  направление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«Цифровые двойники производства»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3" name="Google Shape;321;p35"/>
          <p:cNvSpPr/>
          <p:nvPr/>
        </p:nvSpPr>
        <p:spPr>
          <a:xfrm>
            <a:off x="3157920" y="3654720"/>
            <a:ext cx="3125520" cy="8096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Разрабатываем типовые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и индивидуальные плагины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и утилиты для работы ПО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4" name="Google Shape;321;p35"/>
          <p:cNvSpPr/>
          <p:nvPr/>
        </p:nvSpPr>
        <p:spPr>
          <a:xfrm>
            <a:off x="7567560" y="2615400"/>
            <a:ext cx="3834000" cy="8096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Обучаем работе  с отечественным инженерным ПО в Авторизованном учебном центре «Нормасофт»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5" name="Google Shape;321;p35"/>
          <p:cNvSpPr/>
          <p:nvPr/>
        </p:nvSpPr>
        <p:spPr>
          <a:xfrm>
            <a:off x="9472320" y="3654720"/>
            <a:ext cx="1929600" cy="8096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Развиваем направление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BIM VR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6" name="Google Shape;321;p35"/>
          <p:cNvSpPr/>
          <p:nvPr/>
        </p:nvSpPr>
        <p:spPr>
          <a:xfrm>
            <a:off x="595440" y="5185800"/>
            <a:ext cx="134604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20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Опыт:</a:t>
            </a:r>
            <a:endParaRPr lang="ru-RU" sz="20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107" name="Google Shape;171;p29"/>
          <p:cNvSpPr/>
          <p:nvPr/>
        </p:nvSpPr>
        <p:spPr>
          <a:xfrm>
            <a:off x="2502720" y="5031360"/>
            <a:ext cx="213264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defTabSz="914400">
              <a:lnSpc>
                <a:spcPct val="90000"/>
              </a:lnSpc>
            </a:pPr>
            <a:r>
              <a:rPr lang="ru-RU" sz="4400" b="1" u="none" strike="noStrike">
                <a:solidFill>
                  <a:srgbClr val="0386FC"/>
                </a:solidFill>
                <a:effectLst/>
                <a:uFillTx/>
                <a:latin typeface="+mj-lt"/>
              </a:rPr>
              <a:t>3 000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8" name="TextBox 28"/>
          <p:cNvSpPr/>
          <p:nvPr/>
        </p:nvSpPr>
        <p:spPr>
          <a:xfrm>
            <a:off x="2202480" y="5708160"/>
            <a:ext cx="350712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Инженеров, специалистов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и преподавателей, прошедших обучение работе с отечественным инженерным ПО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09" name="Google Shape;171;p29"/>
          <p:cNvSpPr/>
          <p:nvPr/>
        </p:nvSpPr>
        <p:spPr>
          <a:xfrm>
            <a:off x="6207120" y="5031360"/>
            <a:ext cx="213264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defTabSz="914400">
              <a:lnSpc>
                <a:spcPct val="90000"/>
              </a:lnSpc>
            </a:pPr>
            <a:r>
              <a:rPr lang="ru-RU" sz="4400" b="1" u="none" strike="noStrike">
                <a:solidFill>
                  <a:srgbClr val="0386FC"/>
                </a:solidFill>
                <a:effectLst/>
                <a:uFillTx/>
                <a:latin typeface="+mj-lt"/>
              </a:rPr>
              <a:t>500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10" name="TextBox 30"/>
          <p:cNvSpPr/>
          <p:nvPr/>
        </p:nvSpPr>
        <p:spPr>
          <a:xfrm>
            <a:off x="5861160" y="5689800"/>
            <a:ext cx="309096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Клиентов, включая предприятия корпораций «РОСАТОМ», «РОСТЕХ» и «РОССЕТИ»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11" name="Google Shape;171;p29"/>
          <p:cNvSpPr/>
          <p:nvPr/>
        </p:nvSpPr>
        <p:spPr>
          <a:xfrm>
            <a:off x="9546840" y="5031360"/>
            <a:ext cx="213264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defTabSz="914400">
              <a:lnSpc>
                <a:spcPct val="90000"/>
              </a:lnSpc>
            </a:pPr>
            <a:r>
              <a:rPr lang="ru-RU" sz="4400" b="1" u="none" strike="noStrike">
                <a:solidFill>
                  <a:srgbClr val="0386FC"/>
                </a:solidFill>
                <a:effectLst/>
                <a:uFillTx/>
                <a:latin typeface="+mj-lt"/>
              </a:rPr>
              <a:t>12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12" name="TextBox 32"/>
          <p:cNvSpPr/>
          <p:nvPr/>
        </p:nvSpPr>
        <p:spPr>
          <a:xfrm>
            <a:off x="9204120" y="5689800"/>
            <a:ext cx="226980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Лет успешного внедрения и импортозамещения отечественного ПО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13" name="TextBox 35"/>
          <p:cNvSpPr/>
          <p:nvPr/>
        </p:nvSpPr>
        <p:spPr>
          <a:xfrm>
            <a:off x="2122560" y="5060160"/>
            <a:ext cx="36036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3200" b="0" u="none" strike="noStrike">
                <a:solidFill>
                  <a:srgbClr val="0088FE"/>
                </a:solidFill>
                <a:effectLst/>
                <a:uFillTx/>
                <a:latin typeface="Manrope ExtraBold"/>
              </a:rPr>
              <a:t>~ 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14" name="TextBox 36"/>
          <p:cNvSpPr/>
          <p:nvPr/>
        </p:nvSpPr>
        <p:spPr>
          <a:xfrm>
            <a:off x="5805000" y="5060160"/>
            <a:ext cx="36036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3200" b="0" u="none" strike="noStrike">
                <a:solidFill>
                  <a:srgbClr val="0088FE"/>
                </a:solidFill>
                <a:effectLst/>
                <a:uFillTx/>
                <a:latin typeface="Manrope ExtraBold"/>
              </a:rPr>
              <a:t>~ 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115" name="TextBox 37"/>
          <p:cNvSpPr/>
          <p:nvPr/>
        </p:nvSpPr>
        <p:spPr>
          <a:xfrm>
            <a:off x="9144360" y="5060160"/>
            <a:ext cx="36036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3200" b="0" u="none" strike="noStrike">
                <a:solidFill>
                  <a:srgbClr val="0088FE"/>
                </a:solidFill>
                <a:effectLst/>
                <a:uFillTx/>
                <a:latin typeface="Manrope ExtraBold"/>
              </a:rPr>
              <a:t>~ 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pic>
        <p:nvPicPr>
          <p:cNvPr id="116" name="Рисунок 15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 rot="5400000">
            <a:off x="10039680" y="338328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118" name="Прямая со стрелкой 17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128" name="Google Shape;269;p32">
            <a:hlinkClick action="ppaction://hlinksldjump" r:id="rId11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129" name="nav">
            <a:hlinkClick action="ppaction://hlinksldjump" r:id="rId12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ВЫЗОВЫ</a:t>
            </a:r>
          </a:p>
        </p:txBody>
      </p:sp>
      <p:sp>
        <p:nvSpPr>
          <p:cNvPr id="130" name="nav">
            <a:hlinkClick action="ppaction://hlinksldjump" r:id="rId13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131" name="nav">
            <a:hlinkClick action="ppaction://hlinksldjump" r:id="rId5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132" name="nav">
            <a:hlinkClick action="ppaction://hlinksldjump" r:id="rId4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133" name="nav">
            <a:hlinkClick action="ppaction://hlinksldjump" r:id="rId16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134" name="nav">
            <a:hlinkClick action="ppaction://hlinksldjump" r:id="rId17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135" name="nav">
            <a:hlinkClick action="ppaction://hlinksldjump" r:id="rId18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МЕТОДИКА</a:t>
            </a:r>
          </a:p>
        </p:txBody>
      </p:sp>
      <p:sp>
        <p:nvSpPr>
          <p:cNvPr id="136" name="nav">
            <a:hlinkClick action="ppaction://hlinksldjump" r:id="rId19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137" name="nav">
            <a:hlinkClick action="ppaction://hlinksldjump" r:id="rId20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138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НОРМАСОФТ</a:t>
            </a:r>
          </a:p>
        </p:txBody>
      </p:sp>
      <p:sp>
        <p:nvSpPr>
          <p:cNvPr id="139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Прямоугольник: скругленные углы 9"/>
          <p:cNvSpPr/>
          <p:nvPr/>
        </p:nvSpPr>
        <p:spPr>
          <a:xfrm>
            <a:off x="4511520" y="1582200"/>
            <a:ext cx="3414240" cy="258048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63" name="TextBox 14"/>
          <p:cNvSpPr/>
          <p:nvPr/>
        </p:nvSpPr>
        <p:spPr>
          <a:xfrm>
            <a:off x="5046120" y="2893320"/>
            <a:ext cx="2420280" cy="73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 группах в нашем учебном центре онлайн по общему графику.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64" name="Google Shape;321;p35"/>
          <p:cNvSpPr/>
          <p:nvPr/>
        </p:nvSpPr>
        <p:spPr>
          <a:xfrm>
            <a:off x="10347120" y="5406480"/>
            <a:ext cx="810000" cy="829440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200" b="0" u="none" strike="noStrike">
              <a:solidFill>
                <a:schemeClr val="dk1"/>
              </a:solidFill>
              <a:effectLst/>
              <a:uFillTx/>
              <a:latin typeface="Manrope"/>
            </a:endParaRPr>
          </a:p>
        </p:txBody>
      </p:sp>
      <p:cxnSp>
        <p:nvCxnSpPr>
          <p:cNvPr id="265" name="Прямая соединительная линия 26"/>
          <p:cNvCxnSpPr>
            <a:stCxn id="266" idx="0"/>
            <a:endCxn id="267" idx="2"/>
          </p:cNvCxnSpPr>
          <p:nvPr/>
        </p:nvCxnSpPr>
        <p:spPr>
          <a:xfrm>
            <a:off x="3024000" y="4910400"/>
            <a:ext cx="5820840" cy="360"/>
          </a:xfrm>
          <a:prstGeom prst="straightConnector1">
            <a:avLst/>
          </a:prstGeom>
          <a:ln w="9525">
            <a:solidFill>
              <a:srgbClr val="0386FC"/>
            </a:solidFill>
          </a:ln>
        </p:spPr>
      </p:cxnSp>
      <p:sp>
        <p:nvSpPr>
          <p:cNvPr id="268" name="Google Shape;321;p35"/>
          <p:cNvSpPr/>
          <p:nvPr/>
        </p:nvSpPr>
        <p:spPr>
          <a:xfrm>
            <a:off x="6400080" y="5641200"/>
            <a:ext cx="72324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Manrope ExtraBold"/>
              </a:rPr>
              <a:t>Linux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269" name="Google Shape;321;p35"/>
          <p:cNvSpPr/>
          <p:nvPr/>
        </p:nvSpPr>
        <p:spPr>
          <a:xfrm>
            <a:off x="7282800" y="5641200"/>
            <a:ext cx="117540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АСМОграф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270" name="Google Shape;321;p35"/>
          <p:cNvSpPr/>
          <p:nvPr/>
        </p:nvSpPr>
        <p:spPr>
          <a:xfrm>
            <a:off x="3326040" y="5641200"/>
            <a:ext cx="108072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nanoCAD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271" name="Google Shape;321;p35"/>
          <p:cNvSpPr/>
          <p:nvPr/>
        </p:nvSpPr>
        <p:spPr>
          <a:xfrm>
            <a:off x="4566240" y="5641200"/>
            <a:ext cx="167472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Model Studio CS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272" name="Прямоугольник: скругленные углы 8"/>
          <p:cNvSpPr/>
          <p:nvPr/>
        </p:nvSpPr>
        <p:spPr>
          <a:xfrm>
            <a:off x="675000" y="1599480"/>
            <a:ext cx="3414240" cy="258048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73" name="Прямоугольник: скругленные углы 10"/>
          <p:cNvSpPr/>
          <p:nvPr/>
        </p:nvSpPr>
        <p:spPr>
          <a:xfrm>
            <a:off x="8335080" y="1599480"/>
            <a:ext cx="3414240" cy="258048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74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275" name="Прямая со стрелкой 12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276" name="TextBox 13"/>
          <p:cNvSpPr/>
          <p:nvPr/>
        </p:nvSpPr>
        <p:spPr>
          <a:xfrm>
            <a:off x="696960" y="2855520"/>
            <a:ext cx="3369960" cy="95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В нашем учебном центре,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на вашей территории или онлайн,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с учетом специфики проектов и технологий компании.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77" name="TextBox 15"/>
          <p:cNvSpPr/>
          <p:nvPr/>
        </p:nvSpPr>
        <p:spPr>
          <a:xfrm>
            <a:off x="8384040" y="2844360"/>
            <a:ext cx="3316320" cy="11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Доступ к видеоурокам и тестам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для самостоятельного изучения,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что помогает быстро обучать сотрудников и оптимизировать затраты.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78" name="TextBox 16"/>
          <p:cNvSpPr/>
          <p:nvPr/>
        </p:nvSpPr>
        <p:spPr>
          <a:xfrm>
            <a:off x="891720" y="1919520"/>
            <a:ext cx="299448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Корпоративное обучение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79" name="TextBox 17"/>
          <p:cNvSpPr/>
          <p:nvPr/>
        </p:nvSpPr>
        <p:spPr>
          <a:xfrm>
            <a:off x="4527360" y="1932840"/>
            <a:ext cx="336996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Потоковое обучение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80" name="TextBox 18"/>
          <p:cNvSpPr/>
          <p:nvPr/>
        </p:nvSpPr>
        <p:spPr>
          <a:xfrm>
            <a:off x="8903520" y="1932840"/>
            <a:ext cx="22777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ru-RU" sz="1400" b="0" u="none" strike="noStrike">
                <a:solidFill>
                  <a:srgbClr val="0386FC"/>
                </a:solidFill>
                <a:effectLst/>
                <a:uFillTx/>
                <a:latin typeface="Manrope ExtraBold"/>
              </a:rPr>
              <a:t>Онлайн-обучение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66" name="Google Shape;321;p35"/>
          <p:cNvSpPr/>
          <p:nvPr/>
        </p:nvSpPr>
        <p:spPr>
          <a:xfrm>
            <a:off x="696960" y="4685760"/>
            <a:ext cx="2327040" cy="449280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Запишитесь на обучение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81" name="Google Shape;321;p35"/>
          <p:cNvSpPr/>
          <p:nvPr/>
        </p:nvSpPr>
        <p:spPr>
          <a:xfrm>
            <a:off x="3711960" y="4685760"/>
            <a:ext cx="1721520" cy="449280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Получите доступ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82" name="Google Shape;321;p35"/>
          <p:cNvSpPr/>
          <p:nvPr/>
        </p:nvSpPr>
        <p:spPr>
          <a:xfrm>
            <a:off x="6121080" y="4685760"/>
            <a:ext cx="2035440" cy="449280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Пройдите обучение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67" name="Google Shape;321;p35"/>
          <p:cNvSpPr/>
          <p:nvPr/>
        </p:nvSpPr>
        <p:spPr>
          <a:xfrm>
            <a:off x="8844480" y="4685760"/>
            <a:ext cx="2856240" cy="449280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Применяйте знания на практике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83" name="Прямоугольник: скругленные углы 27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84" name="Google Shape;321;p35"/>
          <p:cNvSpPr/>
          <p:nvPr/>
        </p:nvSpPr>
        <p:spPr>
          <a:xfrm>
            <a:off x="696960" y="5641200"/>
            <a:ext cx="246960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Обучаем работе в ПО: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285" name="Google Shape;126;p27"/>
          <p:cNvSpPr/>
          <p:nvPr/>
        </p:nvSpPr>
        <p:spPr>
          <a:xfrm>
            <a:off x="10168200" y="6337800"/>
            <a:ext cx="117396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200" b="0" u="sng" strike="noStrike">
                <a:solidFill>
                  <a:srgbClr val="0088FE"/>
                </a:solidFill>
                <a:effectLst/>
                <a:uFillTx/>
                <a:latin typeface="+mn-lt"/>
                <a:ea typeface="Manrope"/>
                <a:hlinkClick r:id="rId1"/>
              </a:rPr>
              <a:t>Записаться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200" b="0" u="sng" strike="noStrike">
                <a:solidFill>
                  <a:srgbClr val="0088FE"/>
                </a:solidFill>
                <a:effectLst/>
                <a:uFillTx/>
                <a:latin typeface="+mn-lt"/>
                <a:ea typeface="Manrope"/>
                <a:hlinkClick r:id="rId2"/>
              </a:rPr>
              <a:t>на обучение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286" name="Рисунок 42"/>
          <p:cNvSpPr/>
          <p:nvPr/>
        </p:nvSpPr>
        <p:spPr>
          <a:xfrm>
            <a:off x="10400760" y="5517000"/>
            <a:ext cx="682560" cy="680400"/>
          </a:xfrm>
          <a:prstGeom prst="roundRect">
            <a:avLst>
              <a:gd name="adj" fmla="val 9971"/>
            </a:avLst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ru-RU" sz="18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pic>
        <p:nvPicPr>
          <p:cNvPr id="287" name="Рисунок 2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4">
            <a:alphaModFix amt="70000"/>
          </a:blip>
          <a:srcRect l="0" t="70797" r="0" b="0"/>
          <a:stretch/>
        </p:blipFill>
        <p:spPr>
          <a:xfrm rot="5400000">
            <a:off x="-1804680" y="3560040"/>
            <a:ext cx="3885840" cy="275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8" name="Google Shape;9193;p66"/>
          <p:cNvSpPr/>
          <p:nvPr/>
        </p:nvSpPr>
        <p:spPr>
          <a:xfrm>
            <a:off x="9862200" y="2363040"/>
            <a:ext cx="360000" cy="358560"/>
          </a:xfrm>
          <a:custGeom>
            <a:avLst/>
            <a:gdLst>
              <a:gd name="textAreaLeft" fmla="*/ 0 w 360000"/>
              <a:gd name="textAreaRight" fmla="*/ 360360 w 360000"/>
              <a:gd name="textAreaTop" fmla="*/ 0 h 358560"/>
              <a:gd name="textAreaBottom" fmla="*/ 358920 h 358560"/>
            </a:gdLst>
            <a:ahLst/>
            <a:cxnLst/>
            <a:rect l="textAreaLeft" t="textAreaTop" r="textAreaRight" b="textAreaBottom"/>
            <a:pathLst>
              <a:path w="11348" h="11300">
                <a:moveTo>
                  <a:pt x="7752" y="846"/>
                </a:moveTo>
                <a:cubicBezTo>
                  <a:pt x="7978" y="846"/>
                  <a:pt x="8133" y="1025"/>
                  <a:pt x="8133" y="1239"/>
                </a:cubicBezTo>
                <a:lnTo>
                  <a:pt x="8133" y="4001"/>
                </a:lnTo>
                <a:lnTo>
                  <a:pt x="4252" y="4001"/>
                </a:lnTo>
                <a:cubicBezTo>
                  <a:pt x="3763" y="4001"/>
                  <a:pt x="3359" y="4406"/>
                  <a:pt x="3359" y="4894"/>
                </a:cubicBezTo>
                <a:lnTo>
                  <a:pt x="3359" y="4990"/>
                </a:lnTo>
                <a:lnTo>
                  <a:pt x="1168" y="4990"/>
                </a:lnTo>
                <a:lnTo>
                  <a:pt x="1168" y="5001"/>
                </a:lnTo>
                <a:cubicBezTo>
                  <a:pt x="942" y="5001"/>
                  <a:pt x="787" y="4823"/>
                  <a:pt x="787" y="4609"/>
                </a:cubicBezTo>
                <a:lnTo>
                  <a:pt x="787" y="1239"/>
                </a:lnTo>
                <a:cubicBezTo>
                  <a:pt x="787" y="1013"/>
                  <a:pt x="965" y="846"/>
                  <a:pt x="1168" y="846"/>
                </a:cubicBezTo>
                <a:close/>
                <a:moveTo>
                  <a:pt x="3370" y="6621"/>
                </a:moveTo>
                <a:lnTo>
                  <a:pt x="3370" y="6978"/>
                </a:lnTo>
                <a:lnTo>
                  <a:pt x="3180" y="6978"/>
                </a:lnTo>
                <a:lnTo>
                  <a:pt x="3370" y="6621"/>
                </a:lnTo>
                <a:close/>
                <a:moveTo>
                  <a:pt x="3382" y="7335"/>
                </a:moveTo>
                <a:lnTo>
                  <a:pt x="3382" y="7490"/>
                </a:lnTo>
                <a:lnTo>
                  <a:pt x="2644" y="7490"/>
                </a:lnTo>
                <a:cubicBezTo>
                  <a:pt x="2597" y="7490"/>
                  <a:pt x="2573" y="7454"/>
                  <a:pt x="2573" y="7407"/>
                </a:cubicBezTo>
                <a:cubicBezTo>
                  <a:pt x="2573" y="7383"/>
                  <a:pt x="2585" y="7371"/>
                  <a:pt x="2597" y="7347"/>
                </a:cubicBezTo>
                <a:cubicBezTo>
                  <a:pt x="2620" y="7335"/>
                  <a:pt x="2632" y="7335"/>
                  <a:pt x="2656" y="7335"/>
                </a:cubicBezTo>
                <a:close/>
                <a:moveTo>
                  <a:pt x="8966" y="8276"/>
                </a:moveTo>
                <a:cubicBezTo>
                  <a:pt x="9062" y="8276"/>
                  <a:pt x="9133" y="8347"/>
                  <a:pt x="9133" y="8442"/>
                </a:cubicBezTo>
                <a:lnTo>
                  <a:pt x="9133" y="8573"/>
                </a:lnTo>
                <a:cubicBezTo>
                  <a:pt x="9109" y="8573"/>
                  <a:pt x="9074" y="8561"/>
                  <a:pt x="9038" y="8561"/>
                </a:cubicBezTo>
                <a:lnTo>
                  <a:pt x="7454" y="8561"/>
                </a:lnTo>
                <a:cubicBezTo>
                  <a:pt x="7419" y="8561"/>
                  <a:pt x="7395" y="8561"/>
                  <a:pt x="7359" y="8573"/>
                </a:cubicBezTo>
                <a:lnTo>
                  <a:pt x="7359" y="8442"/>
                </a:lnTo>
                <a:cubicBezTo>
                  <a:pt x="7359" y="8347"/>
                  <a:pt x="7430" y="8276"/>
                  <a:pt x="7526" y="8276"/>
                </a:cubicBezTo>
                <a:close/>
                <a:moveTo>
                  <a:pt x="9883" y="4347"/>
                </a:moveTo>
                <a:cubicBezTo>
                  <a:pt x="10193" y="4347"/>
                  <a:pt x="10443" y="4597"/>
                  <a:pt x="10443" y="4906"/>
                </a:cubicBezTo>
                <a:lnTo>
                  <a:pt x="10443" y="9276"/>
                </a:lnTo>
                <a:lnTo>
                  <a:pt x="9478" y="9276"/>
                </a:lnTo>
                <a:lnTo>
                  <a:pt x="9478" y="9109"/>
                </a:lnTo>
                <a:lnTo>
                  <a:pt x="9764" y="9109"/>
                </a:lnTo>
                <a:cubicBezTo>
                  <a:pt x="10038" y="9109"/>
                  <a:pt x="10264" y="8883"/>
                  <a:pt x="10264" y="8597"/>
                </a:cubicBezTo>
                <a:lnTo>
                  <a:pt x="10264" y="5942"/>
                </a:lnTo>
                <a:cubicBezTo>
                  <a:pt x="10264" y="5847"/>
                  <a:pt x="10193" y="5775"/>
                  <a:pt x="10097" y="5775"/>
                </a:cubicBezTo>
                <a:cubicBezTo>
                  <a:pt x="10014" y="5775"/>
                  <a:pt x="9931" y="5847"/>
                  <a:pt x="9931" y="5942"/>
                </a:cubicBezTo>
                <a:lnTo>
                  <a:pt x="9931" y="8585"/>
                </a:lnTo>
                <a:cubicBezTo>
                  <a:pt x="9931" y="8680"/>
                  <a:pt x="9859" y="8752"/>
                  <a:pt x="9764" y="8752"/>
                </a:cubicBezTo>
                <a:lnTo>
                  <a:pt x="9478" y="8752"/>
                </a:lnTo>
                <a:lnTo>
                  <a:pt x="9478" y="8419"/>
                </a:lnTo>
                <a:cubicBezTo>
                  <a:pt x="9478" y="8157"/>
                  <a:pt x="9252" y="7918"/>
                  <a:pt x="8966" y="7918"/>
                </a:cubicBezTo>
                <a:lnTo>
                  <a:pt x="7526" y="7918"/>
                </a:lnTo>
                <a:cubicBezTo>
                  <a:pt x="7264" y="7918"/>
                  <a:pt x="7026" y="8145"/>
                  <a:pt x="7026" y="8419"/>
                </a:cubicBezTo>
                <a:lnTo>
                  <a:pt x="7026" y="8752"/>
                </a:lnTo>
                <a:lnTo>
                  <a:pt x="4382" y="8752"/>
                </a:lnTo>
                <a:cubicBezTo>
                  <a:pt x="4299" y="8752"/>
                  <a:pt x="4204" y="8680"/>
                  <a:pt x="4204" y="8585"/>
                </a:cubicBezTo>
                <a:lnTo>
                  <a:pt x="4204" y="5121"/>
                </a:lnTo>
                <a:cubicBezTo>
                  <a:pt x="4204" y="5025"/>
                  <a:pt x="4287" y="4942"/>
                  <a:pt x="4382" y="4942"/>
                </a:cubicBezTo>
                <a:lnTo>
                  <a:pt x="9740" y="4942"/>
                </a:lnTo>
                <a:cubicBezTo>
                  <a:pt x="9836" y="4942"/>
                  <a:pt x="9919" y="5013"/>
                  <a:pt x="9919" y="5121"/>
                </a:cubicBezTo>
                <a:lnTo>
                  <a:pt x="9919" y="5251"/>
                </a:lnTo>
                <a:cubicBezTo>
                  <a:pt x="9919" y="5347"/>
                  <a:pt x="10002" y="5418"/>
                  <a:pt x="10086" y="5418"/>
                </a:cubicBezTo>
                <a:cubicBezTo>
                  <a:pt x="10181" y="5418"/>
                  <a:pt x="10252" y="5347"/>
                  <a:pt x="10252" y="5251"/>
                </a:cubicBezTo>
                <a:lnTo>
                  <a:pt x="10252" y="5121"/>
                </a:lnTo>
                <a:cubicBezTo>
                  <a:pt x="10252" y="4835"/>
                  <a:pt x="10026" y="4609"/>
                  <a:pt x="9740" y="4609"/>
                </a:cubicBezTo>
                <a:lnTo>
                  <a:pt x="4382" y="4609"/>
                </a:lnTo>
                <a:cubicBezTo>
                  <a:pt x="4109" y="4609"/>
                  <a:pt x="3882" y="4835"/>
                  <a:pt x="3882" y="5121"/>
                </a:cubicBezTo>
                <a:lnTo>
                  <a:pt x="3882" y="8585"/>
                </a:lnTo>
                <a:cubicBezTo>
                  <a:pt x="3882" y="8871"/>
                  <a:pt x="4109" y="9097"/>
                  <a:pt x="4382" y="9097"/>
                </a:cubicBezTo>
                <a:lnTo>
                  <a:pt x="7026" y="9097"/>
                </a:lnTo>
                <a:lnTo>
                  <a:pt x="7026" y="9252"/>
                </a:lnTo>
                <a:lnTo>
                  <a:pt x="3716" y="9252"/>
                </a:lnTo>
                <a:lnTo>
                  <a:pt x="3716" y="4906"/>
                </a:lnTo>
                <a:cubicBezTo>
                  <a:pt x="3716" y="4597"/>
                  <a:pt x="3966" y="4347"/>
                  <a:pt x="4287" y="4347"/>
                </a:cubicBezTo>
                <a:close/>
                <a:moveTo>
                  <a:pt x="7038" y="9597"/>
                </a:moveTo>
                <a:lnTo>
                  <a:pt x="7038" y="10002"/>
                </a:lnTo>
                <a:lnTo>
                  <a:pt x="3549" y="10002"/>
                </a:lnTo>
                <a:cubicBezTo>
                  <a:pt x="3539" y="10003"/>
                  <a:pt x="3529" y="10004"/>
                  <a:pt x="3520" y="10004"/>
                </a:cubicBezTo>
                <a:cubicBezTo>
                  <a:pt x="3434" y="10004"/>
                  <a:pt x="3351" y="9959"/>
                  <a:pt x="3287" y="9895"/>
                </a:cubicBezTo>
                <a:cubicBezTo>
                  <a:pt x="3216" y="9823"/>
                  <a:pt x="3168" y="9716"/>
                  <a:pt x="3168" y="9609"/>
                </a:cubicBezTo>
                <a:cubicBezTo>
                  <a:pt x="3168" y="9597"/>
                  <a:pt x="3168" y="9597"/>
                  <a:pt x="3180" y="9597"/>
                </a:cubicBezTo>
                <a:close/>
                <a:moveTo>
                  <a:pt x="10990" y="9609"/>
                </a:moveTo>
                <a:lnTo>
                  <a:pt x="10990" y="9633"/>
                </a:lnTo>
                <a:cubicBezTo>
                  <a:pt x="10979" y="9835"/>
                  <a:pt x="10812" y="10014"/>
                  <a:pt x="10598" y="10014"/>
                </a:cubicBezTo>
                <a:lnTo>
                  <a:pt x="9478" y="10014"/>
                </a:lnTo>
                <a:lnTo>
                  <a:pt x="9478" y="9609"/>
                </a:lnTo>
                <a:close/>
                <a:moveTo>
                  <a:pt x="9050" y="8883"/>
                </a:moveTo>
                <a:cubicBezTo>
                  <a:pt x="9085" y="8883"/>
                  <a:pt x="9133" y="8931"/>
                  <a:pt x="9133" y="8978"/>
                </a:cubicBezTo>
                <a:lnTo>
                  <a:pt x="9133" y="10240"/>
                </a:lnTo>
                <a:cubicBezTo>
                  <a:pt x="9133" y="10288"/>
                  <a:pt x="9085" y="10324"/>
                  <a:pt x="9050" y="10324"/>
                </a:cubicBezTo>
                <a:lnTo>
                  <a:pt x="7454" y="10324"/>
                </a:lnTo>
                <a:cubicBezTo>
                  <a:pt x="7407" y="10324"/>
                  <a:pt x="7359" y="10288"/>
                  <a:pt x="7359" y="10240"/>
                </a:cubicBezTo>
                <a:lnTo>
                  <a:pt x="7359" y="10181"/>
                </a:lnTo>
                <a:lnTo>
                  <a:pt x="7359" y="8978"/>
                </a:lnTo>
                <a:cubicBezTo>
                  <a:pt x="7359" y="8931"/>
                  <a:pt x="7407" y="8883"/>
                  <a:pt x="7454" y="8883"/>
                </a:cubicBezTo>
                <a:close/>
                <a:moveTo>
                  <a:pt x="9133" y="10645"/>
                </a:moveTo>
                <a:lnTo>
                  <a:pt x="9133" y="10776"/>
                </a:lnTo>
                <a:cubicBezTo>
                  <a:pt x="9133" y="10859"/>
                  <a:pt x="9062" y="10943"/>
                  <a:pt x="8966" y="10943"/>
                </a:cubicBezTo>
                <a:lnTo>
                  <a:pt x="7526" y="10943"/>
                </a:lnTo>
                <a:cubicBezTo>
                  <a:pt x="7442" y="10943"/>
                  <a:pt x="7359" y="10859"/>
                  <a:pt x="7359" y="10776"/>
                </a:cubicBezTo>
                <a:lnTo>
                  <a:pt x="7359" y="10645"/>
                </a:lnTo>
                <a:cubicBezTo>
                  <a:pt x="7395" y="10645"/>
                  <a:pt x="7419" y="10657"/>
                  <a:pt x="7454" y="10657"/>
                </a:cubicBezTo>
                <a:lnTo>
                  <a:pt x="9050" y="10657"/>
                </a:lnTo>
                <a:cubicBezTo>
                  <a:pt x="9074" y="10657"/>
                  <a:pt x="9109" y="10657"/>
                  <a:pt x="9133" y="10645"/>
                </a:cubicBezTo>
                <a:close/>
                <a:moveTo>
                  <a:pt x="858" y="1"/>
                </a:moveTo>
                <a:cubicBezTo>
                  <a:pt x="382" y="1"/>
                  <a:pt x="1" y="382"/>
                  <a:pt x="1" y="858"/>
                </a:cubicBezTo>
                <a:lnTo>
                  <a:pt x="1" y="5561"/>
                </a:lnTo>
                <a:cubicBezTo>
                  <a:pt x="1" y="6037"/>
                  <a:pt x="382" y="6430"/>
                  <a:pt x="858" y="6430"/>
                </a:cubicBezTo>
                <a:lnTo>
                  <a:pt x="1334" y="6430"/>
                </a:lnTo>
                <a:cubicBezTo>
                  <a:pt x="1430" y="6430"/>
                  <a:pt x="1501" y="6359"/>
                  <a:pt x="1501" y="6264"/>
                </a:cubicBezTo>
                <a:cubicBezTo>
                  <a:pt x="1501" y="6180"/>
                  <a:pt x="1430" y="6097"/>
                  <a:pt x="1334" y="6097"/>
                </a:cubicBezTo>
                <a:lnTo>
                  <a:pt x="858" y="6097"/>
                </a:lnTo>
                <a:cubicBezTo>
                  <a:pt x="572" y="6097"/>
                  <a:pt x="334" y="5859"/>
                  <a:pt x="334" y="5585"/>
                </a:cubicBezTo>
                <a:lnTo>
                  <a:pt x="334" y="882"/>
                </a:lnTo>
                <a:cubicBezTo>
                  <a:pt x="334" y="596"/>
                  <a:pt x="572" y="358"/>
                  <a:pt x="858" y="358"/>
                </a:cubicBezTo>
                <a:lnTo>
                  <a:pt x="8062" y="358"/>
                </a:lnTo>
                <a:cubicBezTo>
                  <a:pt x="8347" y="358"/>
                  <a:pt x="8585" y="596"/>
                  <a:pt x="8585" y="882"/>
                </a:cubicBezTo>
                <a:lnTo>
                  <a:pt x="8585" y="4001"/>
                </a:lnTo>
                <a:lnTo>
                  <a:pt x="8478" y="4001"/>
                </a:lnTo>
                <a:lnTo>
                  <a:pt x="8478" y="1215"/>
                </a:lnTo>
                <a:cubicBezTo>
                  <a:pt x="8478" y="822"/>
                  <a:pt x="8157" y="489"/>
                  <a:pt x="7752" y="489"/>
                </a:cubicBezTo>
                <a:lnTo>
                  <a:pt x="1168" y="489"/>
                </a:lnTo>
                <a:cubicBezTo>
                  <a:pt x="775" y="489"/>
                  <a:pt x="442" y="822"/>
                  <a:pt x="442" y="1215"/>
                </a:cubicBezTo>
                <a:lnTo>
                  <a:pt x="442" y="4597"/>
                </a:lnTo>
                <a:cubicBezTo>
                  <a:pt x="442" y="5001"/>
                  <a:pt x="775" y="5323"/>
                  <a:pt x="1168" y="5323"/>
                </a:cubicBezTo>
                <a:lnTo>
                  <a:pt x="3370" y="5323"/>
                </a:lnTo>
                <a:lnTo>
                  <a:pt x="3370" y="6085"/>
                </a:lnTo>
                <a:lnTo>
                  <a:pt x="2001" y="6085"/>
                </a:lnTo>
                <a:cubicBezTo>
                  <a:pt x="1918" y="6085"/>
                  <a:pt x="1846" y="6156"/>
                  <a:pt x="1846" y="6252"/>
                </a:cubicBezTo>
                <a:cubicBezTo>
                  <a:pt x="1846" y="6335"/>
                  <a:pt x="1918" y="6418"/>
                  <a:pt x="2001" y="6418"/>
                </a:cubicBezTo>
                <a:lnTo>
                  <a:pt x="3109" y="6418"/>
                </a:lnTo>
                <a:lnTo>
                  <a:pt x="2811" y="6978"/>
                </a:lnTo>
                <a:lnTo>
                  <a:pt x="2656" y="6978"/>
                </a:lnTo>
                <a:cubicBezTo>
                  <a:pt x="2561" y="6978"/>
                  <a:pt x="2454" y="7026"/>
                  <a:pt x="2358" y="7097"/>
                </a:cubicBezTo>
                <a:cubicBezTo>
                  <a:pt x="2287" y="7168"/>
                  <a:pt x="2239" y="7276"/>
                  <a:pt x="2239" y="7395"/>
                </a:cubicBezTo>
                <a:cubicBezTo>
                  <a:pt x="2239" y="7621"/>
                  <a:pt x="2418" y="7811"/>
                  <a:pt x="2656" y="7811"/>
                </a:cubicBezTo>
                <a:lnTo>
                  <a:pt x="3394" y="7811"/>
                </a:lnTo>
                <a:lnTo>
                  <a:pt x="3394" y="9276"/>
                </a:lnTo>
                <a:lnTo>
                  <a:pt x="3192" y="9276"/>
                </a:lnTo>
                <a:cubicBezTo>
                  <a:pt x="3001" y="9276"/>
                  <a:pt x="2835" y="9431"/>
                  <a:pt x="2835" y="9633"/>
                </a:cubicBezTo>
                <a:cubicBezTo>
                  <a:pt x="2835" y="9823"/>
                  <a:pt x="2918" y="10002"/>
                  <a:pt x="3049" y="10145"/>
                </a:cubicBezTo>
                <a:cubicBezTo>
                  <a:pt x="3180" y="10288"/>
                  <a:pt x="3370" y="10359"/>
                  <a:pt x="3573" y="10359"/>
                </a:cubicBezTo>
                <a:lnTo>
                  <a:pt x="7049" y="10359"/>
                </a:lnTo>
                <a:lnTo>
                  <a:pt x="7049" y="10788"/>
                </a:lnTo>
                <a:cubicBezTo>
                  <a:pt x="7049" y="11062"/>
                  <a:pt x="7276" y="11300"/>
                  <a:pt x="7550" y="11300"/>
                </a:cubicBezTo>
                <a:lnTo>
                  <a:pt x="9002" y="11300"/>
                </a:lnTo>
                <a:cubicBezTo>
                  <a:pt x="9264" y="11300"/>
                  <a:pt x="9502" y="11074"/>
                  <a:pt x="9502" y="10788"/>
                </a:cubicBezTo>
                <a:lnTo>
                  <a:pt x="9502" y="10359"/>
                </a:lnTo>
                <a:lnTo>
                  <a:pt x="10621" y="10359"/>
                </a:lnTo>
                <a:cubicBezTo>
                  <a:pt x="11026" y="10359"/>
                  <a:pt x="11348" y="10026"/>
                  <a:pt x="11348" y="9633"/>
                </a:cubicBezTo>
                <a:cubicBezTo>
                  <a:pt x="11324" y="9526"/>
                  <a:pt x="11276" y="9431"/>
                  <a:pt x="11217" y="9371"/>
                </a:cubicBezTo>
                <a:cubicBezTo>
                  <a:pt x="11157" y="9312"/>
                  <a:pt x="11074" y="9276"/>
                  <a:pt x="10967" y="9276"/>
                </a:cubicBezTo>
                <a:lnTo>
                  <a:pt x="10776" y="9276"/>
                </a:lnTo>
                <a:lnTo>
                  <a:pt x="10776" y="4906"/>
                </a:lnTo>
                <a:cubicBezTo>
                  <a:pt x="10776" y="4418"/>
                  <a:pt x="10371" y="4013"/>
                  <a:pt x="9883" y="4013"/>
                </a:cubicBezTo>
                <a:lnTo>
                  <a:pt x="8931" y="4013"/>
                </a:lnTo>
                <a:lnTo>
                  <a:pt x="8931" y="858"/>
                </a:lnTo>
                <a:cubicBezTo>
                  <a:pt x="8931" y="382"/>
                  <a:pt x="8538" y="1"/>
                  <a:pt x="8062" y="1"/>
                </a:cubicBezTo>
                <a:close/>
              </a:path>
            </a:pathLst>
          </a:cu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289" name="Google Shape;9317;p66"/>
          <p:cNvSpPr/>
          <p:nvPr/>
        </p:nvSpPr>
        <p:spPr>
          <a:xfrm>
            <a:off x="2210760" y="2378520"/>
            <a:ext cx="343080" cy="343080"/>
          </a:xfrm>
          <a:custGeom>
            <a:avLst/>
            <a:gdLst>
              <a:gd name="textAreaLeft" fmla="*/ 0 w 343080"/>
              <a:gd name="textAreaRight" fmla="*/ 343440 w 343080"/>
              <a:gd name="textAreaTop" fmla="*/ 0 h 343080"/>
              <a:gd name="textAreaBottom" fmla="*/ 343440 h 343080"/>
            </a:gdLst>
            <a:ahLst/>
            <a:cxnLst/>
            <a:rect l="textAreaLeft" t="textAreaTop" r="textAreaRight" b="textAreaBottom"/>
            <a:pathLst>
              <a:path w="10812" h="10811">
                <a:moveTo>
                  <a:pt x="2769" y="2858"/>
                </a:moveTo>
                <a:cubicBezTo>
                  <a:pt x="2830" y="2858"/>
                  <a:pt x="2892" y="2866"/>
                  <a:pt x="2954" y="2881"/>
                </a:cubicBezTo>
                <a:cubicBezTo>
                  <a:pt x="3251" y="2941"/>
                  <a:pt x="3489" y="3191"/>
                  <a:pt x="3549" y="3489"/>
                </a:cubicBezTo>
                <a:cubicBezTo>
                  <a:pt x="3608" y="3774"/>
                  <a:pt x="3501" y="4036"/>
                  <a:pt x="3275" y="4227"/>
                </a:cubicBezTo>
                <a:cubicBezTo>
                  <a:pt x="3132" y="4346"/>
                  <a:pt x="3037" y="4548"/>
                  <a:pt x="3037" y="4739"/>
                </a:cubicBezTo>
                <a:lnTo>
                  <a:pt x="3037" y="5084"/>
                </a:lnTo>
                <a:cubicBezTo>
                  <a:pt x="3037" y="5346"/>
                  <a:pt x="3263" y="5572"/>
                  <a:pt x="3525" y="5572"/>
                </a:cubicBezTo>
                <a:lnTo>
                  <a:pt x="5228" y="5572"/>
                </a:lnTo>
                <a:lnTo>
                  <a:pt x="5228" y="7263"/>
                </a:lnTo>
                <a:cubicBezTo>
                  <a:pt x="5228" y="7370"/>
                  <a:pt x="5156" y="7441"/>
                  <a:pt x="5049" y="7441"/>
                </a:cubicBezTo>
                <a:lnTo>
                  <a:pt x="4704" y="7441"/>
                </a:lnTo>
                <a:cubicBezTo>
                  <a:pt x="4597" y="7441"/>
                  <a:pt x="4513" y="7406"/>
                  <a:pt x="4442" y="7322"/>
                </a:cubicBezTo>
                <a:cubicBezTo>
                  <a:pt x="4225" y="7076"/>
                  <a:pt x="3925" y="6935"/>
                  <a:pt x="3599" y="6935"/>
                </a:cubicBezTo>
                <a:cubicBezTo>
                  <a:pt x="3532" y="6935"/>
                  <a:pt x="3463" y="6941"/>
                  <a:pt x="3394" y="6953"/>
                </a:cubicBezTo>
                <a:cubicBezTo>
                  <a:pt x="2965" y="7025"/>
                  <a:pt x="2620" y="7370"/>
                  <a:pt x="2537" y="7787"/>
                </a:cubicBezTo>
                <a:cubicBezTo>
                  <a:pt x="2453" y="8120"/>
                  <a:pt x="2549" y="8454"/>
                  <a:pt x="2751" y="8715"/>
                </a:cubicBezTo>
                <a:cubicBezTo>
                  <a:pt x="2965" y="8965"/>
                  <a:pt x="3275" y="9108"/>
                  <a:pt x="3608" y="9108"/>
                </a:cubicBezTo>
                <a:cubicBezTo>
                  <a:pt x="3930" y="9108"/>
                  <a:pt x="4227" y="8965"/>
                  <a:pt x="4442" y="8715"/>
                </a:cubicBezTo>
                <a:cubicBezTo>
                  <a:pt x="4501" y="8632"/>
                  <a:pt x="4585" y="8608"/>
                  <a:pt x="4692" y="8608"/>
                </a:cubicBezTo>
                <a:lnTo>
                  <a:pt x="5037" y="8608"/>
                </a:lnTo>
                <a:cubicBezTo>
                  <a:pt x="5132" y="8608"/>
                  <a:pt x="5216" y="8680"/>
                  <a:pt x="5216" y="8787"/>
                </a:cubicBezTo>
                <a:lnTo>
                  <a:pt x="5216" y="10501"/>
                </a:lnTo>
                <a:lnTo>
                  <a:pt x="846" y="10501"/>
                </a:lnTo>
                <a:cubicBezTo>
                  <a:pt x="572" y="10501"/>
                  <a:pt x="334" y="10263"/>
                  <a:pt x="334" y="9977"/>
                </a:cubicBezTo>
                <a:lnTo>
                  <a:pt x="334" y="5572"/>
                </a:lnTo>
                <a:lnTo>
                  <a:pt x="2025" y="5572"/>
                </a:lnTo>
                <a:cubicBezTo>
                  <a:pt x="2299" y="5572"/>
                  <a:pt x="2513" y="5346"/>
                  <a:pt x="2513" y="5084"/>
                </a:cubicBezTo>
                <a:lnTo>
                  <a:pt x="2513" y="4727"/>
                </a:lnTo>
                <a:cubicBezTo>
                  <a:pt x="2513" y="4513"/>
                  <a:pt x="2430" y="4334"/>
                  <a:pt x="2299" y="4215"/>
                </a:cubicBezTo>
                <a:cubicBezTo>
                  <a:pt x="2120" y="4072"/>
                  <a:pt x="2013" y="3858"/>
                  <a:pt x="2013" y="3620"/>
                </a:cubicBezTo>
                <a:cubicBezTo>
                  <a:pt x="2013" y="3381"/>
                  <a:pt x="2120" y="3179"/>
                  <a:pt x="2299" y="3024"/>
                </a:cubicBezTo>
                <a:cubicBezTo>
                  <a:pt x="2431" y="2919"/>
                  <a:pt x="2596" y="2858"/>
                  <a:pt x="2769" y="2858"/>
                </a:cubicBezTo>
                <a:close/>
                <a:moveTo>
                  <a:pt x="10014" y="298"/>
                </a:moveTo>
                <a:cubicBezTo>
                  <a:pt x="10300" y="298"/>
                  <a:pt x="10538" y="536"/>
                  <a:pt x="10538" y="822"/>
                </a:cubicBezTo>
                <a:lnTo>
                  <a:pt x="10538" y="5239"/>
                </a:lnTo>
                <a:lnTo>
                  <a:pt x="10312" y="5239"/>
                </a:lnTo>
                <a:cubicBezTo>
                  <a:pt x="10228" y="5239"/>
                  <a:pt x="10157" y="5322"/>
                  <a:pt x="10157" y="5406"/>
                </a:cubicBezTo>
                <a:cubicBezTo>
                  <a:pt x="10157" y="5501"/>
                  <a:pt x="10228" y="5572"/>
                  <a:pt x="10312" y="5572"/>
                </a:cubicBezTo>
                <a:lnTo>
                  <a:pt x="10490" y="5572"/>
                </a:lnTo>
                <a:lnTo>
                  <a:pt x="10490" y="9977"/>
                </a:lnTo>
                <a:cubicBezTo>
                  <a:pt x="10490" y="10263"/>
                  <a:pt x="10252" y="10501"/>
                  <a:pt x="9978" y="10501"/>
                </a:cubicBezTo>
                <a:lnTo>
                  <a:pt x="5573" y="10501"/>
                </a:lnTo>
                <a:lnTo>
                  <a:pt x="5573" y="8799"/>
                </a:lnTo>
                <a:cubicBezTo>
                  <a:pt x="5573" y="8537"/>
                  <a:pt x="5347" y="8311"/>
                  <a:pt x="5073" y="8311"/>
                </a:cubicBezTo>
                <a:lnTo>
                  <a:pt x="4739" y="8311"/>
                </a:lnTo>
                <a:cubicBezTo>
                  <a:pt x="4525" y="8311"/>
                  <a:pt x="4347" y="8394"/>
                  <a:pt x="4227" y="8537"/>
                </a:cubicBezTo>
                <a:cubicBezTo>
                  <a:pt x="4085" y="8715"/>
                  <a:pt x="3870" y="8811"/>
                  <a:pt x="3632" y="8811"/>
                </a:cubicBezTo>
                <a:cubicBezTo>
                  <a:pt x="3394" y="8811"/>
                  <a:pt x="3192" y="8715"/>
                  <a:pt x="3037" y="8537"/>
                </a:cubicBezTo>
                <a:cubicBezTo>
                  <a:pt x="2894" y="8358"/>
                  <a:pt x="2834" y="8120"/>
                  <a:pt x="2894" y="7882"/>
                </a:cubicBezTo>
                <a:cubicBezTo>
                  <a:pt x="2954" y="7584"/>
                  <a:pt x="3204" y="7346"/>
                  <a:pt x="3501" y="7287"/>
                </a:cubicBezTo>
                <a:cubicBezTo>
                  <a:pt x="3557" y="7275"/>
                  <a:pt x="3612" y="7269"/>
                  <a:pt x="3665" y="7269"/>
                </a:cubicBezTo>
                <a:cubicBezTo>
                  <a:pt x="3887" y="7269"/>
                  <a:pt x="4086" y="7367"/>
                  <a:pt x="4239" y="7549"/>
                </a:cubicBezTo>
                <a:cubicBezTo>
                  <a:pt x="4358" y="7703"/>
                  <a:pt x="4561" y="7787"/>
                  <a:pt x="4751" y="7787"/>
                </a:cubicBezTo>
                <a:lnTo>
                  <a:pt x="5097" y="7787"/>
                </a:lnTo>
                <a:cubicBezTo>
                  <a:pt x="5359" y="7787"/>
                  <a:pt x="5585" y="7561"/>
                  <a:pt x="5585" y="7299"/>
                </a:cubicBezTo>
                <a:lnTo>
                  <a:pt x="5585" y="5596"/>
                </a:lnTo>
                <a:lnTo>
                  <a:pt x="7275" y="5596"/>
                </a:lnTo>
                <a:cubicBezTo>
                  <a:pt x="7383" y="5596"/>
                  <a:pt x="7454" y="5679"/>
                  <a:pt x="7454" y="5775"/>
                </a:cubicBezTo>
                <a:lnTo>
                  <a:pt x="7454" y="6120"/>
                </a:lnTo>
                <a:cubicBezTo>
                  <a:pt x="7454" y="6227"/>
                  <a:pt x="7418" y="6310"/>
                  <a:pt x="7335" y="6394"/>
                </a:cubicBezTo>
                <a:cubicBezTo>
                  <a:pt x="7037" y="6644"/>
                  <a:pt x="6894" y="7025"/>
                  <a:pt x="6966" y="7430"/>
                </a:cubicBezTo>
                <a:cubicBezTo>
                  <a:pt x="7037" y="7858"/>
                  <a:pt x="7383" y="8203"/>
                  <a:pt x="7799" y="8299"/>
                </a:cubicBezTo>
                <a:cubicBezTo>
                  <a:pt x="7871" y="8311"/>
                  <a:pt x="7954" y="8323"/>
                  <a:pt x="8037" y="8323"/>
                </a:cubicBezTo>
                <a:cubicBezTo>
                  <a:pt x="8288" y="8323"/>
                  <a:pt x="8526" y="8239"/>
                  <a:pt x="8728" y="8084"/>
                </a:cubicBezTo>
                <a:cubicBezTo>
                  <a:pt x="8978" y="7882"/>
                  <a:pt x="9121" y="7561"/>
                  <a:pt x="9121" y="7239"/>
                </a:cubicBezTo>
                <a:cubicBezTo>
                  <a:pt x="9121" y="6906"/>
                  <a:pt x="8978" y="6608"/>
                  <a:pt x="8728" y="6406"/>
                </a:cubicBezTo>
                <a:cubicBezTo>
                  <a:pt x="8645" y="6346"/>
                  <a:pt x="8621" y="6251"/>
                  <a:pt x="8621" y="6132"/>
                </a:cubicBezTo>
                <a:lnTo>
                  <a:pt x="8621" y="5798"/>
                </a:lnTo>
                <a:cubicBezTo>
                  <a:pt x="8621" y="5691"/>
                  <a:pt x="8692" y="5620"/>
                  <a:pt x="8799" y="5620"/>
                </a:cubicBezTo>
                <a:lnTo>
                  <a:pt x="9645" y="5620"/>
                </a:lnTo>
                <a:cubicBezTo>
                  <a:pt x="9740" y="5620"/>
                  <a:pt x="9812" y="5536"/>
                  <a:pt x="9812" y="5453"/>
                </a:cubicBezTo>
                <a:cubicBezTo>
                  <a:pt x="9812" y="5358"/>
                  <a:pt x="9740" y="5286"/>
                  <a:pt x="9645" y="5286"/>
                </a:cubicBezTo>
                <a:lnTo>
                  <a:pt x="8799" y="5286"/>
                </a:lnTo>
                <a:cubicBezTo>
                  <a:pt x="8526" y="5286"/>
                  <a:pt x="8311" y="5513"/>
                  <a:pt x="8311" y="5775"/>
                </a:cubicBezTo>
                <a:lnTo>
                  <a:pt x="8311" y="6120"/>
                </a:lnTo>
                <a:cubicBezTo>
                  <a:pt x="8311" y="6334"/>
                  <a:pt x="8395" y="6513"/>
                  <a:pt x="8526" y="6632"/>
                </a:cubicBezTo>
                <a:cubicBezTo>
                  <a:pt x="8704" y="6775"/>
                  <a:pt x="8811" y="6989"/>
                  <a:pt x="8811" y="7227"/>
                </a:cubicBezTo>
                <a:cubicBezTo>
                  <a:pt x="8811" y="7465"/>
                  <a:pt x="8704" y="7668"/>
                  <a:pt x="8526" y="7822"/>
                </a:cubicBezTo>
                <a:cubicBezTo>
                  <a:pt x="8394" y="7928"/>
                  <a:pt x="8229" y="7988"/>
                  <a:pt x="8056" y="7988"/>
                </a:cubicBezTo>
                <a:cubicBezTo>
                  <a:pt x="7995" y="7988"/>
                  <a:pt x="7933" y="7981"/>
                  <a:pt x="7871" y="7965"/>
                </a:cubicBezTo>
                <a:cubicBezTo>
                  <a:pt x="7573" y="7906"/>
                  <a:pt x="7335" y="7656"/>
                  <a:pt x="7275" y="7358"/>
                </a:cubicBezTo>
                <a:cubicBezTo>
                  <a:pt x="7216" y="7072"/>
                  <a:pt x="7323" y="6810"/>
                  <a:pt x="7549" y="6608"/>
                </a:cubicBezTo>
                <a:cubicBezTo>
                  <a:pt x="7692" y="6489"/>
                  <a:pt x="7787" y="6298"/>
                  <a:pt x="7787" y="6108"/>
                </a:cubicBezTo>
                <a:lnTo>
                  <a:pt x="7787" y="5763"/>
                </a:lnTo>
                <a:cubicBezTo>
                  <a:pt x="7787" y="5501"/>
                  <a:pt x="7561" y="5275"/>
                  <a:pt x="7287" y="5275"/>
                </a:cubicBezTo>
                <a:lnTo>
                  <a:pt x="5597" y="5275"/>
                </a:lnTo>
                <a:lnTo>
                  <a:pt x="5597" y="3572"/>
                </a:lnTo>
                <a:cubicBezTo>
                  <a:pt x="5597" y="3477"/>
                  <a:pt x="5668" y="3393"/>
                  <a:pt x="5775" y="3393"/>
                </a:cubicBezTo>
                <a:lnTo>
                  <a:pt x="6121" y="3393"/>
                </a:lnTo>
                <a:cubicBezTo>
                  <a:pt x="6216" y="3393"/>
                  <a:pt x="6311" y="3441"/>
                  <a:pt x="6383" y="3512"/>
                </a:cubicBezTo>
                <a:cubicBezTo>
                  <a:pt x="6592" y="3762"/>
                  <a:pt x="6901" y="3911"/>
                  <a:pt x="7234" y="3911"/>
                </a:cubicBezTo>
                <a:cubicBezTo>
                  <a:pt x="7299" y="3911"/>
                  <a:pt x="7364" y="3905"/>
                  <a:pt x="7430" y="3893"/>
                </a:cubicBezTo>
                <a:cubicBezTo>
                  <a:pt x="7859" y="3810"/>
                  <a:pt x="8204" y="3477"/>
                  <a:pt x="8288" y="3060"/>
                </a:cubicBezTo>
                <a:cubicBezTo>
                  <a:pt x="8359" y="2727"/>
                  <a:pt x="8276" y="2381"/>
                  <a:pt x="8061" y="2131"/>
                </a:cubicBezTo>
                <a:cubicBezTo>
                  <a:pt x="7859" y="1881"/>
                  <a:pt x="7549" y="1726"/>
                  <a:pt x="7216" y="1726"/>
                </a:cubicBezTo>
                <a:cubicBezTo>
                  <a:pt x="6894" y="1726"/>
                  <a:pt x="6597" y="1881"/>
                  <a:pt x="6383" y="2131"/>
                </a:cubicBezTo>
                <a:cubicBezTo>
                  <a:pt x="6323" y="2203"/>
                  <a:pt x="6240" y="2238"/>
                  <a:pt x="6132" y="2238"/>
                </a:cubicBezTo>
                <a:lnTo>
                  <a:pt x="5787" y="2238"/>
                </a:lnTo>
                <a:cubicBezTo>
                  <a:pt x="5680" y="2238"/>
                  <a:pt x="5609" y="2167"/>
                  <a:pt x="5609" y="2060"/>
                </a:cubicBezTo>
                <a:lnTo>
                  <a:pt x="5609" y="1215"/>
                </a:lnTo>
                <a:cubicBezTo>
                  <a:pt x="5609" y="1119"/>
                  <a:pt x="5537" y="1048"/>
                  <a:pt x="5442" y="1048"/>
                </a:cubicBezTo>
                <a:cubicBezTo>
                  <a:pt x="5359" y="1048"/>
                  <a:pt x="5287" y="1119"/>
                  <a:pt x="5287" y="1215"/>
                </a:cubicBezTo>
                <a:lnTo>
                  <a:pt x="5287" y="2060"/>
                </a:lnTo>
                <a:cubicBezTo>
                  <a:pt x="5287" y="2322"/>
                  <a:pt x="5501" y="2548"/>
                  <a:pt x="5775" y="2548"/>
                </a:cubicBezTo>
                <a:lnTo>
                  <a:pt x="6121" y="2548"/>
                </a:lnTo>
                <a:cubicBezTo>
                  <a:pt x="6323" y="2548"/>
                  <a:pt x="6502" y="2465"/>
                  <a:pt x="6621" y="2322"/>
                </a:cubicBezTo>
                <a:cubicBezTo>
                  <a:pt x="6775" y="2143"/>
                  <a:pt x="6978" y="2048"/>
                  <a:pt x="7216" y="2048"/>
                </a:cubicBezTo>
                <a:cubicBezTo>
                  <a:pt x="7454" y="2048"/>
                  <a:pt x="7668" y="2143"/>
                  <a:pt x="7811" y="2322"/>
                </a:cubicBezTo>
                <a:cubicBezTo>
                  <a:pt x="7966" y="2500"/>
                  <a:pt x="8026" y="2739"/>
                  <a:pt x="7966" y="2977"/>
                </a:cubicBezTo>
                <a:cubicBezTo>
                  <a:pt x="7907" y="3274"/>
                  <a:pt x="7656" y="3512"/>
                  <a:pt x="7359" y="3572"/>
                </a:cubicBezTo>
                <a:cubicBezTo>
                  <a:pt x="7303" y="3584"/>
                  <a:pt x="7248" y="3589"/>
                  <a:pt x="7193" y="3589"/>
                </a:cubicBezTo>
                <a:cubicBezTo>
                  <a:pt x="6969" y="3589"/>
                  <a:pt x="6762" y="3492"/>
                  <a:pt x="6609" y="3310"/>
                </a:cubicBezTo>
                <a:cubicBezTo>
                  <a:pt x="6490" y="3155"/>
                  <a:pt x="6299" y="3072"/>
                  <a:pt x="6097" y="3072"/>
                </a:cubicBezTo>
                <a:lnTo>
                  <a:pt x="5763" y="3072"/>
                </a:lnTo>
                <a:cubicBezTo>
                  <a:pt x="5490" y="3072"/>
                  <a:pt x="5275" y="3298"/>
                  <a:pt x="5275" y="3560"/>
                </a:cubicBezTo>
                <a:lnTo>
                  <a:pt x="5275" y="5263"/>
                </a:lnTo>
                <a:lnTo>
                  <a:pt x="3573" y="5263"/>
                </a:lnTo>
                <a:cubicBezTo>
                  <a:pt x="3465" y="5263"/>
                  <a:pt x="3394" y="5179"/>
                  <a:pt x="3394" y="5084"/>
                </a:cubicBezTo>
                <a:lnTo>
                  <a:pt x="3394" y="4727"/>
                </a:lnTo>
                <a:cubicBezTo>
                  <a:pt x="3394" y="4620"/>
                  <a:pt x="3442" y="4524"/>
                  <a:pt x="3513" y="4453"/>
                </a:cubicBezTo>
                <a:cubicBezTo>
                  <a:pt x="3811" y="4203"/>
                  <a:pt x="3954" y="3810"/>
                  <a:pt x="3882" y="3417"/>
                </a:cubicBezTo>
                <a:cubicBezTo>
                  <a:pt x="3811" y="2977"/>
                  <a:pt x="3465" y="2643"/>
                  <a:pt x="3049" y="2548"/>
                </a:cubicBezTo>
                <a:cubicBezTo>
                  <a:pt x="2973" y="2531"/>
                  <a:pt x="2896" y="2523"/>
                  <a:pt x="2820" y="2523"/>
                </a:cubicBezTo>
                <a:cubicBezTo>
                  <a:pt x="2570" y="2523"/>
                  <a:pt x="2323" y="2610"/>
                  <a:pt x="2132" y="2774"/>
                </a:cubicBezTo>
                <a:cubicBezTo>
                  <a:pt x="1870" y="2977"/>
                  <a:pt x="1727" y="3298"/>
                  <a:pt x="1727" y="3620"/>
                </a:cubicBezTo>
                <a:cubicBezTo>
                  <a:pt x="1727" y="3941"/>
                  <a:pt x="1870" y="4239"/>
                  <a:pt x="2132" y="4453"/>
                </a:cubicBezTo>
                <a:cubicBezTo>
                  <a:pt x="2203" y="4513"/>
                  <a:pt x="2227" y="4608"/>
                  <a:pt x="2227" y="4703"/>
                </a:cubicBezTo>
                <a:lnTo>
                  <a:pt x="2227" y="5048"/>
                </a:lnTo>
                <a:cubicBezTo>
                  <a:pt x="2227" y="5155"/>
                  <a:pt x="2156" y="5227"/>
                  <a:pt x="2049" y="5227"/>
                </a:cubicBezTo>
                <a:lnTo>
                  <a:pt x="358" y="5227"/>
                </a:lnTo>
                <a:lnTo>
                  <a:pt x="358" y="822"/>
                </a:lnTo>
                <a:cubicBezTo>
                  <a:pt x="358" y="536"/>
                  <a:pt x="596" y="298"/>
                  <a:pt x="882" y="298"/>
                </a:cubicBezTo>
                <a:lnTo>
                  <a:pt x="5287" y="298"/>
                </a:lnTo>
                <a:lnTo>
                  <a:pt x="5287" y="476"/>
                </a:lnTo>
                <a:cubicBezTo>
                  <a:pt x="5287" y="572"/>
                  <a:pt x="5359" y="643"/>
                  <a:pt x="5442" y="643"/>
                </a:cubicBezTo>
                <a:cubicBezTo>
                  <a:pt x="5537" y="643"/>
                  <a:pt x="5609" y="572"/>
                  <a:pt x="5609" y="476"/>
                </a:cubicBezTo>
                <a:lnTo>
                  <a:pt x="5609" y="298"/>
                </a:lnTo>
                <a:close/>
                <a:moveTo>
                  <a:pt x="834" y="0"/>
                </a:moveTo>
                <a:cubicBezTo>
                  <a:pt x="370" y="0"/>
                  <a:pt x="1" y="381"/>
                  <a:pt x="1" y="834"/>
                </a:cubicBezTo>
                <a:lnTo>
                  <a:pt x="1" y="9977"/>
                </a:lnTo>
                <a:cubicBezTo>
                  <a:pt x="1" y="10442"/>
                  <a:pt x="370" y="10811"/>
                  <a:pt x="834" y="10811"/>
                </a:cubicBezTo>
                <a:lnTo>
                  <a:pt x="9978" y="10811"/>
                </a:lnTo>
                <a:cubicBezTo>
                  <a:pt x="10431" y="10811"/>
                  <a:pt x="10812" y="10442"/>
                  <a:pt x="10812" y="9977"/>
                </a:cubicBezTo>
                <a:lnTo>
                  <a:pt x="10812" y="834"/>
                </a:lnTo>
                <a:cubicBezTo>
                  <a:pt x="10812" y="381"/>
                  <a:pt x="10431" y="0"/>
                  <a:pt x="9978" y="0"/>
                </a:cubicBezTo>
                <a:close/>
              </a:path>
            </a:pathLst>
          </a:cu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290" name="Google Shape;10677;p68"/>
          <p:cNvSpPr/>
          <p:nvPr/>
        </p:nvSpPr>
        <p:spPr>
          <a:xfrm>
            <a:off x="5963400" y="2387160"/>
            <a:ext cx="488880" cy="407880"/>
          </a:xfrm>
          <a:custGeom>
            <a:avLst/>
            <a:gdLst>
              <a:gd name="textAreaLeft" fmla="*/ 0 w 488880"/>
              <a:gd name="textAreaRight" fmla="*/ 489240 w 488880"/>
              <a:gd name="textAreaTop" fmla="*/ 0 h 407880"/>
              <a:gd name="textAreaBottom" fmla="*/ 408240 h 407880"/>
            </a:gdLst>
            <a:ahLst/>
            <a:cxnLst/>
            <a:rect l="textAreaLeft" t="textAreaTop" r="textAreaRight" b="textAreaBottom"/>
            <a:pathLst>
              <a:path w="10919" h="9109">
                <a:moveTo>
                  <a:pt x="2917" y="310"/>
                </a:moveTo>
                <a:cubicBezTo>
                  <a:pt x="3119" y="310"/>
                  <a:pt x="3286" y="476"/>
                  <a:pt x="3286" y="679"/>
                </a:cubicBezTo>
                <a:lnTo>
                  <a:pt x="3286" y="1036"/>
                </a:lnTo>
                <a:cubicBezTo>
                  <a:pt x="3250" y="1322"/>
                  <a:pt x="3012" y="1560"/>
                  <a:pt x="2715" y="1560"/>
                </a:cubicBezTo>
                <a:cubicBezTo>
                  <a:pt x="2417" y="1560"/>
                  <a:pt x="2179" y="1322"/>
                  <a:pt x="2179" y="1024"/>
                </a:cubicBezTo>
                <a:lnTo>
                  <a:pt x="2179" y="679"/>
                </a:lnTo>
                <a:cubicBezTo>
                  <a:pt x="2179" y="476"/>
                  <a:pt x="2346" y="310"/>
                  <a:pt x="2560" y="310"/>
                </a:cubicBezTo>
                <a:close/>
                <a:moveTo>
                  <a:pt x="5715" y="310"/>
                </a:moveTo>
                <a:cubicBezTo>
                  <a:pt x="5917" y="310"/>
                  <a:pt x="6084" y="476"/>
                  <a:pt x="6084" y="679"/>
                </a:cubicBezTo>
                <a:lnTo>
                  <a:pt x="6084" y="1036"/>
                </a:lnTo>
                <a:cubicBezTo>
                  <a:pt x="6048" y="1322"/>
                  <a:pt x="5810" y="1560"/>
                  <a:pt x="5513" y="1560"/>
                </a:cubicBezTo>
                <a:cubicBezTo>
                  <a:pt x="5215" y="1560"/>
                  <a:pt x="4977" y="1322"/>
                  <a:pt x="4977" y="1024"/>
                </a:cubicBezTo>
                <a:lnTo>
                  <a:pt x="4977" y="679"/>
                </a:lnTo>
                <a:cubicBezTo>
                  <a:pt x="4977" y="476"/>
                  <a:pt x="5144" y="310"/>
                  <a:pt x="5358" y="310"/>
                </a:cubicBezTo>
                <a:close/>
                <a:moveTo>
                  <a:pt x="8513" y="310"/>
                </a:moveTo>
                <a:cubicBezTo>
                  <a:pt x="8715" y="310"/>
                  <a:pt x="8882" y="476"/>
                  <a:pt x="8882" y="679"/>
                </a:cubicBezTo>
                <a:lnTo>
                  <a:pt x="8882" y="1036"/>
                </a:lnTo>
                <a:cubicBezTo>
                  <a:pt x="8846" y="1322"/>
                  <a:pt x="8608" y="1560"/>
                  <a:pt x="8311" y="1560"/>
                </a:cubicBezTo>
                <a:cubicBezTo>
                  <a:pt x="8013" y="1560"/>
                  <a:pt x="7775" y="1322"/>
                  <a:pt x="7775" y="1024"/>
                </a:cubicBezTo>
                <a:lnTo>
                  <a:pt x="7775" y="679"/>
                </a:lnTo>
                <a:cubicBezTo>
                  <a:pt x="7775" y="476"/>
                  <a:pt x="7941" y="310"/>
                  <a:pt x="8156" y="310"/>
                </a:cubicBezTo>
                <a:close/>
                <a:moveTo>
                  <a:pt x="2893" y="1881"/>
                </a:moveTo>
                <a:lnTo>
                  <a:pt x="2893" y="1977"/>
                </a:lnTo>
                <a:cubicBezTo>
                  <a:pt x="2893" y="2036"/>
                  <a:pt x="2905" y="2096"/>
                  <a:pt x="2941" y="2143"/>
                </a:cubicBezTo>
                <a:lnTo>
                  <a:pt x="2715" y="2358"/>
                </a:lnTo>
                <a:lnTo>
                  <a:pt x="2691" y="2358"/>
                </a:lnTo>
                <a:lnTo>
                  <a:pt x="2465" y="2143"/>
                </a:lnTo>
                <a:cubicBezTo>
                  <a:pt x="2500" y="2096"/>
                  <a:pt x="2512" y="2036"/>
                  <a:pt x="2512" y="1977"/>
                </a:cubicBezTo>
                <a:lnTo>
                  <a:pt x="2512" y="1881"/>
                </a:lnTo>
                <a:close/>
                <a:moveTo>
                  <a:pt x="5715" y="1881"/>
                </a:moveTo>
                <a:lnTo>
                  <a:pt x="5715" y="1977"/>
                </a:lnTo>
                <a:cubicBezTo>
                  <a:pt x="5715" y="2036"/>
                  <a:pt x="5727" y="2096"/>
                  <a:pt x="5751" y="2143"/>
                </a:cubicBezTo>
                <a:lnTo>
                  <a:pt x="5536" y="2358"/>
                </a:lnTo>
                <a:lnTo>
                  <a:pt x="5501" y="2358"/>
                </a:lnTo>
                <a:lnTo>
                  <a:pt x="5274" y="2143"/>
                </a:lnTo>
                <a:cubicBezTo>
                  <a:pt x="5310" y="2096"/>
                  <a:pt x="5322" y="2036"/>
                  <a:pt x="5322" y="1977"/>
                </a:cubicBezTo>
                <a:lnTo>
                  <a:pt x="5322" y="1881"/>
                </a:lnTo>
                <a:close/>
                <a:moveTo>
                  <a:pt x="8501" y="1881"/>
                </a:moveTo>
                <a:lnTo>
                  <a:pt x="8501" y="1977"/>
                </a:lnTo>
                <a:cubicBezTo>
                  <a:pt x="8501" y="2036"/>
                  <a:pt x="8525" y="2096"/>
                  <a:pt x="8549" y="2143"/>
                </a:cubicBezTo>
                <a:lnTo>
                  <a:pt x="8334" y="2358"/>
                </a:lnTo>
                <a:lnTo>
                  <a:pt x="8299" y="2358"/>
                </a:lnTo>
                <a:lnTo>
                  <a:pt x="8072" y="2143"/>
                </a:lnTo>
                <a:cubicBezTo>
                  <a:pt x="8108" y="2096"/>
                  <a:pt x="8120" y="2036"/>
                  <a:pt x="8120" y="1977"/>
                </a:cubicBezTo>
                <a:lnTo>
                  <a:pt x="8120" y="1881"/>
                </a:lnTo>
                <a:close/>
                <a:moveTo>
                  <a:pt x="9906" y="3286"/>
                </a:moveTo>
                <a:cubicBezTo>
                  <a:pt x="10120" y="3286"/>
                  <a:pt x="10275" y="3453"/>
                  <a:pt x="10275" y="3655"/>
                </a:cubicBezTo>
                <a:lnTo>
                  <a:pt x="10275" y="4012"/>
                </a:lnTo>
                <a:cubicBezTo>
                  <a:pt x="10263" y="4298"/>
                  <a:pt x="10013" y="4536"/>
                  <a:pt x="9716" y="4536"/>
                </a:cubicBezTo>
                <a:cubicBezTo>
                  <a:pt x="9418" y="4536"/>
                  <a:pt x="9180" y="4298"/>
                  <a:pt x="9180" y="4001"/>
                </a:cubicBezTo>
                <a:lnTo>
                  <a:pt x="9180" y="3655"/>
                </a:lnTo>
                <a:cubicBezTo>
                  <a:pt x="9180" y="3453"/>
                  <a:pt x="9346" y="3286"/>
                  <a:pt x="9549" y="3286"/>
                </a:cubicBezTo>
                <a:close/>
                <a:moveTo>
                  <a:pt x="1512" y="3286"/>
                </a:moveTo>
                <a:cubicBezTo>
                  <a:pt x="1691" y="3286"/>
                  <a:pt x="1857" y="3453"/>
                  <a:pt x="1857" y="3655"/>
                </a:cubicBezTo>
                <a:lnTo>
                  <a:pt x="1857" y="4012"/>
                </a:lnTo>
                <a:cubicBezTo>
                  <a:pt x="1857" y="4310"/>
                  <a:pt x="1619" y="4548"/>
                  <a:pt x="1322" y="4548"/>
                </a:cubicBezTo>
                <a:cubicBezTo>
                  <a:pt x="1024" y="4548"/>
                  <a:pt x="786" y="4310"/>
                  <a:pt x="786" y="4012"/>
                </a:cubicBezTo>
                <a:lnTo>
                  <a:pt x="786" y="3655"/>
                </a:lnTo>
                <a:cubicBezTo>
                  <a:pt x="786" y="3453"/>
                  <a:pt x="953" y="3286"/>
                  <a:pt x="1155" y="3286"/>
                </a:cubicBezTo>
                <a:close/>
                <a:moveTo>
                  <a:pt x="4310" y="3286"/>
                </a:moveTo>
                <a:cubicBezTo>
                  <a:pt x="4489" y="3286"/>
                  <a:pt x="4655" y="3453"/>
                  <a:pt x="4655" y="3655"/>
                </a:cubicBezTo>
                <a:lnTo>
                  <a:pt x="4655" y="4012"/>
                </a:lnTo>
                <a:cubicBezTo>
                  <a:pt x="4655" y="4310"/>
                  <a:pt x="4417" y="4548"/>
                  <a:pt x="4120" y="4548"/>
                </a:cubicBezTo>
                <a:cubicBezTo>
                  <a:pt x="3822" y="4548"/>
                  <a:pt x="3584" y="4310"/>
                  <a:pt x="3584" y="4012"/>
                </a:cubicBezTo>
                <a:lnTo>
                  <a:pt x="3584" y="3655"/>
                </a:lnTo>
                <a:cubicBezTo>
                  <a:pt x="3584" y="3453"/>
                  <a:pt x="3750" y="3286"/>
                  <a:pt x="3953" y="3286"/>
                </a:cubicBezTo>
                <a:close/>
                <a:moveTo>
                  <a:pt x="7108" y="3286"/>
                </a:moveTo>
                <a:cubicBezTo>
                  <a:pt x="7287" y="3286"/>
                  <a:pt x="7453" y="3453"/>
                  <a:pt x="7453" y="3655"/>
                </a:cubicBezTo>
                <a:lnTo>
                  <a:pt x="7453" y="4012"/>
                </a:lnTo>
                <a:cubicBezTo>
                  <a:pt x="7453" y="4310"/>
                  <a:pt x="7215" y="4548"/>
                  <a:pt x="6918" y="4548"/>
                </a:cubicBezTo>
                <a:cubicBezTo>
                  <a:pt x="6620" y="4548"/>
                  <a:pt x="6382" y="4310"/>
                  <a:pt x="6382" y="4012"/>
                </a:cubicBezTo>
                <a:lnTo>
                  <a:pt x="6382" y="3655"/>
                </a:lnTo>
                <a:cubicBezTo>
                  <a:pt x="6382" y="3453"/>
                  <a:pt x="6548" y="3286"/>
                  <a:pt x="6751" y="3286"/>
                </a:cubicBezTo>
                <a:close/>
                <a:moveTo>
                  <a:pt x="1500" y="4858"/>
                </a:moveTo>
                <a:lnTo>
                  <a:pt x="1500" y="4953"/>
                </a:lnTo>
                <a:cubicBezTo>
                  <a:pt x="1500" y="5013"/>
                  <a:pt x="1512" y="5072"/>
                  <a:pt x="1548" y="5120"/>
                </a:cubicBezTo>
                <a:lnTo>
                  <a:pt x="1322" y="5334"/>
                </a:lnTo>
                <a:lnTo>
                  <a:pt x="1286" y="5334"/>
                </a:lnTo>
                <a:lnTo>
                  <a:pt x="1072" y="5120"/>
                </a:lnTo>
                <a:cubicBezTo>
                  <a:pt x="1095" y="5072"/>
                  <a:pt x="1107" y="5013"/>
                  <a:pt x="1107" y="4953"/>
                </a:cubicBezTo>
                <a:lnTo>
                  <a:pt x="1107" y="4858"/>
                </a:lnTo>
                <a:close/>
                <a:moveTo>
                  <a:pt x="4298" y="4858"/>
                </a:moveTo>
                <a:lnTo>
                  <a:pt x="4298" y="4953"/>
                </a:lnTo>
                <a:cubicBezTo>
                  <a:pt x="4298" y="5013"/>
                  <a:pt x="4310" y="5072"/>
                  <a:pt x="4334" y="5120"/>
                </a:cubicBezTo>
                <a:lnTo>
                  <a:pt x="4120" y="5334"/>
                </a:lnTo>
                <a:lnTo>
                  <a:pt x="4084" y="5334"/>
                </a:lnTo>
                <a:lnTo>
                  <a:pt x="3870" y="5120"/>
                </a:lnTo>
                <a:cubicBezTo>
                  <a:pt x="3893" y="5072"/>
                  <a:pt x="3905" y="5013"/>
                  <a:pt x="3905" y="4953"/>
                </a:cubicBezTo>
                <a:lnTo>
                  <a:pt x="3905" y="4858"/>
                </a:lnTo>
                <a:close/>
                <a:moveTo>
                  <a:pt x="7108" y="4858"/>
                </a:moveTo>
                <a:lnTo>
                  <a:pt x="7108" y="4953"/>
                </a:lnTo>
                <a:cubicBezTo>
                  <a:pt x="7108" y="5013"/>
                  <a:pt x="7120" y="5072"/>
                  <a:pt x="7156" y="5120"/>
                </a:cubicBezTo>
                <a:lnTo>
                  <a:pt x="6929" y="5334"/>
                </a:lnTo>
                <a:lnTo>
                  <a:pt x="6906" y="5334"/>
                </a:lnTo>
                <a:lnTo>
                  <a:pt x="6679" y="5120"/>
                </a:lnTo>
                <a:cubicBezTo>
                  <a:pt x="6703" y="5072"/>
                  <a:pt x="6715" y="5013"/>
                  <a:pt x="6715" y="4953"/>
                </a:cubicBezTo>
                <a:lnTo>
                  <a:pt x="6715" y="4858"/>
                </a:lnTo>
                <a:close/>
                <a:moveTo>
                  <a:pt x="9906" y="4858"/>
                </a:moveTo>
                <a:lnTo>
                  <a:pt x="9906" y="4953"/>
                </a:lnTo>
                <a:cubicBezTo>
                  <a:pt x="9906" y="5013"/>
                  <a:pt x="9918" y="5072"/>
                  <a:pt x="9954" y="5120"/>
                </a:cubicBezTo>
                <a:lnTo>
                  <a:pt x="9727" y="5334"/>
                </a:lnTo>
                <a:lnTo>
                  <a:pt x="9704" y="5334"/>
                </a:lnTo>
                <a:lnTo>
                  <a:pt x="9477" y="5120"/>
                </a:lnTo>
                <a:cubicBezTo>
                  <a:pt x="9501" y="5072"/>
                  <a:pt x="9525" y="5013"/>
                  <a:pt x="9525" y="4953"/>
                </a:cubicBezTo>
                <a:lnTo>
                  <a:pt x="9525" y="4858"/>
                </a:lnTo>
                <a:close/>
                <a:moveTo>
                  <a:pt x="2453" y="0"/>
                </a:moveTo>
                <a:cubicBezTo>
                  <a:pt x="2084" y="0"/>
                  <a:pt x="1762" y="310"/>
                  <a:pt x="1762" y="679"/>
                </a:cubicBezTo>
                <a:lnTo>
                  <a:pt x="1762" y="1036"/>
                </a:lnTo>
                <a:cubicBezTo>
                  <a:pt x="1762" y="1322"/>
                  <a:pt x="1905" y="1572"/>
                  <a:pt x="2119" y="1726"/>
                </a:cubicBezTo>
                <a:lnTo>
                  <a:pt x="2119" y="1977"/>
                </a:lnTo>
                <a:cubicBezTo>
                  <a:pt x="2119" y="1977"/>
                  <a:pt x="2119" y="1988"/>
                  <a:pt x="2107" y="1988"/>
                </a:cubicBezTo>
                <a:lnTo>
                  <a:pt x="1691" y="2203"/>
                </a:lnTo>
                <a:cubicBezTo>
                  <a:pt x="1512" y="2286"/>
                  <a:pt x="1405" y="2465"/>
                  <a:pt x="1405" y="2655"/>
                </a:cubicBezTo>
                <a:lnTo>
                  <a:pt x="1405" y="2989"/>
                </a:lnTo>
                <a:lnTo>
                  <a:pt x="1036" y="2989"/>
                </a:lnTo>
                <a:cubicBezTo>
                  <a:pt x="667" y="2989"/>
                  <a:pt x="357" y="3298"/>
                  <a:pt x="357" y="3667"/>
                </a:cubicBezTo>
                <a:lnTo>
                  <a:pt x="357" y="4024"/>
                </a:lnTo>
                <a:cubicBezTo>
                  <a:pt x="357" y="4310"/>
                  <a:pt x="488" y="4560"/>
                  <a:pt x="714" y="4715"/>
                </a:cubicBezTo>
                <a:lnTo>
                  <a:pt x="714" y="4965"/>
                </a:lnTo>
                <a:cubicBezTo>
                  <a:pt x="714" y="4965"/>
                  <a:pt x="714" y="4977"/>
                  <a:pt x="691" y="4977"/>
                </a:cubicBezTo>
                <a:lnTo>
                  <a:pt x="274" y="5191"/>
                </a:lnTo>
                <a:cubicBezTo>
                  <a:pt x="95" y="5275"/>
                  <a:pt x="0" y="5453"/>
                  <a:pt x="0" y="5656"/>
                </a:cubicBezTo>
                <a:lnTo>
                  <a:pt x="0" y="7382"/>
                </a:lnTo>
                <a:cubicBezTo>
                  <a:pt x="0" y="7513"/>
                  <a:pt x="36" y="7644"/>
                  <a:pt x="119" y="7751"/>
                </a:cubicBezTo>
                <a:lnTo>
                  <a:pt x="298" y="8013"/>
                </a:lnTo>
                <a:cubicBezTo>
                  <a:pt x="333" y="8073"/>
                  <a:pt x="357" y="8156"/>
                  <a:pt x="357" y="8227"/>
                </a:cubicBezTo>
                <a:lnTo>
                  <a:pt x="357" y="8942"/>
                </a:lnTo>
                <a:cubicBezTo>
                  <a:pt x="357" y="9025"/>
                  <a:pt x="429" y="9108"/>
                  <a:pt x="512" y="9108"/>
                </a:cubicBezTo>
                <a:cubicBezTo>
                  <a:pt x="607" y="9108"/>
                  <a:pt x="679" y="9025"/>
                  <a:pt x="679" y="8942"/>
                </a:cubicBezTo>
                <a:lnTo>
                  <a:pt x="679" y="8227"/>
                </a:lnTo>
                <a:cubicBezTo>
                  <a:pt x="679" y="8096"/>
                  <a:pt x="631" y="7953"/>
                  <a:pt x="560" y="7858"/>
                </a:cubicBezTo>
                <a:lnTo>
                  <a:pt x="381" y="7584"/>
                </a:lnTo>
                <a:cubicBezTo>
                  <a:pt x="333" y="7525"/>
                  <a:pt x="321" y="7453"/>
                  <a:pt x="321" y="7382"/>
                </a:cubicBezTo>
                <a:lnTo>
                  <a:pt x="321" y="5656"/>
                </a:lnTo>
                <a:cubicBezTo>
                  <a:pt x="321" y="5572"/>
                  <a:pt x="369" y="5513"/>
                  <a:pt x="429" y="5477"/>
                </a:cubicBezTo>
                <a:lnTo>
                  <a:pt x="714" y="5322"/>
                </a:lnTo>
                <a:lnTo>
                  <a:pt x="976" y="5596"/>
                </a:lnTo>
                <a:cubicBezTo>
                  <a:pt x="1036" y="5656"/>
                  <a:pt x="1131" y="5691"/>
                  <a:pt x="1214" y="5691"/>
                </a:cubicBezTo>
                <a:cubicBezTo>
                  <a:pt x="1310" y="5691"/>
                  <a:pt x="1381" y="5667"/>
                  <a:pt x="1453" y="5596"/>
                </a:cubicBezTo>
                <a:lnTo>
                  <a:pt x="1726" y="5322"/>
                </a:lnTo>
                <a:lnTo>
                  <a:pt x="2000" y="5477"/>
                </a:lnTo>
                <a:cubicBezTo>
                  <a:pt x="2060" y="5501"/>
                  <a:pt x="2107" y="5572"/>
                  <a:pt x="2107" y="5656"/>
                </a:cubicBezTo>
                <a:lnTo>
                  <a:pt x="2107" y="7382"/>
                </a:lnTo>
                <a:cubicBezTo>
                  <a:pt x="2107" y="7453"/>
                  <a:pt x="2096" y="7525"/>
                  <a:pt x="2048" y="7584"/>
                </a:cubicBezTo>
                <a:lnTo>
                  <a:pt x="1869" y="7858"/>
                </a:lnTo>
                <a:cubicBezTo>
                  <a:pt x="1798" y="7977"/>
                  <a:pt x="1750" y="8096"/>
                  <a:pt x="1750" y="8227"/>
                </a:cubicBezTo>
                <a:lnTo>
                  <a:pt x="1750" y="8942"/>
                </a:lnTo>
                <a:cubicBezTo>
                  <a:pt x="1750" y="9025"/>
                  <a:pt x="1822" y="9108"/>
                  <a:pt x="1917" y="9108"/>
                </a:cubicBezTo>
                <a:cubicBezTo>
                  <a:pt x="2000" y="9108"/>
                  <a:pt x="2084" y="9025"/>
                  <a:pt x="2084" y="8942"/>
                </a:cubicBezTo>
                <a:lnTo>
                  <a:pt x="2084" y="8227"/>
                </a:lnTo>
                <a:cubicBezTo>
                  <a:pt x="2084" y="8156"/>
                  <a:pt x="2096" y="8073"/>
                  <a:pt x="2143" y="8013"/>
                </a:cubicBezTo>
                <a:lnTo>
                  <a:pt x="2322" y="7751"/>
                </a:lnTo>
                <a:cubicBezTo>
                  <a:pt x="2393" y="7632"/>
                  <a:pt x="2441" y="7513"/>
                  <a:pt x="2441" y="7382"/>
                </a:cubicBezTo>
                <a:lnTo>
                  <a:pt x="2441" y="5656"/>
                </a:lnTo>
                <a:cubicBezTo>
                  <a:pt x="2441" y="5453"/>
                  <a:pt x="2334" y="5275"/>
                  <a:pt x="2155" y="5191"/>
                </a:cubicBezTo>
                <a:lnTo>
                  <a:pt x="1738" y="4977"/>
                </a:lnTo>
                <a:lnTo>
                  <a:pt x="1726" y="4965"/>
                </a:lnTo>
                <a:lnTo>
                  <a:pt x="1726" y="4703"/>
                </a:lnTo>
                <a:cubicBezTo>
                  <a:pt x="1929" y="4536"/>
                  <a:pt x="2084" y="4298"/>
                  <a:pt x="2084" y="4012"/>
                </a:cubicBezTo>
                <a:lnTo>
                  <a:pt x="2084" y="3655"/>
                </a:lnTo>
                <a:cubicBezTo>
                  <a:pt x="2084" y="3405"/>
                  <a:pt x="1929" y="3179"/>
                  <a:pt x="1726" y="3060"/>
                </a:cubicBezTo>
                <a:lnTo>
                  <a:pt x="1726" y="2643"/>
                </a:lnTo>
                <a:cubicBezTo>
                  <a:pt x="1726" y="2572"/>
                  <a:pt x="1762" y="2512"/>
                  <a:pt x="1822" y="2465"/>
                </a:cubicBezTo>
                <a:lnTo>
                  <a:pt x="2107" y="2322"/>
                </a:lnTo>
                <a:lnTo>
                  <a:pt x="2381" y="2584"/>
                </a:lnTo>
                <a:cubicBezTo>
                  <a:pt x="2441" y="2643"/>
                  <a:pt x="2524" y="2691"/>
                  <a:pt x="2619" y="2691"/>
                </a:cubicBezTo>
                <a:cubicBezTo>
                  <a:pt x="2703" y="2691"/>
                  <a:pt x="2774" y="2655"/>
                  <a:pt x="2858" y="2584"/>
                </a:cubicBezTo>
                <a:lnTo>
                  <a:pt x="3119" y="2322"/>
                </a:lnTo>
                <a:lnTo>
                  <a:pt x="3405" y="2465"/>
                </a:lnTo>
                <a:cubicBezTo>
                  <a:pt x="3465" y="2500"/>
                  <a:pt x="3512" y="2572"/>
                  <a:pt x="3512" y="2643"/>
                </a:cubicBezTo>
                <a:lnTo>
                  <a:pt x="3512" y="3060"/>
                </a:lnTo>
                <a:cubicBezTo>
                  <a:pt x="3298" y="3179"/>
                  <a:pt x="3155" y="3405"/>
                  <a:pt x="3155" y="3655"/>
                </a:cubicBezTo>
                <a:lnTo>
                  <a:pt x="3155" y="4012"/>
                </a:lnTo>
                <a:cubicBezTo>
                  <a:pt x="3155" y="4298"/>
                  <a:pt x="3286" y="4548"/>
                  <a:pt x="3512" y="4703"/>
                </a:cubicBezTo>
                <a:lnTo>
                  <a:pt x="3512" y="4953"/>
                </a:lnTo>
                <a:cubicBezTo>
                  <a:pt x="3512" y="4953"/>
                  <a:pt x="3512" y="4965"/>
                  <a:pt x="3489" y="4965"/>
                </a:cubicBezTo>
                <a:lnTo>
                  <a:pt x="3072" y="5179"/>
                </a:lnTo>
                <a:cubicBezTo>
                  <a:pt x="2893" y="5263"/>
                  <a:pt x="2798" y="5441"/>
                  <a:pt x="2798" y="5632"/>
                </a:cubicBezTo>
                <a:lnTo>
                  <a:pt x="2798" y="7358"/>
                </a:lnTo>
                <a:cubicBezTo>
                  <a:pt x="2798" y="7501"/>
                  <a:pt x="2834" y="7632"/>
                  <a:pt x="2917" y="7739"/>
                </a:cubicBezTo>
                <a:lnTo>
                  <a:pt x="3096" y="8001"/>
                </a:lnTo>
                <a:cubicBezTo>
                  <a:pt x="3131" y="8061"/>
                  <a:pt x="3155" y="8132"/>
                  <a:pt x="3155" y="8215"/>
                </a:cubicBezTo>
                <a:lnTo>
                  <a:pt x="3155" y="8930"/>
                </a:lnTo>
                <a:cubicBezTo>
                  <a:pt x="3155" y="9013"/>
                  <a:pt x="3227" y="9085"/>
                  <a:pt x="3310" y="9085"/>
                </a:cubicBezTo>
                <a:cubicBezTo>
                  <a:pt x="3405" y="9085"/>
                  <a:pt x="3477" y="9013"/>
                  <a:pt x="3477" y="8930"/>
                </a:cubicBezTo>
                <a:lnTo>
                  <a:pt x="3477" y="8215"/>
                </a:lnTo>
                <a:cubicBezTo>
                  <a:pt x="3477" y="8073"/>
                  <a:pt x="3429" y="7942"/>
                  <a:pt x="3358" y="7834"/>
                </a:cubicBezTo>
                <a:lnTo>
                  <a:pt x="3179" y="7572"/>
                </a:lnTo>
                <a:cubicBezTo>
                  <a:pt x="3131" y="7513"/>
                  <a:pt x="3119" y="7441"/>
                  <a:pt x="3119" y="7358"/>
                </a:cubicBezTo>
                <a:lnTo>
                  <a:pt x="3119" y="5632"/>
                </a:lnTo>
                <a:cubicBezTo>
                  <a:pt x="3119" y="5560"/>
                  <a:pt x="3167" y="5501"/>
                  <a:pt x="3227" y="5453"/>
                </a:cubicBezTo>
                <a:lnTo>
                  <a:pt x="3512" y="5310"/>
                </a:lnTo>
                <a:lnTo>
                  <a:pt x="3774" y="5572"/>
                </a:lnTo>
                <a:cubicBezTo>
                  <a:pt x="3834" y="5632"/>
                  <a:pt x="3929" y="5679"/>
                  <a:pt x="4012" y="5679"/>
                </a:cubicBezTo>
                <a:cubicBezTo>
                  <a:pt x="4108" y="5679"/>
                  <a:pt x="4179" y="5656"/>
                  <a:pt x="4251" y="5572"/>
                </a:cubicBezTo>
                <a:lnTo>
                  <a:pt x="4524" y="5310"/>
                </a:lnTo>
                <a:lnTo>
                  <a:pt x="4798" y="5453"/>
                </a:lnTo>
                <a:cubicBezTo>
                  <a:pt x="4858" y="5489"/>
                  <a:pt x="4905" y="5560"/>
                  <a:pt x="4905" y="5632"/>
                </a:cubicBezTo>
                <a:lnTo>
                  <a:pt x="4905" y="7358"/>
                </a:lnTo>
                <a:cubicBezTo>
                  <a:pt x="4905" y="7441"/>
                  <a:pt x="4893" y="7513"/>
                  <a:pt x="4846" y="7572"/>
                </a:cubicBezTo>
                <a:lnTo>
                  <a:pt x="4667" y="7834"/>
                </a:lnTo>
                <a:cubicBezTo>
                  <a:pt x="4596" y="7953"/>
                  <a:pt x="4548" y="8073"/>
                  <a:pt x="4548" y="8215"/>
                </a:cubicBezTo>
                <a:lnTo>
                  <a:pt x="4548" y="8930"/>
                </a:lnTo>
                <a:cubicBezTo>
                  <a:pt x="4548" y="9013"/>
                  <a:pt x="4620" y="9085"/>
                  <a:pt x="4715" y="9085"/>
                </a:cubicBezTo>
                <a:cubicBezTo>
                  <a:pt x="4798" y="9085"/>
                  <a:pt x="4882" y="9013"/>
                  <a:pt x="4882" y="8930"/>
                </a:cubicBezTo>
                <a:lnTo>
                  <a:pt x="4882" y="8215"/>
                </a:lnTo>
                <a:cubicBezTo>
                  <a:pt x="4882" y="8132"/>
                  <a:pt x="4893" y="8061"/>
                  <a:pt x="4941" y="8001"/>
                </a:cubicBezTo>
                <a:lnTo>
                  <a:pt x="5120" y="7739"/>
                </a:lnTo>
                <a:cubicBezTo>
                  <a:pt x="5191" y="7620"/>
                  <a:pt x="5239" y="7501"/>
                  <a:pt x="5239" y="7358"/>
                </a:cubicBezTo>
                <a:lnTo>
                  <a:pt x="5239" y="5632"/>
                </a:lnTo>
                <a:cubicBezTo>
                  <a:pt x="5239" y="5441"/>
                  <a:pt x="5132" y="5263"/>
                  <a:pt x="4953" y="5179"/>
                </a:cubicBezTo>
                <a:lnTo>
                  <a:pt x="4536" y="4965"/>
                </a:lnTo>
                <a:lnTo>
                  <a:pt x="4524" y="4953"/>
                </a:lnTo>
                <a:lnTo>
                  <a:pt x="4524" y="4703"/>
                </a:lnTo>
                <a:cubicBezTo>
                  <a:pt x="4727" y="4536"/>
                  <a:pt x="4882" y="4298"/>
                  <a:pt x="4882" y="4012"/>
                </a:cubicBezTo>
                <a:lnTo>
                  <a:pt x="4882" y="3655"/>
                </a:lnTo>
                <a:cubicBezTo>
                  <a:pt x="4882" y="3405"/>
                  <a:pt x="4727" y="3179"/>
                  <a:pt x="4524" y="3060"/>
                </a:cubicBezTo>
                <a:lnTo>
                  <a:pt x="4524" y="2643"/>
                </a:lnTo>
                <a:cubicBezTo>
                  <a:pt x="4524" y="2572"/>
                  <a:pt x="4560" y="2512"/>
                  <a:pt x="4620" y="2465"/>
                </a:cubicBezTo>
                <a:lnTo>
                  <a:pt x="4905" y="2322"/>
                </a:lnTo>
                <a:lnTo>
                  <a:pt x="5179" y="2584"/>
                </a:lnTo>
                <a:cubicBezTo>
                  <a:pt x="5239" y="2643"/>
                  <a:pt x="5322" y="2691"/>
                  <a:pt x="5417" y="2691"/>
                </a:cubicBezTo>
                <a:cubicBezTo>
                  <a:pt x="5501" y="2691"/>
                  <a:pt x="5572" y="2655"/>
                  <a:pt x="5655" y="2584"/>
                </a:cubicBezTo>
                <a:lnTo>
                  <a:pt x="5917" y="2322"/>
                </a:lnTo>
                <a:lnTo>
                  <a:pt x="6203" y="2465"/>
                </a:lnTo>
                <a:cubicBezTo>
                  <a:pt x="6263" y="2500"/>
                  <a:pt x="6310" y="2572"/>
                  <a:pt x="6310" y="2643"/>
                </a:cubicBezTo>
                <a:lnTo>
                  <a:pt x="6310" y="3060"/>
                </a:lnTo>
                <a:cubicBezTo>
                  <a:pt x="6096" y="3179"/>
                  <a:pt x="5953" y="3405"/>
                  <a:pt x="5953" y="3655"/>
                </a:cubicBezTo>
                <a:lnTo>
                  <a:pt x="5953" y="4012"/>
                </a:lnTo>
                <a:cubicBezTo>
                  <a:pt x="5953" y="4298"/>
                  <a:pt x="6084" y="4548"/>
                  <a:pt x="6310" y="4703"/>
                </a:cubicBezTo>
                <a:lnTo>
                  <a:pt x="6310" y="4953"/>
                </a:lnTo>
                <a:cubicBezTo>
                  <a:pt x="6310" y="4953"/>
                  <a:pt x="6310" y="4965"/>
                  <a:pt x="6287" y="4965"/>
                </a:cubicBezTo>
                <a:lnTo>
                  <a:pt x="5870" y="5179"/>
                </a:lnTo>
                <a:cubicBezTo>
                  <a:pt x="5691" y="5263"/>
                  <a:pt x="5596" y="5441"/>
                  <a:pt x="5596" y="5632"/>
                </a:cubicBezTo>
                <a:lnTo>
                  <a:pt x="5596" y="7358"/>
                </a:lnTo>
                <a:cubicBezTo>
                  <a:pt x="5596" y="7501"/>
                  <a:pt x="5632" y="7632"/>
                  <a:pt x="5715" y="7739"/>
                </a:cubicBezTo>
                <a:lnTo>
                  <a:pt x="5894" y="8001"/>
                </a:lnTo>
                <a:cubicBezTo>
                  <a:pt x="5929" y="8061"/>
                  <a:pt x="5953" y="8132"/>
                  <a:pt x="5953" y="8215"/>
                </a:cubicBezTo>
                <a:lnTo>
                  <a:pt x="5953" y="8930"/>
                </a:lnTo>
                <a:cubicBezTo>
                  <a:pt x="5953" y="9013"/>
                  <a:pt x="6025" y="9085"/>
                  <a:pt x="6108" y="9085"/>
                </a:cubicBezTo>
                <a:cubicBezTo>
                  <a:pt x="6203" y="9085"/>
                  <a:pt x="6275" y="9013"/>
                  <a:pt x="6275" y="8930"/>
                </a:cubicBezTo>
                <a:lnTo>
                  <a:pt x="6275" y="8215"/>
                </a:lnTo>
                <a:cubicBezTo>
                  <a:pt x="6275" y="8073"/>
                  <a:pt x="6227" y="7942"/>
                  <a:pt x="6156" y="7834"/>
                </a:cubicBezTo>
                <a:lnTo>
                  <a:pt x="5977" y="7572"/>
                </a:lnTo>
                <a:cubicBezTo>
                  <a:pt x="5929" y="7513"/>
                  <a:pt x="5917" y="7441"/>
                  <a:pt x="5917" y="7358"/>
                </a:cubicBezTo>
                <a:lnTo>
                  <a:pt x="5917" y="5632"/>
                </a:lnTo>
                <a:cubicBezTo>
                  <a:pt x="5917" y="5560"/>
                  <a:pt x="5965" y="5501"/>
                  <a:pt x="6025" y="5453"/>
                </a:cubicBezTo>
                <a:lnTo>
                  <a:pt x="6310" y="5310"/>
                </a:lnTo>
                <a:lnTo>
                  <a:pt x="6572" y="5572"/>
                </a:lnTo>
                <a:cubicBezTo>
                  <a:pt x="6632" y="5632"/>
                  <a:pt x="6727" y="5679"/>
                  <a:pt x="6810" y="5679"/>
                </a:cubicBezTo>
                <a:cubicBezTo>
                  <a:pt x="6906" y="5679"/>
                  <a:pt x="6977" y="5656"/>
                  <a:pt x="7049" y="5572"/>
                </a:cubicBezTo>
                <a:lnTo>
                  <a:pt x="7322" y="5310"/>
                </a:lnTo>
                <a:lnTo>
                  <a:pt x="7596" y="5453"/>
                </a:lnTo>
                <a:cubicBezTo>
                  <a:pt x="7656" y="5489"/>
                  <a:pt x="7703" y="5560"/>
                  <a:pt x="7703" y="5632"/>
                </a:cubicBezTo>
                <a:lnTo>
                  <a:pt x="7703" y="7358"/>
                </a:lnTo>
                <a:cubicBezTo>
                  <a:pt x="7703" y="7441"/>
                  <a:pt x="7691" y="7513"/>
                  <a:pt x="7644" y="7572"/>
                </a:cubicBezTo>
                <a:lnTo>
                  <a:pt x="7465" y="7834"/>
                </a:lnTo>
                <a:cubicBezTo>
                  <a:pt x="7394" y="7953"/>
                  <a:pt x="7346" y="8073"/>
                  <a:pt x="7346" y="8215"/>
                </a:cubicBezTo>
                <a:lnTo>
                  <a:pt x="7346" y="8930"/>
                </a:lnTo>
                <a:cubicBezTo>
                  <a:pt x="7346" y="9013"/>
                  <a:pt x="7418" y="9085"/>
                  <a:pt x="7513" y="9085"/>
                </a:cubicBezTo>
                <a:cubicBezTo>
                  <a:pt x="7596" y="9085"/>
                  <a:pt x="7680" y="9013"/>
                  <a:pt x="7680" y="8930"/>
                </a:cubicBezTo>
                <a:lnTo>
                  <a:pt x="7680" y="8215"/>
                </a:lnTo>
                <a:cubicBezTo>
                  <a:pt x="7680" y="8132"/>
                  <a:pt x="7691" y="8061"/>
                  <a:pt x="7739" y="8001"/>
                </a:cubicBezTo>
                <a:lnTo>
                  <a:pt x="7918" y="7739"/>
                </a:lnTo>
                <a:cubicBezTo>
                  <a:pt x="7989" y="7620"/>
                  <a:pt x="8037" y="7501"/>
                  <a:pt x="8037" y="7358"/>
                </a:cubicBezTo>
                <a:lnTo>
                  <a:pt x="8037" y="5632"/>
                </a:lnTo>
                <a:cubicBezTo>
                  <a:pt x="8037" y="5441"/>
                  <a:pt x="7930" y="5263"/>
                  <a:pt x="7751" y="5179"/>
                </a:cubicBezTo>
                <a:lnTo>
                  <a:pt x="7334" y="4965"/>
                </a:lnTo>
                <a:lnTo>
                  <a:pt x="7322" y="4953"/>
                </a:lnTo>
                <a:lnTo>
                  <a:pt x="7322" y="4703"/>
                </a:lnTo>
                <a:cubicBezTo>
                  <a:pt x="7525" y="4536"/>
                  <a:pt x="7680" y="4298"/>
                  <a:pt x="7680" y="4012"/>
                </a:cubicBezTo>
                <a:lnTo>
                  <a:pt x="7680" y="3655"/>
                </a:lnTo>
                <a:cubicBezTo>
                  <a:pt x="7680" y="3405"/>
                  <a:pt x="7525" y="3179"/>
                  <a:pt x="7322" y="3060"/>
                </a:cubicBezTo>
                <a:lnTo>
                  <a:pt x="7322" y="2643"/>
                </a:lnTo>
                <a:cubicBezTo>
                  <a:pt x="7322" y="2572"/>
                  <a:pt x="7358" y="2512"/>
                  <a:pt x="7418" y="2465"/>
                </a:cubicBezTo>
                <a:lnTo>
                  <a:pt x="7703" y="2322"/>
                </a:lnTo>
                <a:lnTo>
                  <a:pt x="7977" y="2584"/>
                </a:lnTo>
                <a:cubicBezTo>
                  <a:pt x="8037" y="2643"/>
                  <a:pt x="8120" y="2691"/>
                  <a:pt x="8215" y="2691"/>
                </a:cubicBezTo>
                <a:cubicBezTo>
                  <a:pt x="8299" y="2691"/>
                  <a:pt x="8370" y="2655"/>
                  <a:pt x="8453" y="2584"/>
                </a:cubicBezTo>
                <a:lnTo>
                  <a:pt x="8715" y="2322"/>
                </a:lnTo>
                <a:lnTo>
                  <a:pt x="9001" y="2465"/>
                </a:lnTo>
                <a:cubicBezTo>
                  <a:pt x="9061" y="2500"/>
                  <a:pt x="9108" y="2572"/>
                  <a:pt x="9108" y="2643"/>
                </a:cubicBezTo>
                <a:lnTo>
                  <a:pt x="9108" y="3060"/>
                </a:lnTo>
                <a:cubicBezTo>
                  <a:pt x="8894" y="3179"/>
                  <a:pt x="8751" y="3405"/>
                  <a:pt x="8751" y="3655"/>
                </a:cubicBezTo>
                <a:lnTo>
                  <a:pt x="8751" y="4012"/>
                </a:lnTo>
                <a:cubicBezTo>
                  <a:pt x="8751" y="4298"/>
                  <a:pt x="8882" y="4548"/>
                  <a:pt x="9108" y="4703"/>
                </a:cubicBezTo>
                <a:lnTo>
                  <a:pt x="9108" y="4953"/>
                </a:lnTo>
                <a:cubicBezTo>
                  <a:pt x="9108" y="4953"/>
                  <a:pt x="9108" y="4965"/>
                  <a:pt x="9084" y="4965"/>
                </a:cubicBezTo>
                <a:lnTo>
                  <a:pt x="8668" y="5179"/>
                </a:lnTo>
                <a:cubicBezTo>
                  <a:pt x="8489" y="5263"/>
                  <a:pt x="8394" y="5441"/>
                  <a:pt x="8394" y="5632"/>
                </a:cubicBezTo>
                <a:lnTo>
                  <a:pt x="8394" y="7358"/>
                </a:lnTo>
                <a:cubicBezTo>
                  <a:pt x="8394" y="7501"/>
                  <a:pt x="8430" y="7632"/>
                  <a:pt x="8513" y="7739"/>
                </a:cubicBezTo>
                <a:lnTo>
                  <a:pt x="8692" y="8001"/>
                </a:lnTo>
                <a:cubicBezTo>
                  <a:pt x="8727" y="8061"/>
                  <a:pt x="8751" y="8132"/>
                  <a:pt x="8751" y="8215"/>
                </a:cubicBezTo>
                <a:lnTo>
                  <a:pt x="8751" y="8930"/>
                </a:lnTo>
                <a:cubicBezTo>
                  <a:pt x="8751" y="9013"/>
                  <a:pt x="8823" y="9085"/>
                  <a:pt x="8906" y="9085"/>
                </a:cubicBezTo>
                <a:cubicBezTo>
                  <a:pt x="9001" y="9085"/>
                  <a:pt x="9073" y="9013"/>
                  <a:pt x="9073" y="8930"/>
                </a:cubicBezTo>
                <a:lnTo>
                  <a:pt x="9073" y="8215"/>
                </a:lnTo>
                <a:cubicBezTo>
                  <a:pt x="9073" y="8073"/>
                  <a:pt x="9025" y="7942"/>
                  <a:pt x="8954" y="7834"/>
                </a:cubicBezTo>
                <a:lnTo>
                  <a:pt x="8775" y="7572"/>
                </a:lnTo>
                <a:cubicBezTo>
                  <a:pt x="8727" y="7513"/>
                  <a:pt x="8715" y="7441"/>
                  <a:pt x="8715" y="7358"/>
                </a:cubicBezTo>
                <a:lnTo>
                  <a:pt x="8715" y="5632"/>
                </a:lnTo>
                <a:cubicBezTo>
                  <a:pt x="8715" y="5560"/>
                  <a:pt x="8763" y="5501"/>
                  <a:pt x="8823" y="5453"/>
                </a:cubicBezTo>
                <a:lnTo>
                  <a:pt x="9108" y="5310"/>
                </a:lnTo>
                <a:lnTo>
                  <a:pt x="9370" y="5572"/>
                </a:lnTo>
                <a:cubicBezTo>
                  <a:pt x="9430" y="5632"/>
                  <a:pt x="9525" y="5679"/>
                  <a:pt x="9608" y="5679"/>
                </a:cubicBezTo>
                <a:cubicBezTo>
                  <a:pt x="9704" y="5679"/>
                  <a:pt x="9775" y="5656"/>
                  <a:pt x="9846" y="5572"/>
                </a:cubicBezTo>
                <a:lnTo>
                  <a:pt x="10120" y="5310"/>
                </a:lnTo>
                <a:lnTo>
                  <a:pt x="10394" y="5453"/>
                </a:lnTo>
                <a:cubicBezTo>
                  <a:pt x="10454" y="5489"/>
                  <a:pt x="10501" y="5560"/>
                  <a:pt x="10501" y="5632"/>
                </a:cubicBezTo>
                <a:lnTo>
                  <a:pt x="10501" y="7358"/>
                </a:lnTo>
                <a:cubicBezTo>
                  <a:pt x="10501" y="7441"/>
                  <a:pt x="10489" y="7513"/>
                  <a:pt x="10442" y="7572"/>
                </a:cubicBezTo>
                <a:lnTo>
                  <a:pt x="10263" y="7834"/>
                </a:lnTo>
                <a:cubicBezTo>
                  <a:pt x="10192" y="7953"/>
                  <a:pt x="10144" y="8073"/>
                  <a:pt x="10144" y="8215"/>
                </a:cubicBezTo>
                <a:lnTo>
                  <a:pt x="10144" y="8930"/>
                </a:lnTo>
                <a:cubicBezTo>
                  <a:pt x="10144" y="9013"/>
                  <a:pt x="10216" y="9085"/>
                  <a:pt x="10311" y="9085"/>
                </a:cubicBezTo>
                <a:cubicBezTo>
                  <a:pt x="10394" y="9085"/>
                  <a:pt x="10478" y="9013"/>
                  <a:pt x="10478" y="8930"/>
                </a:cubicBezTo>
                <a:lnTo>
                  <a:pt x="10478" y="8215"/>
                </a:lnTo>
                <a:cubicBezTo>
                  <a:pt x="10478" y="8132"/>
                  <a:pt x="10489" y="8061"/>
                  <a:pt x="10537" y="8001"/>
                </a:cubicBezTo>
                <a:lnTo>
                  <a:pt x="10716" y="7739"/>
                </a:lnTo>
                <a:cubicBezTo>
                  <a:pt x="10787" y="7620"/>
                  <a:pt x="10835" y="7501"/>
                  <a:pt x="10835" y="7358"/>
                </a:cubicBezTo>
                <a:lnTo>
                  <a:pt x="10835" y="5632"/>
                </a:lnTo>
                <a:cubicBezTo>
                  <a:pt x="10918" y="5429"/>
                  <a:pt x="10811" y="5251"/>
                  <a:pt x="10632" y="5155"/>
                </a:cubicBezTo>
                <a:lnTo>
                  <a:pt x="10216" y="4953"/>
                </a:lnTo>
                <a:lnTo>
                  <a:pt x="10204" y="4941"/>
                </a:lnTo>
                <a:lnTo>
                  <a:pt x="10204" y="4703"/>
                </a:lnTo>
                <a:cubicBezTo>
                  <a:pt x="10418" y="4536"/>
                  <a:pt x="10561" y="4298"/>
                  <a:pt x="10561" y="4012"/>
                </a:cubicBezTo>
                <a:lnTo>
                  <a:pt x="10561" y="3655"/>
                </a:lnTo>
                <a:cubicBezTo>
                  <a:pt x="10561" y="3286"/>
                  <a:pt x="10251" y="2977"/>
                  <a:pt x="9882" y="2977"/>
                </a:cubicBezTo>
                <a:lnTo>
                  <a:pt x="9501" y="2977"/>
                </a:lnTo>
                <a:lnTo>
                  <a:pt x="9501" y="2643"/>
                </a:lnTo>
                <a:cubicBezTo>
                  <a:pt x="9501" y="2453"/>
                  <a:pt x="9406" y="2274"/>
                  <a:pt x="9227" y="2179"/>
                </a:cubicBezTo>
                <a:lnTo>
                  <a:pt x="8811" y="1977"/>
                </a:lnTo>
                <a:lnTo>
                  <a:pt x="8787" y="1953"/>
                </a:lnTo>
                <a:lnTo>
                  <a:pt x="8787" y="1726"/>
                </a:lnTo>
                <a:cubicBezTo>
                  <a:pt x="9001" y="1560"/>
                  <a:pt x="9144" y="1322"/>
                  <a:pt x="9144" y="1036"/>
                </a:cubicBezTo>
                <a:lnTo>
                  <a:pt x="9144" y="679"/>
                </a:lnTo>
                <a:cubicBezTo>
                  <a:pt x="9144" y="310"/>
                  <a:pt x="8834" y="0"/>
                  <a:pt x="8465" y="0"/>
                </a:cubicBezTo>
                <a:lnTo>
                  <a:pt x="8108" y="0"/>
                </a:lnTo>
                <a:cubicBezTo>
                  <a:pt x="7739" y="0"/>
                  <a:pt x="7418" y="310"/>
                  <a:pt x="7418" y="679"/>
                </a:cubicBezTo>
                <a:lnTo>
                  <a:pt x="7418" y="1036"/>
                </a:lnTo>
                <a:cubicBezTo>
                  <a:pt x="7418" y="1322"/>
                  <a:pt x="7560" y="1572"/>
                  <a:pt x="7775" y="1726"/>
                </a:cubicBezTo>
                <a:lnTo>
                  <a:pt x="7775" y="1977"/>
                </a:lnTo>
                <a:cubicBezTo>
                  <a:pt x="7775" y="1977"/>
                  <a:pt x="7775" y="1988"/>
                  <a:pt x="7763" y="1988"/>
                </a:cubicBezTo>
                <a:lnTo>
                  <a:pt x="7346" y="2203"/>
                </a:lnTo>
                <a:cubicBezTo>
                  <a:pt x="7168" y="2286"/>
                  <a:pt x="7060" y="2465"/>
                  <a:pt x="7060" y="2655"/>
                </a:cubicBezTo>
                <a:lnTo>
                  <a:pt x="7060" y="2989"/>
                </a:lnTo>
                <a:lnTo>
                  <a:pt x="6679" y="2989"/>
                </a:lnTo>
                <a:lnTo>
                  <a:pt x="6679" y="2655"/>
                </a:lnTo>
                <a:cubicBezTo>
                  <a:pt x="6679" y="2465"/>
                  <a:pt x="6572" y="2286"/>
                  <a:pt x="6394" y="2203"/>
                </a:cubicBezTo>
                <a:lnTo>
                  <a:pt x="5977" y="1988"/>
                </a:lnTo>
                <a:lnTo>
                  <a:pt x="5965" y="1977"/>
                </a:lnTo>
                <a:lnTo>
                  <a:pt x="5965" y="1726"/>
                </a:lnTo>
                <a:cubicBezTo>
                  <a:pt x="6167" y="1560"/>
                  <a:pt x="6322" y="1322"/>
                  <a:pt x="6322" y="1036"/>
                </a:cubicBezTo>
                <a:lnTo>
                  <a:pt x="6322" y="679"/>
                </a:lnTo>
                <a:cubicBezTo>
                  <a:pt x="6322" y="310"/>
                  <a:pt x="6013" y="0"/>
                  <a:pt x="5632" y="0"/>
                </a:cubicBezTo>
                <a:lnTo>
                  <a:pt x="5274" y="0"/>
                </a:lnTo>
                <a:cubicBezTo>
                  <a:pt x="4905" y="0"/>
                  <a:pt x="4596" y="310"/>
                  <a:pt x="4596" y="679"/>
                </a:cubicBezTo>
                <a:lnTo>
                  <a:pt x="4596" y="1036"/>
                </a:lnTo>
                <a:cubicBezTo>
                  <a:pt x="4596" y="1322"/>
                  <a:pt x="4727" y="1572"/>
                  <a:pt x="4953" y="1726"/>
                </a:cubicBezTo>
                <a:lnTo>
                  <a:pt x="4953" y="1977"/>
                </a:lnTo>
                <a:cubicBezTo>
                  <a:pt x="4953" y="1977"/>
                  <a:pt x="4953" y="1988"/>
                  <a:pt x="4941" y="1988"/>
                </a:cubicBezTo>
                <a:lnTo>
                  <a:pt x="4524" y="2203"/>
                </a:lnTo>
                <a:cubicBezTo>
                  <a:pt x="4346" y="2286"/>
                  <a:pt x="4239" y="2465"/>
                  <a:pt x="4239" y="2655"/>
                </a:cubicBezTo>
                <a:lnTo>
                  <a:pt x="4239" y="2989"/>
                </a:lnTo>
                <a:lnTo>
                  <a:pt x="3846" y="2989"/>
                </a:lnTo>
                <a:lnTo>
                  <a:pt x="3846" y="2655"/>
                </a:lnTo>
                <a:cubicBezTo>
                  <a:pt x="3846" y="2465"/>
                  <a:pt x="3750" y="2286"/>
                  <a:pt x="3572" y="2203"/>
                </a:cubicBezTo>
                <a:lnTo>
                  <a:pt x="3155" y="1988"/>
                </a:lnTo>
                <a:lnTo>
                  <a:pt x="3131" y="1977"/>
                </a:lnTo>
                <a:lnTo>
                  <a:pt x="3131" y="1726"/>
                </a:lnTo>
                <a:cubicBezTo>
                  <a:pt x="3346" y="1560"/>
                  <a:pt x="3489" y="1322"/>
                  <a:pt x="3489" y="1036"/>
                </a:cubicBezTo>
                <a:lnTo>
                  <a:pt x="3489" y="679"/>
                </a:lnTo>
                <a:cubicBezTo>
                  <a:pt x="3489" y="310"/>
                  <a:pt x="3179" y="0"/>
                  <a:pt x="2810" y="0"/>
                </a:cubicBezTo>
                <a:close/>
              </a:path>
            </a:pathLst>
          </a:cu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291" name="Овал 103"/>
          <p:cNvSpPr/>
          <p:nvPr/>
        </p:nvSpPr>
        <p:spPr>
          <a:xfrm>
            <a:off x="3658680" y="4884120"/>
            <a:ext cx="52920" cy="52920"/>
          </a:xfrm>
          <a:prstGeom prst="ellipse">
            <a:avLst/>
          </a:prstGeom>
          <a:solidFill>
            <a:srgbClr val="0386FC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7200" rIns="90000" bIns="-72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92" name="Овал 104"/>
          <p:cNvSpPr/>
          <p:nvPr/>
        </p:nvSpPr>
        <p:spPr>
          <a:xfrm>
            <a:off x="6067800" y="4884120"/>
            <a:ext cx="52920" cy="52920"/>
          </a:xfrm>
          <a:prstGeom prst="ellipse">
            <a:avLst/>
          </a:prstGeom>
          <a:solidFill>
            <a:srgbClr val="0386FC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7200" rIns="90000" bIns="-72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293" name="Овал 105"/>
          <p:cNvSpPr/>
          <p:nvPr/>
        </p:nvSpPr>
        <p:spPr>
          <a:xfrm>
            <a:off x="8798040" y="4884120"/>
            <a:ext cx="52920" cy="52920"/>
          </a:xfrm>
          <a:prstGeom prst="ellipse">
            <a:avLst/>
          </a:prstGeom>
          <a:solidFill>
            <a:srgbClr val="0386FC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7200" rIns="90000" bIns="-72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303" name="Google Shape;269;p32">
            <a:hlinkClick action="ppaction://hlinksldjump" r:id="rId14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307" name="Google Shape;321;p35"/>
          <p:cNvSpPr/>
          <p:nvPr/>
        </p:nvSpPr>
        <p:spPr>
          <a:xfrm>
            <a:off x="8617320" y="5641200"/>
            <a:ext cx="84708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Manrope ExtraBold"/>
                <a:ea typeface="Manrope"/>
              </a:rPr>
              <a:t>Renga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+mn-lt"/>
            </a:endParaRPr>
          </a:p>
        </p:txBody>
      </p:sp>
      <p:sp>
        <p:nvSpPr>
          <p:cNvPr id="308" name="nav">
            <a:hlinkClick action="ppaction://hlinksldjump" r:id="rId15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ВЫЗОВЫ</a:t>
            </a:r>
          </a:p>
        </p:txBody>
      </p:sp>
      <p:sp>
        <p:nvSpPr>
          <p:cNvPr id="309" name="nav">
            <a:hlinkClick action="ppaction://hlinksldjump" r:id="rId16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310" name="nav">
            <a:hlinkClick action="ppaction://hlinksldjump" r:id="rId8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311" name="nav">
            <a:hlinkClick action="ppaction://hlinksldjump" r:id="rId7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312" name="nav">
            <a:hlinkClick action="ppaction://hlinksldjump" r:id="rId19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313" name="nav">
            <a:hlinkClick action="ppaction://hlinksldjump" r:id="rId20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314" name="nav">
            <a:hlinkClick action="ppaction://hlinksldjump" r:id="rId21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МЕТОДИКА</a:t>
            </a:r>
          </a:p>
        </p:txBody>
      </p:sp>
      <p:sp>
        <p:nvSpPr>
          <p:cNvPr id="315" name="nav">
            <a:hlinkClick action="ppaction://hlinksldjump" r:id="rId22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316" name="nav">
            <a:hlinkClick action="ppaction://hlinksldjump" r:id="rId23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317" name="nav">
            <a:hlinkClick action="ppaction://hlinksldjump" r:id="rId6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НОРМАСОФТ</a:t>
            </a:r>
          </a:p>
        </p:txBody>
      </p:sp>
      <p:sp>
        <p:nvSpPr>
          <p:cNvPr id="318" name="nav">
            <a:hlinkClick action="ppaction://hlinksldjump" r:id="rId13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Прямоугольник: скругленные углы 2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486" name="Заголовок 1"/>
          <p:cNvSpPr/>
          <p:nvPr/>
        </p:nvSpPr>
        <p:spPr>
          <a:xfrm>
            <a:off x="826200" y="1437840"/>
            <a:ext cx="11086920" cy="76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Консультанты по всем разделам проектирования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87" name="Google Shape;321;p35"/>
          <p:cNvSpPr/>
          <p:nvPr/>
        </p:nvSpPr>
        <p:spPr>
          <a:xfrm>
            <a:off x="1491120" y="2204280"/>
            <a:ext cx="5349600" cy="4442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Учебный центр: комплексное обучение работе в ПО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88" name="Google Shape;321;p35"/>
          <p:cNvSpPr/>
          <p:nvPr/>
        </p:nvSpPr>
        <p:spPr>
          <a:xfrm>
            <a:off x="1491120" y="2846880"/>
            <a:ext cx="2310840" cy="40932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WorldSkills</a:t>
            </a: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, 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Manrope"/>
              </a:rPr>
              <a:t>AtomSkills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89" name="Google Shape;321;p35"/>
          <p:cNvSpPr/>
          <p:nvPr/>
        </p:nvSpPr>
        <p:spPr>
          <a:xfrm>
            <a:off x="1491120" y="3454920"/>
            <a:ext cx="5349600" cy="4442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2">
                    <a:lumMod val="25000"/>
                  </a:schemeClr>
                </a:solidFill>
                <a:effectLst/>
                <a:uFillTx/>
                <a:latin typeface="+mn-lt"/>
              </a:rPr>
              <a:t>Инженеры по всем разделам проектирования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90" name="Google Shape;321;p35"/>
          <p:cNvSpPr/>
          <p:nvPr/>
        </p:nvSpPr>
        <p:spPr>
          <a:xfrm>
            <a:off x="1491120" y="4097880"/>
            <a:ext cx="8292960" cy="4928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2">
                    <a:lumMod val="25000"/>
                  </a:schemeClr>
                </a:solidFill>
                <a:effectLst/>
                <a:uFillTx/>
                <a:latin typeface="+mn-lt"/>
              </a:rPr>
              <a:t>Специалисты по базовому САПР для инженеров ПТО, ОКСов и служб эксплуатации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91" name="Google Shape;321;p35"/>
          <p:cNvSpPr/>
          <p:nvPr/>
        </p:nvSpPr>
        <p:spPr>
          <a:xfrm>
            <a:off x="1491120" y="4789440"/>
            <a:ext cx="5349600" cy="4442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2">
                    <a:lumMod val="25000"/>
                  </a:schemeClr>
                </a:solidFill>
                <a:effectLst/>
                <a:uFillTx/>
                <a:latin typeface="+mn-lt"/>
              </a:rPr>
              <a:t>Специалисты по моделированию бизнес-процессов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92" name="Google Shape;321;p35"/>
          <p:cNvSpPr/>
          <p:nvPr/>
        </p:nvSpPr>
        <p:spPr>
          <a:xfrm>
            <a:off x="1491120" y="5432040"/>
            <a:ext cx="5997240" cy="4442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2">
                    <a:lumMod val="25000"/>
                  </a:schemeClr>
                </a:solidFill>
                <a:effectLst/>
                <a:uFillTx/>
                <a:latin typeface="+mn-lt"/>
              </a:rPr>
              <a:t>Специалисты по моделированию технологических процессов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93" name="Google Shape;321;p35"/>
          <p:cNvSpPr/>
          <p:nvPr/>
        </p:nvSpPr>
        <p:spPr>
          <a:xfrm>
            <a:off x="1491120" y="6075000"/>
            <a:ext cx="8292960" cy="49284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2">
                    <a:lumMod val="25000"/>
                  </a:schemeClr>
                </a:solidFill>
                <a:effectLst/>
                <a:uFillTx/>
                <a:latin typeface="+mn-lt"/>
              </a:rPr>
              <a:t>Специалисты по развертыванию отечественного системного и инфраструктурного ПО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494" name="Google Shape;321;p35"/>
          <p:cNvSpPr/>
          <p:nvPr/>
        </p:nvSpPr>
        <p:spPr>
          <a:xfrm>
            <a:off x="966240" y="220428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pic>
        <p:nvPicPr>
          <p:cNvPr id="495" name="Рисунок 25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/>
          <a:stretch/>
        </p:blipFill>
        <p:spPr>
          <a:xfrm>
            <a:off x="1031040" y="2245680"/>
            <a:ext cx="394560" cy="39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6" name="Google Shape;321;p35"/>
          <p:cNvSpPr/>
          <p:nvPr/>
        </p:nvSpPr>
        <p:spPr>
          <a:xfrm>
            <a:off x="966240" y="281340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497" name="Google Shape;321;p35"/>
          <p:cNvSpPr/>
          <p:nvPr/>
        </p:nvSpPr>
        <p:spPr>
          <a:xfrm>
            <a:off x="966240" y="345204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498" name="Google Shape;321;p35"/>
          <p:cNvSpPr/>
          <p:nvPr/>
        </p:nvSpPr>
        <p:spPr>
          <a:xfrm>
            <a:off x="955440" y="414648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499" name="Google Shape;321;p35"/>
          <p:cNvSpPr/>
          <p:nvPr/>
        </p:nvSpPr>
        <p:spPr>
          <a:xfrm>
            <a:off x="955440" y="478944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500" name="Google Shape;321;p35"/>
          <p:cNvSpPr/>
          <p:nvPr/>
        </p:nvSpPr>
        <p:spPr>
          <a:xfrm>
            <a:off x="966240" y="543204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sp>
        <p:nvSpPr>
          <p:cNvPr id="501" name="Google Shape;321;p35"/>
          <p:cNvSpPr/>
          <p:nvPr/>
        </p:nvSpPr>
        <p:spPr>
          <a:xfrm>
            <a:off x="966240" y="6123600"/>
            <a:ext cx="524520" cy="44424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14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  <p:pic>
        <p:nvPicPr>
          <p:cNvPr id="502" name="Рисунок 26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2"/>
          <a:stretch/>
        </p:blipFill>
        <p:spPr>
          <a:xfrm>
            <a:off x="1064160" y="2872800"/>
            <a:ext cx="329040" cy="329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3" name="Рисунок 27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3"/>
          <a:stretch/>
        </p:blipFill>
        <p:spPr>
          <a:xfrm>
            <a:off x="1054440" y="3495240"/>
            <a:ext cx="371160" cy="371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4" name="Рисунок 30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4"/>
          <a:stretch/>
        </p:blipFill>
        <p:spPr>
          <a:xfrm>
            <a:off x="1054440" y="4221720"/>
            <a:ext cx="347400" cy="347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5" name="Рисунок 29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5"/>
          <a:stretch/>
        </p:blipFill>
        <p:spPr>
          <a:xfrm>
            <a:off x="1050480" y="4864680"/>
            <a:ext cx="307080" cy="30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6" name="Рисунок 28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6"/>
          <a:stretch/>
        </p:blipFill>
        <p:spPr>
          <a:xfrm>
            <a:off x="1031040" y="5468040"/>
            <a:ext cx="370440" cy="370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7" name="Рисунок 3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7"/>
          <a:stretch/>
        </p:blipFill>
        <p:spPr>
          <a:xfrm>
            <a:off x="1031040" y="6166800"/>
            <a:ext cx="371160" cy="371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8" name="Рисунок 39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8">
            <a:alphaModFix amt="70000"/>
          </a:blip>
          <a:srcRect l="0" t="55656" r="0" b="0"/>
          <a:stretch/>
        </p:blipFill>
        <p:spPr>
          <a:xfrm rot="5400000">
            <a:off x="-1733040" y="428148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9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10" name="Прямая со стрелкой 41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20" name="Google Shape;269;p32">
            <a:hlinkClick action="ppaction://hlinksldjump" r:id="rId18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21" name="nav">
            <a:hlinkClick action="ppaction://hlinksldjump" r:id="rId19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ВЫЗОВЫ</a:t>
            </a:r>
          </a:p>
        </p:txBody>
      </p:sp>
      <p:sp>
        <p:nvSpPr>
          <p:cNvPr id="522" name="nav">
            <a:hlinkClick action="ppaction://hlinksldjump" r:id="rId20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523" name="nav">
            <a:hlinkClick action="ppaction://hlinksldjump" r:id="rId12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524" name="nav">
            <a:hlinkClick action="ppaction://hlinksldjump" r:id="rId11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525" name="nav">
            <a:hlinkClick action="ppaction://hlinksldjump" r:id="rId23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526" name="nav">
            <a:hlinkClick action="ppaction://hlinksldjump" r:id="rId24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527" name="nav">
            <a:hlinkClick action="ppaction://hlinksldjump" r:id="rId25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МЕТОДИКА</a:t>
            </a:r>
          </a:p>
        </p:txBody>
      </p:sp>
      <p:sp>
        <p:nvSpPr>
          <p:cNvPr id="528" name="nav">
            <a:hlinkClick action="ppaction://hlinksldjump" r:id="rId26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29" name="nav">
            <a:hlinkClick action="ppaction://hlinksldjump" r:id="rId27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530" name="nav">
            <a:hlinkClick action="ppaction://hlinksldjump" r:id="rId10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НОРМАСОФТ</a:t>
            </a:r>
          </a:p>
        </p:txBody>
      </p:sp>
      <p:sp>
        <p:nvSpPr>
          <p:cNvPr id="531" name="nav">
            <a:hlinkClick action="ppaction://hlinksldjump" r:id="rId17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Собственные разработки и сопровождение внедрения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2514600" cy="214884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Snip Single Corner Rectangle 543"/>
          <p:cNvSpPr/>
          <p:nvPr/>
        </p:nvSpPr>
        <p:spPr>
          <a:xfrm>
            <a:off x="822960" y="2194560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+mj-lt"/>
              </a:rPr>
              <a:t>01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822960" y="27614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Аудит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822960" y="315468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Разбираем процессы отдела и выбираем разделы с наибольшим эффектом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3127248" y="269748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0386FC"/>
                </a:solidFill>
                <a:latin typeface="+mn-lt"/>
              </a:rPr>
              <a:t>→</a:t>
            </a:r>
          </a:p>
        </p:txBody>
      </p:sp>
      <p:sp>
        <p:nvSpPr>
          <p:cNvPr id="548" name="Snip Single Corner Rectangle 547"/>
          <p:cNvSpPr/>
          <p:nvPr/>
        </p:nvSpPr>
        <p:spPr>
          <a:xfrm>
            <a:off x="3383279" y="2011680"/>
            <a:ext cx="2514600" cy="214884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9" name="Snip Single Corner Rectangle 548"/>
          <p:cNvSpPr/>
          <p:nvPr/>
        </p:nvSpPr>
        <p:spPr>
          <a:xfrm>
            <a:off x="3611879" y="2194560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+mj-lt"/>
              </a:rPr>
              <a:t>02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3611879" y="27614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Пилот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3611879" y="315468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Запуск модуля на реальном проекте заказчика, замер экономии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5916168" y="269748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0386FC"/>
                </a:solidFill>
                <a:latin typeface="+mn-lt"/>
              </a:rPr>
              <a:t>→</a:t>
            </a:r>
          </a:p>
        </p:txBody>
      </p:sp>
      <p:sp>
        <p:nvSpPr>
          <p:cNvPr id="553" name="Snip Single Corner Rectangle 552"/>
          <p:cNvSpPr/>
          <p:nvPr/>
        </p:nvSpPr>
        <p:spPr>
          <a:xfrm>
            <a:off x="6172200" y="2011680"/>
            <a:ext cx="2514600" cy="214884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4" name="Snip Single Corner Rectangle 553"/>
          <p:cNvSpPr/>
          <p:nvPr/>
        </p:nvSpPr>
        <p:spPr>
          <a:xfrm>
            <a:off x="6400800" y="2194560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+mj-lt"/>
              </a:rPr>
              <a:t>03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6400800" y="27614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Обучение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6400800" y="315468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Короткие курсы по модулю в УЦ Нормасофт — очно, онлайн или у вас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8705088" y="269748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0386FC"/>
                </a:solidFill>
                <a:latin typeface="+mn-lt"/>
              </a:rPr>
              <a:t>→</a:t>
            </a:r>
          </a:p>
        </p:txBody>
      </p:sp>
      <p:sp>
        <p:nvSpPr>
          <p:cNvPr id="558" name="Snip Single Corner Rectangle 557"/>
          <p:cNvSpPr/>
          <p:nvPr/>
        </p:nvSpPr>
        <p:spPr>
          <a:xfrm>
            <a:off x="8961120" y="2011680"/>
            <a:ext cx="2514600" cy="214884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9" name="Snip Single Corner Rectangle 558"/>
          <p:cNvSpPr/>
          <p:nvPr/>
        </p:nvSpPr>
        <p:spPr>
          <a:xfrm>
            <a:off x="9189720" y="2194560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+mj-lt"/>
              </a:rPr>
              <a:t>04</a:t>
            </a:r>
          </a:p>
        </p:txBody>
      </p:sp>
      <p:sp>
        <p:nvSpPr>
          <p:cNvPr id="560" name="TextBox 559"/>
          <p:cNvSpPr txBox="1"/>
          <p:nvPr/>
        </p:nvSpPr>
        <p:spPr>
          <a:xfrm>
            <a:off x="9189720" y="27614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+mj-lt"/>
              </a:rPr>
              <a:t>Тиражирование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9189720" y="315468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Распространение на отдел, настройка шаблонов, поддержка</a:t>
            </a:r>
          </a:p>
        </p:txBody>
      </p:sp>
      <p:sp>
        <p:nvSpPr>
          <p:cNvPr id="562" name="Snip Single Corner Rectangle 561"/>
          <p:cNvSpPr/>
          <p:nvPr/>
        </p:nvSpPr>
        <p:spPr>
          <a:xfrm>
            <a:off x="594360" y="4434840"/>
            <a:ext cx="3474720" cy="146304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3" name="TextBox 562"/>
          <p:cNvSpPr txBox="1"/>
          <p:nvPr/>
        </p:nvSpPr>
        <p:spPr>
          <a:xfrm>
            <a:off x="822960" y="45720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386FC"/>
                </a:solidFill>
                <a:latin typeface="+mj-lt"/>
              </a:rPr>
              <a:t>Плагины и утилиты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822960" y="4956048"/>
            <a:ext cx="3017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Типовые и индивидуальные плагины под задачи отдела и стандарты предприятия</a:t>
            </a:r>
          </a:p>
        </p:txBody>
      </p:sp>
      <p:sp>
        <p:nvSpPr>
          <p:cNvPr id="565" name="Snip Single Corner Rectangle 564"/>
          <p:cNvSpPr/>
          <p:nvPr/>
        </p:nvSpPr>
        <p:spPr>
          <a:xfrm>
            <a:off x="4297680" y="4434840"/>
            <a:ext cx="3474720" cy="146304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6" name="TextBox 565"/>
          <p:cNvSpPr txBox="1"/>
          <p:nvPr/>
        </p:nvSpPr>
        <p:spPr>
          <a:xfrm>
            <a:off x="4526280" y="45720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386FC"/>
                </a:solidFill>
                <a:latin typeface="+mj-lt"/>
              </a:rPr>
              <a:t>Базы и шаблоны</a:t>
            </a:r>
          </a:p>
        </p:txBody>
      </p:sp>
      <p:sp>
        <p:nvSpPr>
          <p:cNvPr id="567" name="TextBox 566"/>
          <p:cNvSpPr txBox="1"/>
          <p:nvPr/>
        </p:nvSpPr>
        <p:spPr>
          <a:xfrm>
            <a:off x="4526280" y="4956048"/>
            <a:ext cx="3017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Наполнение баз оборудования, настройка шаблонов и спецификаций под ГОСТ и СТО</a:t>
            </a:r>
          </a:p>
        </p:txBody>
      </p:sp>
      <p:sp>
        <p:nvSpPr>
          <p:cNvPr id="568" name="Snip Single Corner Rectangle 567"/>
          <p:cNvSpPr/>
          <p:nvPr/>
        </p:nvSpPr>
        <p:spPr>
          <a:xfrm>
            <a:off x="8001000" y="4434840"/>
            <a:ext cx="3474720" cy="146304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9" name="TextBox 568"/>
          <p:cNvSpPr txBox="1"/>
          <p:nvPr/>
        </p:nvSpPr>
        <p:spPr>
          <a:xfrm>
            <a:off x="8229600" y="45720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386FC"/>
                </a:solidFill>
                <a:latin typeface="+mj-lt"/>
              </a:rPr>
              <a:t>Развитие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8229600" y="4956048"/>
            <a:ext cx="3017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+mn-lt"/>
              </a:rPr>
              <a:t>Цифровые двойники производства, BIM VR — следующий шаг, когда он нужен</a:t>
            </a:r>
          </a:p>
        </p:txBody>
      </p:sp>
      <p:sp>
        <p:nvSpPr>
          <p:cNvPr id="571" name="nav">
            <a:hlinkClick action="ppaction://hlinksldjump" r:id="rId13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ВЫЗОВЫ</a:t>
            </a:r>
          </a:p>
        </p:txBody>
      </p:sp>
      <p:sp>
        <p:nvSpPr>
          <p:cNvPr id="572" name="nav">
            <a:hlinkClick action="ppaction://hlinksldjump" r:id="rId5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573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574" name="nav">
            <a:hlinkClick action="ppaction://hlinksldjump" r:id="rId16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575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576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577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МЕТОДИКА</a:t>
            </a:r>
          </a:p>
        </p:txBody>
      </p:sp>
      <p:sp>
        <p:nvSpPr>
          <p:cNvPr id="578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79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580" name="nav">
            <a:hlinkClick action="ppaction://hlinksldjump" r:id="rId3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НОРМАСОФТ</a:t>
            </a:r>
          </a:p>
        </p:txBody>
      </p:sp>
      <p:sp>
        <p:nvSpPr>
          <p:cNvPr id="581" name="nav">
            <a:hlinkClick action="ppaction://hlinksldjump" r:id="rId10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sp>
        <p:nvSpPr>
          <p:cNvPr id="563" name="Заголовок 1"/>
          <p:cNvSpPr/>
          <p:nvPr/>
        </p:nvSpPr>
        <p:spPr>
          <a:xfrm>
            <a:off x="1093320" y="1568880"/>
            <a:ext cx="3417840" cy="12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lang="ru-RU" sz="5100" b="1" u="none" strike="noStrike">
                <a:solidFill>
                  <a:schemeClr val="dk1"/>
                </a:solidFill>
                <a:effectLst/>
                <a:uFillTx/>
                <a:latin typeface="+mj-lt"/>
              </a:rPr>
              <a:t>Спасибо!</a:t>
            </a:r>
            <a:endParaRPr lang="ru-RU" sz="51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64" name="TextBox 5"/>
          <p:cNvSpPr/>
          <p:nvPr/>
        </p:nvSpPr>
        <p:spPr>
          <a:xfrm>
            <a:off x="1133640" y="2410560"/>
            <a:ext cx="32655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У вас остались вопросы?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65" name="Подзаголовок 2"/>
          <p:cNvSpPr/>
          <p:nvPr/>
        </p:nvSpPr>
        <p:spPr>
          <a:xfrm>
            <a:off x="1093320" y="5751000"/>
            <a:ext cx="2109600" cy="82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1200" b="0" u="none" strike="noStrike">
                <a:solidFill>
                  <a:srgbClr val="404040"/>
                </a:solidFill>
                <a:effectLst/>
                <a:uFillTx/>
                <a:latin typeface="+mn-lt"/>
              </a:rPr>
              <a:t>8 (800) 302-53-50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200" b="0" u="none" strike="noStrike">
                <a:solidFill>
                  <a:srgbClr val="404040"/>
                </a:solidFill>
                <a:effectLst/>
                <a:uFillTx/>
                <a:latin typeface="+mn-lt"/>
              </a:rPr>
              <a:t>sales@normasoft.com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200" b="0" u="none" strike="noStrike">
                <a:solidFill>
                  <a:srgbClr val="404040"/>
                </a:solidFill>
                <a:effectLst/>
                <a:uFillTx/>
                <a:latin typeface="+mn-lt"/>
              </a:rPr>
              <a:t>normasoft.com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66" name="TextBox 9"/>
          <p:cNvSpPr/>
          <p:nvPr/>
        </p:nvSpPr>
        <p:spPr>
          <a:xfrm>
            <a:off x="1093320" y="4831200"/>
            <a:ext cx="612072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ExtraBold"/>
              </a:rPr>
              <a:t>Иванов Иван Иванович,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+mn-lt"/>
              </a:rPr>
              <a:t>руководитель проектов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+mn-lt"/>
            </a:endParaRPr>
          </a:p>
        </p:txBody>
      </p:sp>
      <p:sp>
        <p:nvSpPr>
          <p:cNvPr id="576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+mn-lt"/>
            </a:endParaRPr>
          </a:p>
        </p:txBody>
      </p:sp>
      <p:pic>
        <p:nvPicPr>
          <p:cNvPr id="580" name="Рисунок 2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14">
            <a:extLst/>
          </a:blip>
          <a:srcRect l="32093" t="0" r="0" b="0"/>
          <a:stretch/>
        </p:blipFill>
        <p:spPr>
          <a:xfrm>
            <a:off x="6590520" y="2217960"/>
            <a:ext cx="5600880" cy="4639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1" name="Рисунок 24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5">
            <a:alphaModFix amt="70000"/>
          </a:blip>
          <a:srcRect l="0" t="55656" r="0" b="0"/>
          <a:stretch/>
        </p:blipFill>
        <p:spPr>
          <a:xfrm rot="5400000">
            <a:off x="-1733040" y="38451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2" name="nav">
            <a:hlinkClick action="ppaction://hlinksldjump" r:id="rId11"/>
          </p:cNvPr>
          <p:cNvSpPr/>
          <p:nvPr/>
        </p:nvSpPr>
        <p:spPr>
          <a:xfrm>
            <a:off x="932688" y="219456"/>
            <a:ext cx="88696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ВЫЗОВЫ</a:t>
            </a:r>
          </a:p>
        </p:txBody>
      </p:sp>
      <p:sp>
        <p:nvSpPr>
          <p:cNvPr id="583" name="nav">
            <a:hlinkClick action="ppaction://hlinksldjump" r:id="rId10"/>
          </p:cNvPr>
          <p:cNvSpPr/>
          <p:nvPr/>
        </p:nvSpPr>
        <p:spPr>
          <a:xfrm>
            <a:off x="1929384" y="219456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ЭКОНОМИЯ</a:t>
            </a:r>
          </a:p>
        </p:txBody>
      </p:sp>
      <p:sp>
        <p:nvSpPr>
          <p:cNvPr id="584" name="nav">
            <a:hlinkClick action="ppaction://hlinksldjump" r:id="rId4"/>
          </p:cNvPr>
          <p:cNvSpPr/>
          <p:nvPr/>
        </p:nvSpPr>
        <p:spPr>
          <a:xfrm>
            <a:off x="3118103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АР и КР</a:t>
            </a:r>
          </a:p>
        </p:txBody>
      </p:sp>
      <p:sp>
        <p:nvSpPr>
          <p:cNvPr id="585" name="nav">
            <a:hlinkClick action="ppaction://hlinksldjump" r:id="rId3"/>
          </p:cNvPr>
          <p:cNvSpPr/>
          <p:nvPr/>
        </p:nvSpPr>
        <p:spPr>
          <a:xfrm>
            <a:off x="4210812" y="219456"/>
            <a:ext cx="9829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ЭЛЕКТРО</a:t>
            </a:r>
          </a:p>
        </p:txBody>
      </p:sp>
      <p:sp>
        <p:nvSpPr>
          <p:cNvPr id="586" name="nav">
            <a:hlinkClick action="ppaction://hlinksldjump" r:id="rId17"/>
          </p:cNvPr>
          <p:cNvSpPr/>
          <p:nvPr/>
        </p:nvSpPr>
        <p:spPr>
          <a:xfrm>
            <a:off x="5303519" y="219456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СКС и ОПС</a:t>
            </a:r>
          </a:p>
        </p:txBody>
      </p:sp>
      <p:sp>
        <p:nvSpPr>
          <p:cNvPr id="587" name="nav">
            <a:hlinkClick action="ppaction://hlinksldjump" r:id="rId18"/>
          </p:cNvPr>
          <p:cNvSpPr/>
          <p:nvPr/>
        </p:nvSpPr>
        <p:spPr>
          <a:xfrm>
            <a:off x="6588251" y="219456"/>
            <a:ext cx="16550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ДРУГИЕ РАЗДЕЛЫ</a:t>
            </a:r>
          </a:p>
        </p:txBody>
      </p:sp>
      <p:sp>
        <p:nvSpPr>
          <p:cNvPr id="588" name="nav">
            <a:hlinkClick action="ppaction://hlinksldjump" r:id="rId19"/>
          </p:cNvPr>
          <p:cNvSpPr/>
          <p:nvPr/>
        </p:nvSpPr>
        <p:spPr>
          <a:xfrm>
            <a:off x="932688" y="640080"/>
            <a:ext cx="107899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МЕТОДИКА</a:t>
            </a:r>
          </a:p>
        </p:txBody>
      </p:sp>
      <p:sp>
        <p:nvSpPr>
          <p:cNvPr id="589" name="nav">
            <a:hlinkClick action="ppaction://hlinksldjump" r:id="rId20"/>
          </p:cNvPr>
          <p:cNvSpPr/>
          <p:nvPr/>
        </p:nvSpPr>
        <p:spPr>
          <a:xfrm>
            <a:off x="2121408" y="640080"/>
            <a:ext cx="79095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КЕЙСЫ</a:t>
            </a:r>
          </a:p>
        </p:txBody>
      </p:sp>
      <p:sp>
        <p:nvSpPr>
          <p:cNvPr id="590" name="nav">
            <a:hlinkClick action="ppaction://hlinksldjump" r:id="rId21"/>
          </p:cNvPr>
          <p:cNvSpPr/>
          <p:nvPr/>
        </p:nvSpPr>
        <p:spPr>
          <a:xfrm>
            <a:off x="3022091" y="640080"/>
            <a:ext cx="1367028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ОГРАНИЧЕНИЯ</a:t>
            </a:r>
          </a:p>
        </p:txBody>
      </p:sp>
      <p:sp>
        <p:nvSpPr>
          <p:cNvPr id="591" name="nav">
            <a:hlinkClick action="ppaction://hlinksldjump" r:id="rId2"/>
          </p:cNvPr>
          <p:cNvSpPr/>
          <p:nvPr/>
        </p:nvSpPr>
        <p:spPr>
          <a:xfrm>
            <a:off x="4498848" y="640080"/>
            <a:ext cx="117500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FFFFFF"/>
                </a:solidFill>
                <a:latin typeface="Manrope"/>
              </a:rPr>
              <a:t>НОРМАСОФТ</a:t>
            </a:r>
          </a:p>
        </p:txBody>
      </p:sp>
      <p:sp>
        <p:nvSpPr>
          <p:cNvPr id="592" name="nav">
            <a:hlinkClick action="ppaction://hlinksldjump" r:id="rId9"/>
          </p:cNvPr>
          <p:cNvSpPr/>
          <p:nvPr/>
        </p:nvSpPr>
        <p:spPr>
          <a:xfrm>
            <a:off x="5783579" y="640080"/>
            <a:ext cx="107899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0">
                <a:solidFill>
                  <a:srgbClr val="0386FC"/>
                </a:solidFill>
                <a:latin typeface="Manrope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Manrop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nrope Medium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anrop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anrope Medium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6688</TotalTime>
  <Application>LibreOffice/26.8.0.3$Linux_X86_64 LibreOffice_project/680$Build-3</Application>
  <AppVersion>15.0000</AppVersion>
  <Words>7334</Words>
  <Paragraphs>1923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2025-11-13T03:59:40Z</dcterms:created>
  <dc:creator>Mirana Alieva</dc:creator>
  <dc:description/>
  <dc:language>ru-RU</dc:language>
  <cp:lastModifiedBy/>
  <dcterms:modified xsi:type="dcterms:W3CDTF">2026-09-27T23:50:58Z</dcterms:modified>
  <cp:revision>63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Широкоэкранный</vt:lpwstr>
  </property>
  <property fmtid="{D5CDD505-2E9C-101B-9397-08002B2CF9AE}" pid="4" name="Slides">
    <vt:i4>76</vt:i4>
  </property>
</Properties>
</file>