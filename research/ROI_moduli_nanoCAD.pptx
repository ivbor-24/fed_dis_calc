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90" r:id="rId38"/>
    <p:sldId id="271" r:id="rId18"/>
    <p:sldId id="274" r:id="rId22"/>
    <p:sldId id="275" r:id="rId23"/>
    <p:sldId id="291" r:id="rId39"/>
    <p:sldId id="276" r:id="rId24"/>
    <p:sldId id="292" r:id="rId40"/>
    <p:sldId id="277" r:id="rId25"/>
    <p:sldId id="278" r:id="rId26"/>
    <p:sldId id="279" r:id="rId27"/>
    <p:sldId id="280" r:id="rId28"/>
    <p:sldId id="293" r:id="rId41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63" r:id="rId10"/>
    <p:sldId id="258" r:id="rId5"/>
    <p:sldId id="264" r:id="rId11"/>
    <p:sldId id="270" r:id="rId17"/>
    <p:sldId id="289" r:id="rId37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5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4.xml"/><Relationship Id="rId17" Type="http://schemas.openxmlformats.org/officeDocument/2006/relationships/slide" Target="slides/slide25.xml"/><Relationship Id="rId18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27.xml"/><Relationship Id="rId21" Type="http://schemas.openxmlformats.org/officeDocument/2006/relationships/presProps" Target="presProps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7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6.xml"/><Relationship Id="rId38" Type="http://schemas.openxmlformats.org/officeDocument/2006/relationships/slide" Target="slides/slide2.xml"/><Relationship Id="rId39" Type="http://schemas.openxmlformats.org/officeDocument/2006/relationships/slide" Target="slides/slide6.xml"/><Relationship Id="rId40" Type="http://schemas.openxmlformats.org/officeDocument/2006/relationships/slide" Target="slides/slide8.xml"/><Relationship Id="rId41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Затраты после внедрения, тыс. ₽</c:v>
                </c:pt>
              </c:strCache>
            </c:strRef>
          </c:tx>
          <c:spPr>
            <a:solidFill>
              <a:srgbClr val="C9D3E0"/>
            </a:solidFill>
          </c:spPr>
          <c:cat>
            <c:strRef>
              <c:f>Sheet1!$A$2:$A$12</c:f>
              <c:strCache>
                <c:ptCount val="11"/>
                <c:pt idx="0">
                  <c:v>АВТ  20%</c:v>
                </c:pt>
                <c:pt idx="1">
                  <c:v>ПЗУ  30%</c:v>
                </c:pt>
                <c:pt idx="2">
                  <c:v>ПОС  30%</c:v>
                </c:pt>
                <c:pt idx="3">
                  <c:v>СС  20%</c:v>
                </c:pt>
                <c:pt idx="4">
                  <c:v>ПБ  22%</c:v>
                </c:pt>
                <c:pt idx="5">
                  <c:v>ЭО  25%</c:v>
                </c:pt>
                <c:pt idx="6">
                  <c:v>ВК  22%</c:v>
                </c:pt>
                <c:pt idx="7">
                  <c:v>ОВ  22%</c:v>
                </c:pt>
                <c:pt idx="8">
                  <c:v>ТХ  30%</c:v>
                </c:pt>
                <c:pt idx="9">
                  <c:v>АР  35%</c:v>
                </c:pt>
                <c:pt idx="10">
                  <c:v>КР  35%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214.3</c:v>
                </c:pt>
                <c:pt idx="1">
                  <c:v>208.4</c:v>
                </c:pt>
                <c:pt idx="2">
                  <c:v>215.3</c:v>
                </c:pt>
                <c:pt idx="3">
                  <c:v>277.8</c:v>
                </c:pt>
                <c:pt idx="4">
                  <c:v>332.8</c:v>
                </c:pt>
                <c:pt idx="5">
                  <c:v>349.8</c:v>
                </c:pt>
                <c:pt idx="6">
                  <c:v>441.3</c:v>
                </c:pt>
                <c:pt idx="7">
                  <c:v>541.9</c:v>
                </c:pt>
                <c:pt idx="8">
                  <c:v>1042.0</c:v>
                </c:pt>
                <c:pt idx="9">
                  <c:v>1045.0</c:v>
                </c:pt>
                <c:pt idx="10">
                  <c:v>1257.8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Экономия, тыс. ₽</c:v>
                </c:pt>
              </c:strCache>
            </c:strRef>
          </c:tx>
          <c:spPr>
            <a:solidFill>
              <a:srgbClr val="0386F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АВТ  20%</c:v>
                </c:pt>
                <c:pt idx="1">
                  <c:v>ПЗУ  30%</c:v>
                </c:pt>
                <c:pt idx="2">
                  <c:v>ПОС  30%</c:v>
                </c:pt>
                <c:pt idx="3">
                  <c:v>СС  20%</c:v>
                </c:pt>
                <c:pt idx="4">
                  <c:v>ПБ  22%</c:v>
                </c:pt>
                <c:pt idx="5">
                  <c:v>ЭО  25%</c:v>
                </c:pt>
                <c:pt idx="6">
                  <c:v>ВК  22%</c:v>
                </c:pt>
                <c:pt idx="7">
                  <c:v>ОВ  22%</c:v>
                </c:pt>
                <c:pt idx="8">
                  <c:v>ТХ  30%</c:v>
                </c:pt>
                <c:pt idx="9">
                  <c:v>АР  35%</c:v>
                </c:pt>
                <c:pt idx="10">
                  <c:v>КР  35%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53.6</c:v>
                </c:pt>
                <c:pt idx="1">
                  <c:v>89.3</c:v>
                </c:pt>
                <c:pt idx="2">
                  <c:v>92.3</c:v>
                </c:pt>
                <c:pt idx="3">
                  <c:v>69.5</c:v>
                </c:pt>
                <c:pt idx="4">
                  <c:v>93.9</c:v>
                </c:pt>
                <c:pt idx="5">
                  <c:v>116.6</c:v>
                </c:pt>
                <c:pt idx="6">
                  <c:v>124.4</c:v>
                </c:pt>
                <c:pt idx="7">
                  <c:v>152.8</c:v>
                </c:pt>
                <c:pt idx="8">
                  <c:v>446.6</c:v>
                </c:pt>
                <c:pt idx="9">
                  <c:v>562.7</c:v>
                </c:pt>
                <c:pt idx="10">
                  <c:v>677.3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1A1A1A"/>
          </a:solidFill>
          <a:latin typeface="Manrope Medium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0"/>
              <a:t>Эффект за год, тыс. ₽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Детский сад на 200 мест</c:v>
                </c:pt>
              </c:strCache>
            </c:strRef>
          </c:tx>
          <c:spPr>
            <a:solidFill>
              <a:srgbClr val="C9D3E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АР и КР (СПДС)</c:v>
                </c:pt>
                <c:pt idx="1">
                  <c:v>Электро</c:v>
                </c:pt>
                <c:pt idx="2">
                  <c:v>СКС + ОПС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977.6</c:v>
                </c:pt>
                <c:pt idx="1">
                  <c:v>557.0</c:v>
                </c:pt>
                <c:pt idx="2">
                  <c:v>938.6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Котельная 25 Гкал/ч</c:v>
                </c:pt>
              </c:strCache>
            </c:strRef>
          </c:tx>
          <c:spPr>
            <a:solidFill>
              <a:srgbClr val="0386F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АР и КР (СПДС)</c:v>
                </c:pt>
                <c:pt idx="1">
                  <c:v>Электро</c:v>
                </c:pt>
                <c:pt idx="2">
                  <c:v>СКС + ОПС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1351.9</c:v>
                </c:pt>
                <c:pt idx="1">
                  <c:v>1048.8</c:v>
                </c:pt>
                <c:pt idx="2">
                  <c:v>1220.8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A1A1A"/>
          </a:solidFill>
          <a:latin typeface="Manrope Medium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Экономия времени, %</c:v>
                </c:pt>
              </c:strCache>
            </c:strRef>
          </c:tx>
          <c:spPr>
            <a:solidFill>
              <a:srgbClr val="0386FC"/>
            </a:solidFill>
          </c:spPr>
          <c:dLbls>
            <c:numFmt formatCode="0%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Трассировка и журналы</c:v>
                </c:pt>
                <c:pt idx="1">
                  <c:v>Спецификация оборудования (АР, КР)</c:v>
                </c:pt>
                <c:pt idx="2">
                  <c:v>Сведение и согласование (АР, КР)</c:v>
                </c:pt>
                <c:pt idx="3">
                  <c:v>Спецификации СКС и ОПС</c:v>
                </c:pt>
                <c:pt idx="4">
                  <c:v>ВРУ и щиты</c:v>
                </c:pt>
                <c:pt idx="5">
                  <c:v>Исправления по замечаниям</c:v>
                </c:pt>
                <c:pt idx="6">
                  <c:v>Корректировки смет</c:v>
                </c:pt>
                <c:pt idx="7">
                  <c:v>Электротехнический расчёт</c:v>
                </c:pt>
                <c:pt idx="8">
                  <c:v>Ведомости материалов (АР, КР)</c:v>
                </c:pt>
                <c:pt idx="9">
                  <c:v>Спецрасчёты СКС и ОПС</c:v>
                </c:pt>
                <c:pt idx="10">
                  <c:v>Перечни и объёмы для смет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0.33</c:v>
                </c:pt>
                <c:pt idx="1">
                  <c:v>0.33</c:v>
                </c:pt>
                <c:pt idx="2">
                  <c:v>0.38</c:v>
                </c:pt>
                <c:pt idx="3">
                  <c:v>0.44</c:v>
                </c:pt>
                <c:pt idx="4">
                  <c:v>0.44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0.58</c:v>
                </c:pt>
                <c:pt idx="10">
                  <c:v>1.0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A1A1A"/>
          </a:solidFill>
          <a:latin typeface="Manrope Medium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производительности</c:v>
                </c:pt>
              </c:strCache>
            </c:strRef>
          </c:tx>
          <c:spPr>
            <a:solidFill>
              <a:srgbClr val="0386FC"/>
            </a:solidFill>
          </c:spPr>
          <c:dLbls>
            <c:numFmt formatCode="0%" sourceLinked="0"/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Mechanical</c:v>
                </c:pt>
                <c:pt idx="1">
                  <c:v>Architecture</c:v>
                </c:pt>
                <c:pt idx="2">
                  <c:v>MEP</c:v>
                </c:pt>
                <c:pt idx="3">
                  <c:v>Electrical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</c:v>
                </c:pt>
                <c:pt idx="1">
                  <c:v>0.61</c:v>
                </c:pt>
                <c:pt idx="2">
                  <c:v>0.85</c:v>
                </c:pt>
                <c:pt idx="3">
                  <c:v>0.95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A1A1A"/>
          </a:solidFill>
          <a:latin typeface="Manrope Medium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</c:spPr>
          <c:cat>
            <c:strRef>
              <c:f>Sheet1!$A$2:$A$5</c:f>
              <c:strCache>
                <c:ptCount val="4"/>
                <c:pt idx="0">
                  <c:v>Бенчмарки Autodesk</c:v>
                </c:pt>
                <c:pt idx="1">
                  <c:v>Кейсы пользователей nanoCAD</c:v>
                </c:pt>
                <c:pt idx="2">
                  <c:v>Сумма этапов работ (таблицы)</c:v>
                </c:pt>
                <c:pt idx="3">
                  <c:v>Принято в расчётах ROI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</c:v>
                </c:pt>
                <c:pt idx="1">
                  <c:v>0.3</c:v>
                </c:pt>
                <c:pt idx="2">
                  <c:v>0.29</c:v>
                </c:pt>
                <c:pt idx="3">
                  <c:v>0.21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Диапазон экономии</c:v>
                </c:pt>
              </c:strCache>
            </c:strRef>
          </c:tx>
          <c:spPr>
            <a:solidFill>
              <a:srgbClr val="0386FC"/>
            </a:solidFill>
          </c:spPr>
          <c:dPt>
            <c:idx val="3"/>
            <c:spPr>
              <a:solidFill>
                <a:srgbClr val="1A1A1A"/>
              </a:solidFill>
            </c:spPr>
          </c:dPt>
          <c:cat>
            <c:strRef>
              <c:f>Sheet1!$A$2:$A$5</c:f>
              <c:strCache>
                <c:ptCount val="4"/>
                <c:pt idx="0">
                  <c:v>Бенчмарки Autodesk</c:v>
                </c:pt>
                <c:pt idx="1">
                  <c:v>Кейсы пользователей nanoCAD</c:v>
                </c:pt>
                <c:pt idx="2">
                  <c:v>Сумма этапов работ (таблицы)</c:v>
                </c:pt>
                <c:pt idx="3">
                  <c:v>Принято в расчётах ROI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0.53</c:v>
                </c:pt>
                <c:pt idx="2">
                  <c:v>0.13</c:v>
                </c:pt>
                <c:pt idx="3">
                  <c:v>0.09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100">
          <a:solidFill>
            <a:srgbClr val="1A1A1A"/>
          </a:solidFill>
          <a:latin typeface="Manrope Medium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Презентация для руководителя проектной организации: сколько экономят специализированные модули nanoCAD и за сколько окупаются.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Ставка инженера растёт, требования экспертизы ужесточаются, ошибки проекта дорого обходятся на стройке. Ответ — автоматизировать рутину в привычной среде, а не перестраивать весь процесс.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для директора: экономия достигается без перехода на 3D. Суммы внедрения — из расчётов по модулям: СПДС 69 900 + 30 000; Электро 96 900 + 25 100; СКС+ОПС 151 200 + 33 400.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Основной эффект — в АР и КР (СПДС: 35%), затем ТХ, ПОС и ПЗУ (30%). Инженерные разделы — 20–25%. Итого 25% от цены проекта, или 2,48 млн ₽ на одном объекте.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Экономия на оформлении документации, спецификациях и ведомостях АР и КР. Детсад: 46 → 36 дней, котельная: 44 → 31 день. Исправления и согласования: затраты снижаются до 50%.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ЭО. Детсад: 20 → 14 дней, котельная: 40 → 30 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Разделы ПБ, СС, АВТ. Детсад: 43 → 33–35 дней, котельная: 50 → 38 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Сводка по шести расчётам. Цифры — из базовых расчётов по модулям,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Справочная информация — отдельные расчёты окупаемости по этим модулям не приводим.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расчёты по модулям используют одну методику и одни допущения. Источник стоимости — калькулятор ПИР.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Таблицы работ — базовые, из материалов по модулям. Процент экономии по этапу — отношение середин диапазонов.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Принятые в ROI значения: СКС/ОПС 43→34 и 50→38 дней (21–24%), Электро 20→14 и 40→30 (25–30%), СПДС 46→36 и 44→31 (22–30%).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Самые быстрые выигрыши: всё, что раньше считалось вручную по чертежу.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Кейсы подтверждают, что 25–30% экономии в наших расчётах — нижняя граница результатов реальных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Мировой ориентир для специализированных инструментов поверх 2D-CAD. Это экономия на задачах, а не на всём разделе, поэтому она выше наших 25–30%.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Сравниваем, что заложено в ROI, с таблицами этапов, кейсами nanoCAD и бенчмарками Autodesk. Бенчмарки задачные, кейсы — по отдельным процессам, поэтому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 показываем, что расчёт не учитывает. Второй пункт — мост к блоку о Нормасофт.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не просто продаём лицензии: помогаем получить экономию из расчёта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45D1D-E7C6-4CA4-BA68-3EFEC11926A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0CA34-20D6-4D59-A810-88C261A77E7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368B1-6205-4591-944C-F695018B317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32400" y="1660320"/>
            <a:ext cx="5053320" cy="40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ru-RU" sz="6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Google Shape;60;p10"/>
          <p:cNvSpPr/>
          <p:nvPr/>
        </p:nvSpPr>
        <p:spPr>
          <a:xfrm>
            <a:off x="7112160" y="-558720"/>
            <a:ext cx="4851000" cy="1259280"/>
          </a:xfrm>
          <a:custGeom>
            <a:avLst/>
            <a:gdLst>
              <a:gd name="textAreaLeft" fmla="*/ 0 w 4851000"/>
              <a:gd name="textAreaRight" fmla="*/ 4851360 w 4851000"/>
              <a:gd name="textAreaTop" fmla="*/ 0 h 1259280"/>
              <a:gd name="textAreaBottom" fmla="*/ 1259640 h 1259280"/>
            </a:gdLst>
            <a:ahLst/>
            <a:cxnLst/>
            <a:rect l="textAreaLeft" t="textAreaTop" r="textAreaRight" b="textAreaBottom"/>
            <a:pathLst>
              <a:path w="145542" h="37790">
                <a:moveTo>
                  <a:pt x="0" y="7620"/>
                </a:moveTo>
                <a:cubicBezTo>
                  <a:pt x="4572" y="10287"/>
                  <a:pt x="4837" y="9877"/>
                  <a:pt x="9144" y="12954"/>
                </a:cubicBezTo>
                <a:cubicBezTo>
                  <a:pt x="11455" y="14605"/>
                  <a:pt x="11449" y="18166"/>
                  <a:pt x="12954" y="20574"/>
                </a:cubicBezTo>
                <a:cubicBezTo>
                  <a:pt x="17437" y="27747"/>
                  <a:pt x="23597" y="36404"/>
                  <a:pt x="32004" y="37338"/>
                </a:cubicBezTo>
                <a:cubicBezTo>
                  <a:pt x="40145" y="38243"/>
                  <a:pt x="48783" y="37332"/>
                  <a:pt x="56388" y="34290"/>
                </a:cubicBezTo>
                <a:cubicBezTo>
                  <a:pt x="64316" y="31119"/>
                  <a:pt x="70203" y="23407"/>
                  <a:pt x="78486" y="21336"/>
                </a:cubicBezTo>
                <a:cubicBezTo>
                  <a:pt x="88862" y="18742"/>
                  <a:pt x="99902" y="20563"/>
                  <a:pt x="110490" y="19050"/>
                </a:cubicBezTo>
                <a:cubicBezTo>
                  <a:pt x="123654" y="17169"/>
                  <a:pt x="136139" y="9403"/>
                  <a:pt x="145542" y="0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61;p10"/>
          <p:cNvSpPr/>
          <p:nvPr/>
        </p:nvSpPr>
        <p:spPr>
          <a:xfrm>
            <a:off x="5359320" y="6215760"/>
            <a:ext cx="4673160" cy="1022760"/>
          </a:xfrm>
          <a:custGeom>
            <a:avLst/>
            <a:gdLst>
              <a:gd name="textAreaLeft" fmla="*/ 0 w 4673160"/>
              <a:gd name="textAreaRight" fmla="*/ 4673520 w 4673160"/>
              <a:gd name="textAreaTop" fmla="*/ 0 h 1022760"/>
              <a:gd name="textAreaBottom" fmla="*/ 1023120 h 1022760"/>
            </a:gdLst>
            <a:ahLst/>
            <a:cxnLst/>
            <a:rect l="textAreaLeft" t="textAreaTop" r="textAreaRight" b="textAreaBottom"/>
            <a:pathLst>
              <a:path w="140208" h="30697">
                <a:moveTo>
                  <a:pt x="0" y="30697"/>
                </a:moveTo>
                <a:cubicBezTo>
                  <a:pt x="8996" y="26199"/>
                  <a:pt x="12967" y="14940"/>
                  <a:pt x="21336" y="9361"/>
                </a:cubicBezTo>
                <a:cubicBezTo>
                  <a:pt x="31078" y="2866"/>
                  <a:pt x="45626" y="11687"/>
                  <a:pt x="56388" y="7075"/>
                </a:cubicBezTo>
                <a:cubicBezTo>
                  <a:pt x="62811" y="4322"/>
                  <a:pt x="69266" y="-650"/>
                  <a:pt x="76200" y="217"/>
                </a:cubicBezTo>
                <a:cubicBezTo>
                  <a:pt x="99040" y="3072"/>
                  <a:pt x="117190" y="26125"/>
                  <a:pt x="140208" y="26125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621FD-8356-43EF-A87B-2E4B0DAFDA1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32702-57E4-4DD1-BA27-7406ED2E64F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AC46C-88B0-4126-B378-F3CAF89DAB09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50B95-5880-4597-92A8-832E573F204F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1259FA-1359-4A04-A8A6-BB175EC4775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1745B-18EC-4B20-A6EC-8334F33A0F4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8AE75-B39E-410C-99AE-368026AF45E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A455A-89CC-4204-BC33-AE6E1EE3CD8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4" Type="http://schemas.openxmlformats.org/officeDocument/2006/relationships/slide" Target="slide22.xml"/><Relationship Id="rId5" Type="http://schemas.openxmlformats.org/officeDocument/2006/relationships/slide" Target="slide8.xml"/><Relationship Id="rId6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4" Type="http://schemas.openxmlformats.org/officeDocument/2006/relationships/slide" Target="slide5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2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3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5.xml"/><Relationship Id="rId5" Type="http://schemas.openxmlformats.org/officeDocument/2006/relationships/slide" Target="slide2.xml"/><Relationship Id="rId10" Type="http://schemas.openxmlformats.org/officeDocument/2006/relationships/slide" Target="slide27.xml"/><Relationship Id="rId11" Type="http://schemas.openxmlformats.org/officeDocument/2006/relationships/chart" Target="../charts/chart1.xml"/><Relationship Id="rId12" Type="http://schemas.openxmlformats.org/officeDocument/2006/relationships/notesSlide" Target="../notesSlides/notesSlide4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6.xml"/><Relationship Id="rId17" Type="http://schemas.openxmlformats.org/officeDocument/2006/relationships/slide" Target="slide8.xml"/><Relationship Id="rId18" Type="http://schemas.openxmlformats.org/officeDocument/2006/relationships/slide" Target="slide10.xml"/><Relationship Id="rId19" Type="http://schemas.openxmlformats.org/officeDocument/2006/relationships/slide" Target="slide12.xml"/><Relationship Id="rId20" Type="http://schemas.openxmlformats.org/officeDocument/2006/relationships/slide" Target="slide13.xml"/><Relationship Id="rId21" Type="http://schemas.openxmlformats.org/officeDocument/2006/relationships/slide" Target="slide18.xml"/><Relationship Id="rId22" Type="http://schemas.openxmlformats.org/officeDocument/2006/relationships/slide" Target="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4" Type="http://schemas.openxmlformats.org/officeDocument/2006/relationships/slide" Target="slide22.xml"/><Relationship Id="rId5" Type="http://schemas.openxmlformats.org/officeDocument/2006/relationships/slide" Target="slide8.xml"/><Relationship Id="rId6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4" Type="http://schemas.openxmlformats.org/officeDocument/2006/relationships/slide" Target="slide5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5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4" Type="http://schemas.openxmlformats.org/officeDocument/2006/relationships/slide" Target="slide22.xml"/><Relationship Id="rId5" Type="http://schemas.openxmlformats.org/officeDocument/2006/relationships/slide" Target="slide8.xml"/><Relationship Id="rId6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4" Type="http://schemas.openxmlformats.org/officeDocument/2006/relationships/slide" Target="slide5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6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5.xml"/><Relationship Id="rId5" Type="http://schemas.openxmlformats.org/officeDocument/2006/relationships/slide" Target="slide2.xml"/><Relationship Id="rId10" Type="http://schemas.openxmlformats.org/officeDocument/2006/relationships/slide" Target="slide27.xml"/><Relationship Id="rId11" Type="http://schemas.openxmlformats.org/officeDocument/2006/relationships/chart" Target="../charts/chart2.xml"/><Relationship Id="rId12" Type="http://schemas.openxmlformats.org/officeDocument/2006/relationships/notesSlide" Target="../notesSlides/notesSlide8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6.xml"/><Relationship Id="rId17" Type="http://schemas.openxmlformats.org/officeDocument/2006/relationships/slide" Target="slide8.xml"/><Relationship Id="rId18" Type="http://schemas.openxmlformats.org/officeDocument/2006/relationships/slide" Target="slide10.xml"/><Relationship Id="rId19" Type="http://schemas.openxmlformats.org/officeDocument/2006/relationships/slide" Target="slide12.xml"/><Relationship Id="rId20" Type="http://schemas.openxmlformats.org/officeDocument/2006/relationships/slide" Target="slide13.xml"/><Relationship Id="rId21" Type="http://schemas.openxmlformats.org/officeDocument/2006/relationships/slide" Target="slide18.xml"/><Relationship Id="rId22" Type="http://schemas.openxmlformats.org/officeDocument/2006/relationships/slide" Target="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9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4" Type="http://schemas.openxmlformats.org/officeDocument/2006/relationships/slide" Target="slide22.xml"/><Relationship Id="rId5" Type="http://schemas.openxmlformats.org/officeDocument/2006/relationships/slide" Target="slide8.xml"/><Relationship Id="rId6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4" Type="http://schemas.openxmlformats.org/officeDocument/2006/relationships/slide" Target="slide5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0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1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2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5.xml"/><Relationship Id="rId5" Type="http://schemas.openxmlformats.org/officeDocument/2006/relationships/slide" Target="slide2.xml"/><Relationship Id="rId10" Type="http://schemas.openxmlformats.org/officeDocument/2006/relationships/slide" Target="slide27.xml"/><Relationship Id="rId11" Type="http://schemas.openxmlformats.org/officeDocument/2006/relationships/chart" Target="../charts/chart3.xml"/><Relationship Id="rId12" Type="http://schemas.openxmlformats.org/officeDocument/2006/relationships/notesSlide" Target="../notesSlides/notesSlide13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6.xml"/><Relationship Id="rId17" Type="http://schemas.openxmlformats.org/officeDocument/2006/relationships/slide" Target="slide8.xml"/><Relationship Id="rId18" Type="http://schemas.openxmlformats.org/officeDocument/2006/relationships/slide" Target="slide10.xml"/><Relationship Id="rId19" Type="http://schemas.openxmlformats.org/officeDocument/2006/relationships/slide" Target="slide12.xml"/><Relationship Id="rId20" Type="http://schemas.openxmlformats.org/officeDocument/2006/relationships/slide" Target="slide13.xml"/><Relationship Id="rId21" Type="http://schemas.openxmlformats.org/officeDocument/2006/relationships/slide" Target="slide18.xml"/><Relationship Id="rId22" Type="http://schemas.openxmlformats.org/officeDocument/2006/relationships/slide" Target="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4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5.xml"/><Relationship Id="rId5" Type="http://schemas.openxmlformats.org/officeDocument/2006/relationships/slide" Target="slide2.xml"/><Relationship Id="rId10" Type="http://schemas.openxmlformats.org/officeDocument/2006/relationships/slide" Target="slide27.xml"/><Relationship Id="rId11" Type="http://schemas.openxmlformats.org/officeDocument/2006/relationships/chart" Target="../charts/chart4.xml"/><Relationship Id="rId12" Type="http://schemas.openxmlformats.org/officeDocument/2006/relationships/notesSlide" Target="../notesSlides/notesSlide15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6.xml"/><Relationship Id="rId17" Type="http://schemas.openxmlformats.org/officeDocument/2006/relationships/slide" Target="slide8.xml"/><Relationship Id="rId18" Type="http://schemas.openxmlformats.org/officeDocument/2006/relationships/slide" Target="slide10.xml"/><Relationship Id="rId19" Type="http://schemas.openxmlformats.org/officeDocument/2006/relationships/slide" Target="slide12.xml"/><Relationship Id="rId20" Type="http://schemas.openxmlformats.org/officeDocument/2006/relationships/slide" Target="slide13.xml"/><Relationship Id="rId21" Type="http://schemas.openxmlformats.org/officeDocument/2006/relationships/slide" Target="slide18.xml"/><Relationship Id="rId22" Type="http://schemas.openxmlformats.org/officeDocument/2006/relationships/slide" Target="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5.xml"/><Relationship Id="rId5" Type="http://schemas.openxmlformats.org/officeDocument/2006/relationships/slide" Target="slide2.xml"/><Relationship Id="rId10" Type="http://schemas.openxmlformats.org/officeDocument/2006/relationships/slide" Target="slide27.xml"/><Relationship Id="rId11" Type="http://schemas.openxmlformats.org/officeDocument/2006/relationships/chart" Target="../charts/chart5.xml"/><Relationship Id="rId12" Type="http://schemas.openxmlformats.org/officeDocument/2006/relationships/notesSlide" Target="../notesSlides/notesSlide16.xml"/><Relationship Id="rId13" Type="http://schemas.openxmlformats.org/officeDocument/2006/relationships/slide" Target="slide1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6.xml"/><Relationship Id="rId17" Type="http://schemas.openxmlformats.org/officeDocument/2006/relationships/slide" Target="slide8.xml"/><Relationship Id="rId18" Type="http://schemas.openxmlformats.org/officeDocument/2006/relationships/slide" Target="slide10.xml"/><Relationship Id="rId19" Type="http://schemas.openxmlformats.org/officeDocument/2006/relationships/slide" Target="slide12.xml"/><Relationship Id="rId20" Type="http://schemas.openxmlformats.org/officeDocument/2006/relationships/slide" Target="slide13.xml"/><Relationship Id="rId21" Type="http://schemas.openxmlformats.org/officeDocument/2006/relationships/slide" Target="slide18.xml"/><Relationship Id="rId22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4" Type="http://schemas.openxmlformats.org/officeDocument/2006/relationships/slide" Target="slide22.xml"/><Relationship Id="rId5" Type="http://schemas.openxmlformats.org/officeDocument/2006/relationships/slide" Target="slide8.xml"/><Relationship Id="rId6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4" Type="http://schemas.openxmlformats.org/officeDocument/2006/relationships/slide" Target="slide5.xml"/><Relationship Id="rId16" Type="http://schemas.openxmlformats.org/officeDocument/2006/relationships/slideLayout" Target="../slideLayouts/slideLayout5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8.xml"/><Relationship Id="rId5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1.xml"/><Relationship Id="rId12" Type="http://schemas.openxmlformats.org/officeDocument/2006/relationships/slide" Target="slide2.xml"/><Relationship Id="rId13" Type="http://schemas.openxmlformats.org/officeDocument/2006/relationships/slide" Target="slide5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10.xml"/><Relationship Id="rId17" Type="http://schemas.openxmlformats.org/officeDocument/2006/relationships/slide" Target="slide12.xml"/><Relationship Id="rId18" Type="http://schemas.openxmlformats.org/officeDocument/2006/relationships/slide" Target="slide13.xml"/><Relationship Id="rId19" Type="http://schemas.openxmlformats.org/officeDocument/2006/relationships/slide" Target="slide18.xml"/><Relationship Id="rId20" Type="http://schemas.openxmlformats.org/officeDocument/2006/relationships/slide" Target="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hyperlink" Target="https://edu.normasoft.com/" TargetMode="External"/><Relationship Id="rId2" Type="http://schemas.openxmlformats.org/officeDocument/2006/relationships/hyperlink" Target="https://edu.normasoft.com/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6" Type="http://schemas.openxmlformats.org/officeDocument/2006/relationships/slide" Target="slide22.xml"/><Relationship Id="rId7" Type="http://schemas.openxmlformats.org/officeDocument/2006/relationships/slide" Target="slide8.xml"/><Relationship Id="rId8" Type="http://schemas.openxmlformats.org/officeDocument/2006/relationships/slide" Target="slide6.xml"/><Relationship Id="rId13" Type="http://schemas.openxmlformats.org/officeDocument/2006/relationships/slide" Target="slide27.xml"/><Relationship Id="rId14" Type="http://schemas.openxmlformats.org/officeDocument/2006/relationships/slide" Target="slide1.xml"/><Relationship Id="rId15" Type="http://schemas.openxmlformats.org/officeDocument/2006/relationships/slide" Target="slide2.xml"/><Relationship Id="rId16" Type="http://schemas.openxmlformats.org/officeDocument/2006/relationships/slide" Target="slide5.xml"/><Relationship Id="rId18" Type="http://schemas.openxmlformats.org/officeDocument/2006/relationships/slideLayout" Target="../slideLayouts/slideLayout5.xml"/><Relationship Id="rId19" Type="http://schemas.openxmlformats.org/officeDocument/2006/relationships/slide" Target="slide10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8.xml"/><Relationship Id="rId23" Type="http://schemas.openxmlformats.org/officeDocument/2006/relationships/slide" Target="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2.png"/><Relationship Id="rId10" Type="http://schemas.openxmlformats.org/officeDocument/2006/relationships/slide" Target="slide22.xml"/><Relationship Id="rId11" Type="http://schemas.openxmlformats.org/officeDocument/2006/relationships/slide" Target="slide8.xml"/><Relationship Id="rId12" Type="http://schemas.openxmlformats.org/officeDocument/2006/relationships/slide" Target="slide6.xml"/><Relationship Id="rId17" Type="http://schemas.openxmlformats.org/officeDocument/2006/relationships/slide" Target="slide27.xml"/><Relationship Id="rId18" Type="http://schemas.openxmlformats.org/officeDocument/2006/relationships/slide" Target="slide1.xml"/><Relationship Id="rId19" Type="http://schemas.openxmlformats.org/officeDocument/2006/relationships/slide" Target="slide2.xml"/><Relationship Id="rId20" Type="http://schemas.openxmlformats.org/officeDocument/2006/relationships/slide" Target="slide5.xml"/><Relationship Id="rId22" Type="http://schemas.openxmlformats.org/officeDocument/2006/relationships/slideLayout" Target="../slideLayouts/slideLayout9.xml"/><Relationship Id="rId23" Type="http://schemas.openxmlformats.org/officeDocument/2006/relationships/slide" Target="slide10.xml"/><Relationship Id="rId24" Type="http://schemas.openxmlformats.org/officeDocument/2006/relationships/slide" Target="slide12.xml"/><Relationship Id="rId25" Type="http://schemas.openxmlformats.org/officeDocument/2006/relationships/slide" Target="slide13.xml"/><Relationship Id="rId26" Type="http://schemas.openxmlformats.org/officeDocument/2006/relationships/slide" Target="slide18.xml"/><Relationship Id="rId27" Type="http://schemas.openxmlformats.org/officeDocument/2006/relationships/slide" Target="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3" Type="http://schemas.openxmlformats.org/officeDocument/2006/relationships/slide" Target="slide22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27.xml"/><Relationship Id="rId11" Type="http://schemas.openxmlformats.org/officeDocument/2006/relationships/notesSlide" Target="../notesSlides/notesSlide18.xml"/><Relationship Id="rId12" Type="http://schemas.openxmlformats.org/officeDocument/2006/relationships/slide" Target="slide1.xml"/><Relationship Id="rId13" Type="http://schemas.openxmlformats.org/officeDocument/2006/relationships/slide" Target="slide2.xml"/><Relationship Id="rId15" Type="http://schemas.openxmlformats.org/officeDocument/2006/relationships/slideLayout" Target="../slideLayouts/slideLayout5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slide" Target="slide22.xml"/><Relationship Id="rId3" Type="http://schemas.openxmlformats.org/officeDocument/2006/relationships/slide" Target="slide8.xml"/><Relationship Id="rId4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5.xml"/><Relationship Id="rId11" Type="http://schemas.openxmlformats.org/officeDocument/2006/relationships/slide" Target="slide2.xml"/><Relationship Id="rId12" Type="http://schemas.openxmlformats.org/officeDocument/2006/relationships/slide" Target="slide1.xml"/><Relationship Id="rId14" Type="http://schemas.openxmlformats.org/officeDocument/2006/relationships/image" Target="../media/image3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5.xml"/><Relationship Id="rId17" Type="http://schemas.openxmlformats.org/officeDocument/2006/relationships/slide" Target="slide10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8.xml"/><Relationship Id="rId21" Type="http://schemas.openxmlformats.org/officeDocument/2006/relationships/slide" Target="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: скругленные углы 2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5" name="Google Shape;321;p35"/>
          <p:cNvSpPr/>
          <p:nvPr/>
        </p:nvSpPr>
        <p:spPr>
          <a:xfrm>
            <a:off x="8378640" y="1713240"/>
            <a:ext cx="113256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Medium"/>
              </a:rPr>
              <a:t>Обучение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321;p35"/>
          <p:cNvSpPr/>
          <p:nvPr/>
        </p:nvSpPr>
        <p:spPr>
          <a:xfrm>
            <a:off x="9511560" y="1713240"/>
            <a:ext cx="16124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Без 3D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321;p35"/>
          <p:cNvSpPr/>
          <p:nvPr/>
        </p:nvSpPr>
        <p:spPr>
          <a:xfrm>
            <a:off x="4823640" y="1713240"/>
            <a:ext cx="224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Medium"/>
                <a:ea typeface="Roboto Light"/>
              </a:rPr>
              <a:t>Окупаемость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321;p35"/>
          <p:cNvSpPr/>
          <p:nvPr/>
        </p:nvSpPr>
        <p:spPr>
          <a:xfrm>
            <a:off x="7073280" y="1713240"/>
            <a:ext cx="13050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Модули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Подзаголовок 2"/>
          <p:cNvSpPr/>
          <p:nvPr/>
        </p:nvSpPr>
        <p:spPr>
          <a:xfrm>
            <a:off x="4716000" y="3840480"/>
            <a:ext cx="64490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Manrope Medium"/>
              </a:rPr>
              <a:t>Экономия времени и ФОТ проектного отдела — без перехода на 3D и полного переобучения штата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Заголовок 1"/>
          <p:cNvSpPr/>
          <p:nvPr/>
        </p:nvSpPr>
        <p:spPr>
          <a:xfrm>
            <a:off x="4716000" y="2417400"/>
            <a:ext cx="653148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Окупаемость модулей nanoCAD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Подзаголовок 2"/>
          <p:cNvSpPr/>
          <p:nvPr/>
        </p:nvSpPr>
        <p:spPr>
          <a:xfrm>
            <a:off x="5337000" y="5567040"/>
            <a:ext cx="6449040" cy="7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Спикер: </a:t>
            </a: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Manrope Medium"/>
              </a:rPr>
              <a:t>ФИО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Должность: </a:t>
            </a:r>
            <a:r>
              <a:rPr lang="ru-RU" sz="1800" b="0" u="none" strike="noStrike">
                <a:solidFill>
                  <a:srgbClr val="707070"/>
                </a:solidFill>
                <a:effectLst/>
                <a:uFillTx/>
                <a:latin typeface="Manrope Medium"/>
              </a:rPr>
              <a:t>должность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Рисунок 12" descr="Изображение выглядит как снимок экрана, Графика, графический дизайн, логотип&#10;&#10;Контент, сгенерированный ИИ, может содержать ошибки."/>
          <p:cNvPicPr/>
          <p:nvPr/>
        </p:nvPicPr>
        <p:blipFill>
          <a:blip r:embed="rId1"/>
          <a:srcRect l="6675" t="0" r="3344" b="0"/>
          <a:stretch/>
        </p:blipFill>
        <p:spPr>
          <a:xfrm>
            <a:off x="446040" y="273240"/>
            <a:ext cx="3801600" cy="1272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3" name="Прямая со стрелкой 14"/>
          <p:cNvCxnSpPr/>
          <p:nvPr/>
        </p:nvCxnSpPr>
        <p:spPr>
          <a:xfrm>
            <a:off x="4339080" y="5354640"/>
            <a:ext cx="667764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74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Подзаголовок 2"/>
          <p:cNvSpPr/>
          <p:nvPr/>
        </p:nvSpPr>
        <p:spPr>
          <a:xfrm>
            <a:off x="9467280" y="685080"/>
            <a:ext cx="17802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1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8 (800) 302-53-50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sales@normasoft.com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Рисунок 1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4670" t="0" r="0" b="0"/>
          <a:stretch/>
        </p:blipFill>
        <p:spPr>
          <a:xfrm flipH="1">
            <a:off x="360" y="2262960"/>
            <a:ext cx="5336640" cy="459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01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ТЯЖЁЛЫЕ ВРЕМЕНА —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СОВРЕМЕННЫЕ РЕШЕНИЯ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Как сократить трудозатраты проектного отдела на 25–30% без перехода на 3D и полного переобучения штата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ВЫЗОВЫ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26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26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26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26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268" name="nav">
            <a:hlinkClick action="ppaction://hlinksldjump" r:id="rId4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9" name="nav">
            <a:hlinkClick action="ppaction://hlinksldjump" r:id="rId11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Тяжёлые времена требуют современных решений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463040" cy="38404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Manrope Medium"/>
              </a:rPr>
              <a:t>Вызовы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60604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VK Sans Display DemiBold"/>
              </a:rPr>
              <a:t>146 684 ₽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2743200" y="260604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средняя зарплата в проектировании (ОКВЭД 71, ЕМИСС, январь–апрель 2026): час инженера дорожает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594360" y="368503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VK Sans Display DemiBold"/>
              </a:rPr>
              <a:t>5,5%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2743200" y="3685032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доля отрицательных заключений госэкспертизы в 2025 году — +1,8 п.п. к 2024 году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4764024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VK Sans Display DemiBold"/>
              </a:rPr>
              <a:t>&gt; 70%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743200" y="4764024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всех переделок в строительстве вызваны ошибками проектирования (Love &amp; Edwards)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6263640" y="2011680"/>
            <a:ext cx="1463040" cy="38404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Manrope Medium"/>
              </a:rPr>
              <a:t>Решение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6263640" y="2606040"/>
            <a:ext cx="5212080" cy="32461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6537960" y="27889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VK Sans Display DemiBold"/>
              </a:rPr>
              <a:t>Специализированные модули nanoCAD на привычной 2D-платформе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6537960" y="361188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Manrope Medium"/>
              <a:buChar char="→"/>
            </a:pPr>
            <a:r>
              <a:rPr sz="1300" b="0">
                <a:solidFill>
                  <a:srgbClr val="1A1A1A"/>
                </a:solidFill>
                <a:latin typeface="Manrope Medium"/>
              </a:rPr>
              <a:t>Автоматизация рутины: спецификации, ведомости, кабельные журналы, расчёты</a:t>
            </a:r>
          </a:p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Manrope Medium"/>
              <a:buChar char="→"/>
            </a:pPr>
            <a:r>
              <a:rPr sz="1300" b="0">
                <a:solidFill>
                  <a:srgbClr val="1A1A1A"/>
                </a:solidFill>
                <a:latin typeface="Manrope Medium"/>
              </a:rPr>
              <a:t>Сокращение трудозатрат раздела на 25–30% — консервативная оценка</a:t>
            </a:r>
          </a:p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Manrope Medium"/>
              <a:buChar char="→"/>
            </a:pPr>
            <a:r>
              <a:rPr sz="1300" b="0">
                <a:solidFill>
                  <a:srgbClr val="1A1A1A"/>
                </a:solidFill>
                <a:latin typeface="Manrope Medium"/>
              </a:rPr>
              <a:t>Окупаемость лицензии и обучения — за 1–3 проекта</a:t>
            </a:r>
          </a:p>
          <a:p>
            <a:pPr algn="l" marL="246888" indent="-246888">
              <a:spcAft>
                <a:spcPts val="800"/>
              </a:spcAft>
              <a:buClr>
                <a:srgbClr val="0386FC"/>
              </a:buClr>
              <a:buFont typeface="Manrope Medium"/>
              <a:buChar char="→"/>
            </a:pPr>
            <a:r>
              <a:rPr sz="1300" b="0">
                <a:solidFill>
                  <a:srgbClr val="1A1A1A"/>
                </a:solidFill>
                <a:latin typeface="Manrope Medium"/>
              </a:rPr>
              <a:t>Российское ПО: лицензионная чистота и защита данных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Источники: ЕМИСС; итоги Главгосэкспертизы за 2025 год; Love P., Edwards D. Calculating total rework costs in Australian construction projects.</a:t>
            </a:r>
          </a:p>
        </p:txBody>
      </p:sp>
      <p:sp>
        <p:nvSpPr>
          <p:cNvPr id="555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ВЫЗОВЫ</a:t>
            </a:r>
          </a:p>
        </p:txBody>
      </p:sp>
      <p:sp>
        <p:nvSpPr>
          <p:cNvPr id="556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57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8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9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60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61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62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3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64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5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Экономия без 3D и полного переобучения штата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3429000" cy="25146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868680" y="224028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68680" y="2880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VK Sans Display DemiBold"/>
              </a:rPr>
              <a:t>Привычный 2D-процесс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68680" y="33375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Работа в DWG и в привычной логике чертежа. Не нужно перестраивать процессы отдела и ждать внедрения BIM-стандарта.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4251960" y="2011680"/>
            <a:ext cx="3429000" cy="25146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Snip Single Corner Rectangle 547"/>
          <p:cNvSpPr/>
          <p:nvPr/>
        </p:nvSpPr>
        <p:spPr>
          <a:xfrm>
            <a:off x="4526280" y="224028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02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526280" y="2880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VK Sans Display DemiBold"/>
              </a:rPr>
              <a:t>Короткие курсы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526280" y="33375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Обучение в УЦ Нормасофт: отдельный курс по нужному модулю, без полного переобучения. 15 000–25 100 ₽ на сотрудника.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7909560" y="2011680"/>
            <a:ext cx="3429000" cy="25146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Snip Single Corner Rectangle 551"/>
          <p:cNvSpPr/>
          <p:nvPr/>
        </p:nvSpPr>
        <p:spPr>
          <a:xfrm>
            <a:off x="8183880" y="224028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03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8183880" y="2880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VK Sans Display DemiBold"/>
              </a:rPr>
              <a:t>Эффект с первого проекта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183880" y="33375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Спецификации, журналы и расчёты формируются автоматически сразу. Лицензия и обучение окупаются за 1–3 проекта.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594360" y="4754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nrope Medium"/>
              </a:rPr>
              <a:t>Затраты на внедрение одного рабочего места (лицензия + обучение)</a:t>
            </a:r>
          </a:p>
        </p:txBody>
      </p:sp>
      <p:sp>
        <p:nvSpPr>
          <p:cNvPr id="556" name="Snip Single Corner Rectangle 555"/>
          <p:cNvSpPr/>
          <p:nvPr/>
        </p:nvSpPr>
        <p:spPr>
          <a:xfrm>
            <a:off x="594360" y="5120640"/>
            <a:ext cx="3429000" cy="8229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7" name="TextBox 556"/>
          <p:cNvSpPr txBox="1"/>
          <p:nvPr/>
        </p:nvSpPr>
        <p:spPr>
          <a:xfrm>
            <a:off x="868680" y="51206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99 900 ₽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2560320" y="51206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АР и КР (СПДС)</a:t>
            </a:r>
          </a:p>
        </p:txBody>
      </p:sp>
      <p:sp>
        <p:nvSpPr>
          <p:cNvPr id="559" name="Snip Single Corner Rectangle 558"/>
          <p:cNvSpPr/>
          <p:nvPr/>
        </p:nvSpPr>
        <p:spPr>
          <a:xfrm>
            <a:off x="4251960" y="5120640"/>
            <a:ext cx="3429000" cy="8229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TextBox 559"/>
          <p:cNvSpPr txBox="1"/>
          <p:nvPr/>
        </p:nvSpPr>
        <p:spPr>
          <a:xfrm>
            <a:off x="4526280" y="51206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122 000 ₽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6217920" y="51206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Электро</a:t>
            </a:r>
          </a:p>
        </p:txBody>
      </p:sp>
      <p:sp>
        <p:nvSpPr>
          <p:cNvPr id="562" name="Snip Single Corner Rectangle 561"/>
          <p:cNvSpPr/>
          <p:nvPr/>
        </p:nvSpPr>
        <p:spPr>
          <a:xfrm>
            <a:off x="7909560" y="5120640"/>
            <a:ext cx="3429000" cy="82296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TextBox 562"/>
          <p:cNvSpPr txBox="1"/>
          <p:nvPr/>
        </p:nvSpPr>
        <p:spPr>
          <a:xfrm>
            <a:off x="8183880" y="512064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184 600 ₽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9875520" y="512064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СКС + ОПС</a:t>
            </a:r>
          </a:p>
        </p:txBody>
      </p:sp>
      <p:sp>
        <p:nvSpPr>
          <p:cNvPr id="565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ВЫЗОВЫ</a:t>
            </a:r>
          </a:p>
        </p:txBody>
      </p:sp>
      <p:sp>
        <p:nvSpPr>
          <p:cNvPr id="566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67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68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69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70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71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72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3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74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5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Где возникает экономия: объект «Детский сад на 200 мест»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920240"/>
          <a:ext cx="6949440" cy="406908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4" name="Snip Single Corner Rectangle 543"/>
          <p:cNvSpPr/>
          <p:nvPr/>
        </p:nvSpPr>
        <p:spPr>
          <a:xfrm>
            <a:off x="7818120" y="2011680"/>
            <a:ext cx="3657600" cy="1024128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TextBox 544"/>
          <p:cNvSpPr txBox="1"/>
          <p:nvPr/>
        </p:nvSpPr>
        <p:spPr>
          <a:xfrm>
            <a:off x="8046720" y="21031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1A1A1A"/>
                </a:solidFill>
                <a:latin typeface="VK Sans Display DemiBold"/>
              </a:rPr>
              <a:t>9 923,8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046720" y="259689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тыс. ₽ — базовая цена проектирования без НДС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7818120" y="3172968"/>
            <a:ext cx="3657600" cy="1024128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TextBox 547"/>
          <p:cNvSpPr txBox="1"/>
          <p:nvPr/>
        </p:nvSpPr>
        <p:spPr>
          <a:xfrm>
            <a:off x="8046720" y="326440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VK Sans Display DemiBold"/>
              </a:rPr>
              <a:t>2 479,0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046720" y="3758184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тыс. ₽ — общая экономия по проекту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7818120" y="4334256"/>
            <a:ext cx="3657600" cy="1024128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TextBox 550"/>
          <p:cNvSpPr txBox="1"/>
          <p:nvPr/>
        </p:nvSpPr>
        <p:spPr>
          <a:xfrm>
            <a:off x="8046720" y="442569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VK Sans Display DemiBold"/>
              </a:rPr>
              <a:t>25%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8046720" y="491947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от стоимости проекта — консервативная оценка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7818120" y="548640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Разделы СМ, КОН, ООС, ОДИ, ЭЭ, ПЗ, ТБЭ — экономия не учитывается (0%).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Расчёт по калькулятору стоимости проектных работ: 848/пр, 707/пр, Ипр 1,68 (II кв. 2026). Длина полосы — затраты раздела, синяя часть — экономия.</a:t>
            </a:r>
          </a:p>
        </p:txBody>
      </p:sp>
      <p:sp>
        <p:nvSpPr>
          <p:cNvPr id="555" name="nav">
            <a:hlinkClick action="ppaction://hlinksldjump" r:id="rId5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6" name="nav">
            <a:hlinkClick action="ppaction://hlinksldjump" r:id="rId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ЭКОНОМИЯ</a:t>
            </a:r>
          </a:p>
        </p:txBody>
      </p:sp>
      <p:sp>
        <p:nvSpPr>
          <p:cNvPr id="557" name="nav">
            <a:hlinkClick action="ppaction://hlinksldjump" r:id="rId1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8" name="nav">
            <a:hlinkClick action="ppaction://hlinksldjump" r:id="rId17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9" name="nav">
            <a:hlinkClick action="ppaction://hlinksldjump" r:id="rId18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60" name="nav">
            <a:hlinkClick action="ppaction://hlinksldjump" r:id="rId19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61" name="nav">
            <a:hlinkClick action="ppaction://hlinksldjump" r:id="rId20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62" name="nav">
            <a:hlinkClick action="ppaction://hlinksldjump" r:id="rId21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3" name="nav">
            <a:hlinkClick action="ppaction://hlinksldjump" r:id="rId22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64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5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02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ОКУПАЕМОСТЬ: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АР и КР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Компонент СПДС Платформы nanoCAD: оформление, спецификации и ведомости по основным строительным разделам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АР и КР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26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26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26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26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268" name="nav">
            <a:hlinkClick action="ppaction://hlinksldjump" r:id="rId4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9" name="nav">
            <a:hlinkClick action="ppaction://hlinksldjump" r:id="rId11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АР и КР: окупаемость компонента СПДС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Что автоматизируется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514600"/>
            <a:ext cx="3063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Оформление по ГОСТ и СПДС параметрическими объектами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Спецификации и ведомости — из данных чертежа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Изменения автоматически попадают в таблицы и марки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Готовые перечни и объёмы для сметного отдела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3886200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4142232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Детский сад на 200 мест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42232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Трудозатраты по разделу, ч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42232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VK Sans Display DemiBold"/>
              </a:rPr>
              <a:t>368</a:t>
            </a:r>
            <a:r>
              <a:rPr sz="1800" b="0">
                <a:solidFill>
                  <a:srgbClr val="6B7280"/>
                </a:solidFill>
                <a:latin typeface="VK Sans Display DemiBold"/>
              </a:rPr>
              <a:t>  →  </a:t>
            </a:r>
            <a:r>
              <a:rPr sz="1800" b="0">
                <a:solidFill>
                  <a:srgbClr val="0386FC"/>
                </a:solidFill>
                <a:latin typeface="VK Sans Display DemiBold"/>
              </a:rPr>
              <a:t>288 ч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42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ФОТ в год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97880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937 000 ₽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4223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на правках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897880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140 500 ₽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42232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Затраты на внедрение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897880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99 900 ₽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4142232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4297680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ROI за год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9768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0386FC"/>
                </a:solidFill>
                <a:latin typeface="VK Sans Display DemiBold"/>
              </a:rPr>
              <a:t>978%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71500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Эффект за год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2356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977 600 ₽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97680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10 проектов в год, ставка 1 171 ₽/ч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7726679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982711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Котельная 25 Гкал/ч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982711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Трудозатраты по разделу, ч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82711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VK Sans Display DemiBold"/>
              </a:rPr>
              <a:t>352</a:t>
            </a:r>
            <a:r>
              <a:rPr sz="1800" b="0">
                <a:solidFill>
                  <a:srgbClr val="6B7280"/>
                </a:solidFill>
                <a:latin typeface="VK Sans Display DemiBold"/>
              </a:rPr>
              <a:t>  →  </a:t>
            </a:r>
            <a:r>
              <a:rPr sz="1800" b="0">
                <a:solidFill>
                  <a:srgbClr val="0386FC"/>
                </a:solidFill>
                <a:latin typeface="VK Sans Display DemiBold"/>
              </a:rPr>
              <a:t>248 ч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82711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ФОТ в год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9738359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1 217 800 ₽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982711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на правках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9738359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234 000 ₽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82711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Затраты на внедрение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9738359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99 900 ₽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7982711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138159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ROI за год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138159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0386FC"/>
                </a:solidFill>
                <a:latin typeface="VK Sans Display DemiBold"/>
              </a:rPr>
              <a:t>1 353%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955548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Эффект за год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946404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1 351 900 ₽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8138159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10 проектов в год, ставка 1 171 ₽/ч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Платформа nanoCAD с компонентом СПДС — 69 900 ₽; обучение — 30 000 ₽ (платформа + компонент). Окупаемость — 1–2 проекта.</a:t>
            </a:r>
          </a:p>
        </p:txBody>
      </p:sp>
      <p:sp>
        <p:nvSpPr>
          <p:cNvPr id="578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79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80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АР и КР</a:t>
            </a:r>
          </a:p>
        </p:txBody>
      </p:sp>
      <p:sp>
        <p:nvSpPr>
          <p:cNvPr id="581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82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83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84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85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86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87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8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03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ОКУПАЕМОСТЬ: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ЭЛЕКТРО, СКС, ОПС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Специализированные модули для инженерных разделов: расчёты, трассировка, журналы и спецификации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ЭЛЕКТРО</a:t>
            </a:r>
          </a:p>
        </p:txBody>
      </p:sp>
      <p:sp>
        <p:nvSpPr>
          <p:cNvPr id="26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26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26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26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268" name="nav">
            <a:hlinkClick action="ppaction://hlinksldjump" r:id="rId4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9" name="nav">
            <a:hlinkClick action="ppaction://hlinksldjump" r:id="rId11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Электро: окупаемость nanoCAD BIM Электро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Что автоматизируется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514600"/>
            <a:ext cx="3063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Электротехнические и светотехнические расчёты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Трассировка сетей и кабельные журналы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Щиты, выбор аппаратов, однолинейные схемы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Спецификации оборудования по ГОСТ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3886200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4142232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Детский сад на 200 мест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42232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Трудозатраты по разделу, ч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42232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VK Sans Display DemiBold"/>
              </a:rPr>
              <a:t>160</a:t>
            </a:r>
            <a:r>
              <a:rPr sz="1800" b="0">
                <a:solidFill>
                  <a:srgbClr val="6B7280"/>
                </a:solidFill>
                <a:latin typeface="VK Sans Display DemiBold"/>
              </a:rPr>
              <a:t>  →  </a:t>
            </a:r>
            <a:r>
              <a:rPr sz="1800" b="0">
                <a:solidFill>
                  <a:srgbClr val="0386FC"/>
                </a:solidFill>
                <a:latin typeface="VK Sans Display DemiBold"/>
              </a:rPr>
              <a:t>112 ч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42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ФОТ в год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97880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562 000 ₽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4223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на правках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897880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117 000 ₽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42232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Затраты на внедрение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897880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122 000 ₽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4142232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4297680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ROI за год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9768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0386FC"/>
                </a:solidFill>
                <a:latin typeface="VK Sans Display DemiBold"/>
              </a:rPr>
              <a:t>457%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71500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Эффект за год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2356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557 000 ₽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97680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10 проектов в год, ставка 1 171 ₽/ч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7726679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982711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Котельная 25 Гкал/ч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982711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Трудозатраты по разделу, ч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82711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VK Sans Display DemiBold"/>
              </a:rPr>
              <a:t>320</a:t>
            </a:r>
            <a:r>
              <a:rPr sz="1800" b="0">
                <a:solidFill>
                  <a:srgbClr val="6B7280"/>
                </a:solidFill>
                <a:latin typeface="VK Sans Display DemiBold"/>
              </a:rPr>
              <a:t>  →  </a:t>
            </a:r>
            <a:r>
              <a:rPr sz="1800" b="0">
                <a:solidFill>
                  <a:srgbClr val="0386FC"/>
                </a:solidFill>
                <a:latin typeface="VK Sans Display DemiBold"/>
              </a:rPr>
              <a:t>240 ч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82711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ФОТ в год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9738359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936 800 ₽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982711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на правках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9738359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234 000 ₽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82711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Затраты на внедрение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9738359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122 000 ₽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7982711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138159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ROI за год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138159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0386FC"/>
                </a:solidFill>
                <a:latin typeface="VK Sans Display DemiBold"/>
              </a:rPr>
              <a:t>860%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955548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Эффект за год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946404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1 048 800 ₽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8138159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10 проектов в год, ставка 1 171 ₽/ч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nanoCAD BIM Электро — 71 500 ₽ + Платформа nanoCAD — 25 400 ₽; обучение — 25 100 ₽. Окупаемость — 2–3 проекта.</a:t>
            </a:r>
          </a:p>
        </p:txBody>
      </p:sp>
      <p:sp>
        <p:nvSpPr>
          <p:cNvPr id="578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79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80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81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ЭЛЕКТРО</a:t>
            </a:r>
          </a:p>
        </p:txBody>
      </p:sp>
      <p:sp>
        <p:nvSpPr>
          <p:cNvPr id="582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83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84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85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86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87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8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СКС и ОПС: окупаемость nanoCAD ОПС и СКС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Что автоматизируется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94360" y="2514600"/>
            <a:ext cx="3063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Расстановка оборудования и трассировка кабелей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Расчёты: АКБ, падение напряжения, заполнение лотков, оповещение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Кабельные журналы и спецификации — автоматически</a:t>
            </a:r>
          </a:p>
          <a:p>
            <a:pPr algn="l" marL="246888" indent="-246888">
              <a:spcAft>
                <a:spcPts val="900"/>
              </a:spcAft>
              <a:buClr>
                <a:srgbClr val="0386FC"/>
              </a:buClr>
              <a:buFont typeface="Manrope Medium"/>
              <a:buChar char="→"/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Структурные схемы и планы по ГОСТ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3886200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4142232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Детский сад на 200 мест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42232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Трудозатраты по разделу, ч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42232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VK Sans Display DemiBold"/>
              </a:rPr>
              <a:t>344</a:t>
            </a:r>
            <a:r>
              <a:rPr sz="1800" b="0">
                <a:solidFill>
                  <a:srgbClr val="6B7280"/>
                </a:solidFill>
                <a:latin typeface="VK Sans Display DemiBold"/>
              </a:rPr>
              <a:t>  →  </a:t>
            </a:r>
            <a:r>
              <a:rPr sz="1800" b="0">
                <a:solidFill>
                  <a:srgbClr val="0386FC"/>
                </a:solidFill>
                <a:latin typeface="VK Sans Display DemiBold"/>
              </a:rPr>
              <a:t>272 ч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42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ФОТ в год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97880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843 100 ₽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4223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на правках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897880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280 100 ₽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42232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Затраты на внедрение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897880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184 600 ₽</a:t>
            </a:r>
          </a:p>
        </p:txBody>
      </p:sp>
      <p:sp>
        <p:nvSpPr>
          <p:cNvPr id="555" name="Snip Single Corner Rectangle 554"/>
          <p:cNvSpPr/>
          <p:nvPr/>
        </p:nvSpPr>
        <p:spPr>
          <a:xfrm>
            <a:off x="4142232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4297680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ROI за год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9768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0386FC"/>
                </a:solidFill>
                <a:latin typeface="VK Sans Display DemiBold"/>
              </a:rPr>
              <a:t>508%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71500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Эффект за год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2356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938 600 ₽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97680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10 проектов в год, ставка 1 171 ₽/ч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7726679" y="2011680"/>
            <a:ext cx="3639312" cy="3913632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7982711" y="214884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Котельная 25 Гкал/ч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7982711" y="26060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Трудозатраты по разделу, ч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982711" y="28529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VK Sans Display DemiBold"/>
              </a:rPr>
              <a:t>400</a:t>
            </a:r>
            <a:r>
              <a:rPr sz="1800" b="0">
                <a:solidFill>
                  <a:srgbClr val="6B7280"/>
                </a:solidFill>
                <a:latin typeface="VK Sans Display DemiBold"/>
              </a:rPr>
              <a:t>  →  </a:t>
            </a:r>
            <a:r>
              <a:rPr sz="1800" b="0">
                <a:solidFill>
                  <a:srgbClr val="0386FC"/>
                </a:solidFill>
                <a:latin typeface="VK Sans Display DemiBold"/>
              </a:rPr>
              <a:t>304 ч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82711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ФОТ в год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9738359" y="338328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1 124 400 ₽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982711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Экономия на правках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9738359" y="3685032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281 000 ₽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82711" y="3986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Затраты на внедрение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9738359" y="3986784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184 600 ₽</a:t>
            </a:r>
          </a:p>
        </p:txBody>
      </p:sp>
      <p:sp>
        <p:nvSpPr>
          <p:cNvPr id="571" name="Snip Single Corner Rectangle 570"/>
          <p:cNvSpPr/>
          <p:nvPr/>
        </p:nvSpPr>
        <p:spPr>
          <a:xfrm>
            <a:off x="7982711" y="4434840"/>
            <a:ext cx="3127248" cy="1280160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8138159" y="4507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ROI за год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8138159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0386FC"/>
                </a:solidFill>
                <a:latin typeface="VK Sans Display DemiBold"/>
              </a:rPr>
              <a:t>661%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9555480" y="4507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Эффект за год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9464040" y="480060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1 220 800 ₽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8138159" y="5303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10 проектов в год, ставка 1 171 ₽/ч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nanoCAD ОПС и СКС — по 62 900 ₽ + Платформа nanoCAD — 25 400 ₽; обучение — 2 курса по 16 700 ₽. Окупаемость — 2–3 проекта.</a:t>
            </a:r>
          </a:p>
        </p:txBody>
      </p:sp>
      <p:sp>
        <p:nvSpPr>
          <p:cNvPr id="578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79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80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81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82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СКС и ОПС</a:t>
            </a:r>
          </a:p>
        </p:txBody>
      </p:sp>
      <p:sp>
        <p:nvSpPr>
          <p:cNvPr id="583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84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85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86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87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8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Сводка: эффект за год от одного рабочего места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920240"/>
          <a:ext cx="6492240" cy="402336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544" name="Table 543"/>
          <p:cNvGraphicFramePr>
            <a:graphicFrameLocks noGrp="1"/>
          </p:cNvGraphicFramePr>
          <p:nvPr/>
        </p:nvGraphicFramePr>
        <p:xfrm>
          <a:off x="7269480" y="201168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960120"/>
                <a:gridCol w="1097280"/>
                <a:gridCol w="109728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Модуль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ROI детсад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ROI котельная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Окупаемость</a:t>
                      </a:r>
                    </a:p>
                  </a:txBody>
                  <a:tcPr marL="54864" marR="54864" anchor="ctr">
                    <a:solidFill>
                      <a:srgbClr val="0386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nrope Medium"/>
                        </a:rPr>
                        <a:t>АР и КР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Manrope Medium"/>
                        </a:rPr>
                        <a:t>978%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Manrope Medium"/>
                        </a:rPr>
                        <a:t>1 353%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nrope Medium"/>
                        </a:rPr>
                        <a:t>1–2 проекта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nrope Medium"/>
                        </a:rPr>
                        <a:t>Электро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Manrope Medium"/>
                        </a:rPr>
                        <a:t>457%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Manrope Medium"/>
                        </a:rPr>
                        <a:t>860%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nrope Medium"/>
                        </a:rPr>
                        <a:t>2–3 проекта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nrope Medium"/>
                        </a:rPr>
                        <a:t>СКС + ОПС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Manrope Medium"/>
                        </a:rPr>
                        <a:t>508%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386FC"/>
                          </a:solidFill>
                          <a:latin typeface="Manrope Medium"/>
                        </a:rPr>
                        <a:t>661%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nrope Medium"/>
                        </a:rPr>
                        <a:t>2–3 проекта</a:t>
                      </a:r>
                    </a:p>
                  </a:txBody>
                  <a:tcPr marL="54864" marR="54864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45" name="Snip Single Corner Rectangle 544"/>
          <p:cNvSpPr/>
          <p:nvPr/>
        </p:nvSpPr>
        <p:spPr>
          <a:xfrm>
            <a:off x="7269480" y="4434840"/>
            <a:ext cx="4206240" cy="14173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7498079" y="4553712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Все модули окупаются за 1–3 проекта. 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Расчёт — по консервативному сценарию: 20–30% экономии времени по разделу.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Эффект = экономия ФОТ + экономия на исправлениях − затраты на внедрение; 10 однотипных проектов в год.</a:t>
            </a:r>
          </a:p>
        </p:txBody>
      </p:sp>
      <p:sp>
        <p:nvSpPr>
          <p:cNvPr id="548" name="nav">
            <a:hlinkClick action="ppaction://hlinksldjump" r:id="rId5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49" name="nav">
            <a:hlinkClick action="ppaction://hlinksldjump" r:id="rId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ЭКОНОМИЯ</a:t>
            </a:r>
          </a:p>
        </p:txBody>
      </p:sp>
      <p:sp>
        <p:nvSpPr>
          <p:cNvPr id="550" name="nav">
            <a:hlinkClick action="ppaction://hlinksldjump" r:id="rId1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1" name="nav">
            <a:hlinkClick action="ppaction://hlinksldjump" r:id="rId17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2" name="nav">
            <a:hlinkClick action="ppaction://hlinksldjump" r:id="rId18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53" name="nav">
            <a:hlinkClick action="ppaction://hlinksldjump" r:id="rId19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54" name="nav">
            <a:hlinkClick action="ppaction://hlinksldjump" r:id="rId20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55" name="nav">
            <a:hlinkClick action="ppaction://hlinksldjump" r:id="rId21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6" name="nav">
            <a:hlinkClick action="ppaction://hlinksldjump" r:id="rId22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57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8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Справочно: другие разделы проектирования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1920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Сокращение времени и трудозатрат — до 25–30% </a:t>
            </a:r>
            <a:r>
              <a:rPr sz="1300" b="0">
                <a:solidFill>
                  <a:srgbClr val="6B7280"/>
                </a:solidFill>
                <a:latin typeface="Manrope Medium"/>
              </a:rPr>
              <a:t>(консервативная оценка, аналогичная расчётам выше)</a:t>
            </a:r>
          </a:p>
        </p:txBody>
      </p:sp>
      <p:sp>
        <p:nvSpPr>
          <p:cNvPr id="544" name="Snip Single Corner Rectangle 543"/>
          <p:cNvSpPr/>
          <p:nvPr/>
        </p:nvSpPr>
        <p:spPr>
          <a:xfrm>
            <a:off x="594360" y="2560320"/>
            <a:ext cx="2587752" cy="32461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TextBox 544"/>
          <p:cNvSpPr txBox="1"/>
          <p:nvPr/>
        </p:nvSpPr>
        <p:spPr>
          <a:xfrm>
            <a:off x="822960" y="27432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nanoCAD BIM ОВ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822960" y="3474720"/>
            <a:ext cx="2130552" cy="329184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Manrope Medium"/>
              </a:rPr>
              <a:t>ОВ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22960" y="3977639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Теплотехнические и аэродинамические расчёты, подбор оборудования, схемы и спецификации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22960" y="51937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до 25–30%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3364991" y="2560320"/>
            <a:ext cx="2587752" cy="32461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3593591" y="27432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nanoCAD BIM ВК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3593591" y="3474720"/>
            <a:ext cx="2130552" cy="329184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Manrope Medium"/>
              </a:rPr>
              <a:t>ВК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3593591" y="3977639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Гидравлические расчёты, аксонометрические схемы, спецификации систем водоснабжения и канализации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3593591" y="51937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до 25–30%</a:t>
            </a:r>
          </a:p>
        </p:txBody>
      </p:sp>
      <p:sp>
        <p:nvSpPr>
          <p:cNvPr id="554" name="Snip Single Corner Rectangle 553"/>
          <p:cNvSpPr/>
          <p:nvPr/>
        </p:nvSpPr>
        <p:spPr>
          <a:xfrm>
            <a:off x="6135623" y="2560320"/>
            <a:ext cx="2587752" cy="32461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5" name="TextBox 554"/>
          <p:cNvSpPr txBox="1"/>
          <p:nvPr/>
        </p:nvSpPr>
        <p:spPr>
          <a:xfrm>
            <a:off x="6364223" y="27432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GeoniCS</a:t>
            </a:r>
          </a:p>
        </p:txBody>
      </p:sp>
      <p:sp>
        <p:nvSpPr>
          <p:cNvPr id="556" name="Snip Single Corner Rectangle 555"/>
          <p:cNvSpPr/>
          <p:nvPr/>
        </p:nvSpPr>
        <p:spPr>
          <a:xfrm>
            <a:off x="6364223" y="3474720"/>
            <a:ext cx="2130552" cy="329184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Manrope Medium"/>
              </a:rPr>
              <a:t>ПЗУ, генплан, сети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6364223" y="3977639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Цифровая модель рельефа, генплан и вертикальная планировка, профили наружных сетей и трасс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6364223" y="51937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до 25–30%</a:t>
            </a:r>
          </a:p>
        </p:txBody>
      </p:sp>
      <p:sp>
        <p:nvSpPr>
          <p:cNvPr id="559" name="Snip Single Corner Rectangle 558"/>
          <p:cNvSpPr/>
          <p:nvPr/>
        </p:nvSpPr>
        <p:spPr>
          <a:xfrm>
            <a:off x="8906255" y="2560320"/>
            <a:ext cx="2587752" cy="32461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TextBox 559"/>
          <p:cNvSpPr txBox="1"/>
          <p:nvPr/>
        </p:nvSpPr>
        <p:spPr>
          <a:xfrm>
            <a:off x="9134855" y="27432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nanoCAD Стройплощадка</a:t>
            </a:r>
          </a:p>
        </p:txBody>
      </p:sp>
      <p:sp>
        <p:nvSpPr>
          <p:cNvPr id="561" name="Snip Single Corner Rectangle 560"/>
          <p:cNvSpPr/>
          <p:nvPr/>
        </p:nvSpPr>
        <p:spPr>
          <a:xfrm>
            <a:off x="9134855" y="3474720"/>
            <a:ext cx="2130552" cy="329184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Manrope Medium"/>
              </a:rPr>
              <a:t>ПОС, ППР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9134855" y="3977639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Стройгенпланы, зоны действия кранов и опасные зоны, ведомости для ПОС и ППР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9134855" y="51937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VK Sans Display DemiBold"/>
              </a:rPr>
              <a:t>до 25–30%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В расчёте по детскому саду: ОВ и ВК — 22%, ПОС и ПЗУ — 30% экономии (слайд «Где возникает экономия»).</a:t>
            </a:r>
          </a:p>
        </p:txBody>
      </p:sp>
      <p:sp>
        <p:nvSpPr>
          <p:cNvPr id="565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66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67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68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69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70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71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72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3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74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5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04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МЕТОДИКА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И ОБОСНОВАНИЕ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Базовые работы, экономия по этапам, подтверждение кейсами и ограничения расчёта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26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26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26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МЕТОДИКА</a:t>
            </a:r>
          </a:p>
        </p:txBody>
      </p:sp>
      <p:sp>
        <p:nvSpPr>
          <p:cNvPr id="26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268" name="nav">
            <a:hlinkClick action="ppaction://hlinksldjump" r:id="rId4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9" name="nav">
            <a:hlinkClick action="ppaction://hlinksldjump" r:id="rId11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Методика расчёта окупаемости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5394960" cy="388620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Формулы</a:t>
            </a:r>
          </a:p>
        </p:txBody>
      </p:sp>
      <p:sp>
        <p:nvSpPr>
          <p:cNvPr id="545" name="Snip Single Corner Rectangle 544"/>
          <p:cNvSpPr/>
          <p:nvPr/>
        </p:nvSpPr>
        <p:spPr>
          <a:xfrm>
            <a:off x="868680" y="2697480"/>
            <a:ext cx="4846320" cy="566928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1024128" y="26974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VK Sans Display DemiBold"/>
              </a:rPr>
              <a:t>ROI = (Экономия ФОТ + L − Cвнедр) / Cвнедр × 100%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868680" y="3410712"/>
            <a:ext cx="4846320" cy="5669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TextBox 547"/>
          <p:cNvSpPr txBox="1"/>
          <p:nvPr/>
        </p:nvSpPr>
        <p:spPr>
          <a:xfrm>
            <a:off x="1024128" y="341071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Экономия ФОТ = (Tдо − Tпосле) × N × Rчас</a:t>
            </a:r>
          </a:p>
        </p:txBody>
      </p:sp>
      <p:sp>
        <p:nvSpPr>
          <p:cNvPr id="549" name="Snip Single Corner Rectangle 548"/>
          <p:cNvSpPr/>
          <p:nvPr/>
        </p:nvSpPr>
        <p:spPr>
          <a:xfrm>
            <a:off x="868680" y="4123944"/>
            <a:ext cx="4846320" cy="5669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1024128" y="412394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L — экономия на исправлениях = Nсред × Mошиб × Oкол-во</a:t>
            </a:r>
          </a:p>
        </p:txBody>
      </p:sp>
      <p:sp>
        <p:nvSpPr>
          <p:cNvPr id="551" name="Snip Single Corner Rectangle 550"/>
          <p:cNvSpPr/>
          <p:nvPr/>
        </p:nvSpPr>
        <p:spPr>
          <a:xfrm>
            <a:off x="868680" y="4837176"/>
            <a:ext cx="4846320" cy="5669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1024128" y="483717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Cвнедр = Cлиц + Cобуч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868680" y="55046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anrope Medium"/>
              </a:rPr>
              <a:t>T — часы на раздел; N — проектов в год; Rчас — стоимость часа инженера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355080" y="2011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Допущения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355080" y="2487168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Ставка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7680960" y="2487168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146 000 ₽/мес → 9 370 ₽/день → 1 171 ₽/ч (ЕМИСС, ОКВЭД 71; соцотчисления по 707/пр)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6355080" y="3054096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Цена проекта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7680960" y="3054096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Методики 848/пр и 707/пр, Ипр 1,68 (II кв. 2026), доля раздела — по 707/пр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6355080" y="3621024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Себестоимость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7680960" y="362102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Рентабельность 10%; ФОТ + отчисления — 53,98% себестоимости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6355080" y="4187952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Загрузка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7680960" y="4187952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10 однотипных проектов в год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6355080" y="475488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Резерв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7680960" y="4754880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Правки и согласования — около 20% трудового бюджета раздела; затраты на исправления снижаются до 50%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6355080" y="5321808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386FC"/>
                </a:solidFill>
                <a:latin typeface="Manrope Medium"/>
              </a:rPr>
              <a:t>Сценарий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7680960" y="5321808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Консервативный: 20–30% экономии времени по разделу</a:t>
            </a:r>
          </a:p>
        </p:txBody>
      </p:sp>
      <p:sp>
        <p:nvSpPr>
          <p:cNvPr id="567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68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69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70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71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72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73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МЕТОДИКА</a:t>
            </a:r>
          </a:p>
        </p:txBody>
      </p:sp>
      <p:sp>
        <p:nvSpPr>
          <p:cNvPr id="574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5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76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7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Базовые работы и экономия по этапам: АР и КР, сметы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19659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АР и КР — компонент СПДС, дни</a:t>
            </a:r>
          </a:p>
        </p:txBody>
      </p:sp>
      <p:graphicFrame>
        <p:nvGraphicFramePr>
          <p:cNvPr id="544" name="Table 543"/>
          <p:cNvGraphicFramePr>
            <a:graphicFrameLocks noGrp="1"/>
          </p:cNvGraphicFramePr>
          <p:nvPr/>
        </p:nvGraphicFramePr>
        <p:xfrm>
          <a:off x="594360" y="2377440"/>
          <a:ext cx="576071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39"/>
                <a:gridCol w="960120"/>
                <a:gridCol w="9601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Этап работ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Без модуля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С модулем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Экономия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Анализ проектной документации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Составление ведомостей материалов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Спецификация оборудования*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5–10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3–7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−33%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Сведение, оформление по ГОСТ, согласование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Итого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13–23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8–16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−33%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</a:tr>
            </a:tbl>
          </a:graphicData>
        </a:graphic>
      </p:graphicFrame>
      <p:sp>
        <p:nvSpPr>
          <p:cNvPr id="545" name="TextBox 544"/>
          <p:cNvSpPr txBox="1"/>
          <p:nvPr/>
        </p:nvSpPr>
        <p:spPr>
          <a:xfrm>
            <a:off x="6629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Сметный отдел, дни</a:t>
            </a:r>
          </a:p>
        </p:txBody>
      </p:sp>
      <p:graphicFrame>
        <p:nvGraphicFramePr>
          <p:cNvPr id="546" name="Table 545"/>
          <p:cNvGraphicFramePr>
            <a:graphicFrameLocks noGrp="1"/>
          </p:cNvGraphicFramePr>
          <p:nvPr/>
        </p:nvGraphicFramePr>
        <p:xfrm>
          <a:off x="6629400" y="2377440"/>
          <a:ext cx="484631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960120"/>
                <a:gridCol w="9601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Этап работ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Без модуля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С модулем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Экономия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Перечни материалов, объёмы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2–4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−100%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Конъюнктурный анализ цен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Корректировки смет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−50%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47" name="TextBox 546"/>
          <p:cNvSpPr txBox="1"/>
          <p:nvPr/>
        </p:nvSpPr>
        <p:spPr>
          <a:xfrm>
            <a:off x="6629400" y="41605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Спецификации и ведомости из чертежа передаются сметчикам готовыми: ручной подсчёт объёмов исключается.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589788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* При использовании готовых баз оборудования. Экономия — по середине диапазона. Детский сад, типовой объём работ.</a:t>
            </a:r>
          </a:p>
        </p:txBody>
      </p:sp>
      <p:sp>
        <p:nvSpPr>
          <p:cNvPr id="54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0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51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2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5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5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МЕТОДИКА</a:t>
            </a:r>
          </a:p>
        </p:txBody>
      </p:sp>
      <p:sp>
        <p:nvSpPr>
          <p:cNvPr id="55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58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9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Базовые работы и экономия по этапам: Электро, СКС и ОПС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594360" y="19659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Электро — nanoCAD BIM Электро, дни</a:t>
            </a:r>
          </a:p>
        </p:txBody>
      </p:sp>
      <p:graphicFrame>
        <p:nvGraphicFramePr>
          <p:cNvPr id="544" name="Table 543"/>
          <p:cNvGraphicFramePr>
            <a:graphicFrameLocks noGrp="1"/>
          </p:cNvGraphicFramePr>
          <p:nvPr/>
        </p:nvGraphicFramePr>
        <p:xfrm>
          <a:off x="594360" y="2377440"/>
          <a:ext cx="53492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59"/>
                <a:gridCol w="960120"/>
                <a:gridCol w="9601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Этап работ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Без модуля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С модулем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Экономия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Сбор исходных данных, ТУ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Трассировка сетей ЭО, ЭМ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ВРУ и щиты, селективность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−44%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Оформление РД и ПД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Электротехнический расчёт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−50%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Итого (без расчётов)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17–24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11–18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−29%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</a:tr>
            </a:tbl>
          </a:graphicData>
        </a:graphic>
      </p:graphicFrame>
      <p:sp>
        <p:nvSpPr>
          <p:cNvPr id="545" name="TextBox 544"/>
          <p:cNvSpPr txBox="1"/>
          <p:nvPr/>
        </p:nvSpPr>
        <p:spPr>
          <a:xfrm>
            <a:off x="6126480" y="19659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СКС и ОПС — nanoCAD ОПС и СКС, дни</a:t>
            </a:r>
          </a:p>
        </p:txBody>
      </p:sp>
      <p:graphicFrame>
        <p:nvGraphicFramePr>
          <p:cNvPr id="546" name="Table 545"/>
          <p:cNvGraphicFramePr>
            <a:graphicFrameLocks noGrp="1"/>
          </p:cNvGraphicFramePr>
          <p:nvPr/>
        </p:nvGraphicFramePr>
        <p:xfrm>
          <a:off x="6126480" y="2377440"/>
          <a:ext cx="534923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59"/>
                <a:gridCol w="960120"/>
                <a:gridCol w="9601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Этап работ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Без модуля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С модулем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Manrope Medium"/>
                        </a:rPr>
                        <a:t>Экономия</a:t>
                      </a:r>
                    </a:p>
                  </a:txBody>
                  <a:tcPr marL="54864" marR="54864" marT="27432" marB="27432" anchor="ctr">
                    <a:solidFill>
                      <a:srgbClr val="038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Графическая часть, кабельные журналы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−33%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Специализированные расчёты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−58%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Формирование спецификации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−44%</a:t>
                      </a:r>
                    </a:p>
                  </a:txBody>
                  <a:tcPr marL="54864" marR="54864" marT="27432" marB="27432" anchor="ctr">
                    <a:solidFill>
                      <a:srgbClr val="F1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Согласование и сдача проекта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nrope Medium"/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−33%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Итого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19–26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VK Sans Display DemiBold"/>
                        </a:rPr>
                        <a:t>10–16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386FC"/>
                          </a:solidFill>
                          <a:latin typeface="VK Sans Display DemiBold"/>
                        </a:rPr>
                        <a:t>−42%</a:t>
                      </a:r>
                    </a:p>
                  </a:txBody>
                  <a:tcPr marL="54864" marR="54864" marT="27432" marB="27432" anchor="ctr">
                    <a:solidFill>
                      <a:srgbClr val="E3EFFE"/>
                    </a:solidFill>
                  </a:tcPr>
                </a:tc>
              </a:tr>
            </a:tbl>
          </a:graphicData>
        </a:graphic>
      </p:graphicFrame>
      <p:sp>
        <p:nvSpPr>
          <p:cNvPr id="547" name="Snip Single Corner Rectangle 546"/>
          <p:cNvSpPr/>
          <p:nvPr/>
        </p:nvSpPr>
        <p:spPr>
          <a:xfrm>
            <a:off x="594360" y="4892040"/>
            <a:ext cx="10881360" cy="86868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TextBox 547"/>
          <p:cNvSpPr txBox="1"/>
          <p:nvPr/>
        </p:nvSpPr>
        <p:spPr>
          <a:xfrm>
            <a:off x="868680" y="489204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По этапам экономия достигает 29–42%. </a:t>
            </a:r>
            <a:r>
              <a:rPr sz="1300" b="0">
                <a:solidFill>
                  <a:srgbClr val="1A1A1A"/>
                </a:solidFill>
                <a:latin typeface="Manrope Medium"/>
              </a:rPr>
              <a:t>В расчётах окупаемости принято 21–30% по разделу — консервативный сценарий.</a:t>
            </a:r>
          </a:p>
        </p:txBody>
      </p:sp>
      <p:sp>
        <p:nvSpPr>
          <p:cNvPr id="54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0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51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2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5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5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МЕТОДИКА</a:t>
            </a:r>
          </a:p>
        </p:txBody>
      </p:sp>
      <p:sp>
        <p:nvSpPr>
          <p:cNvPr id="55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58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9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Виды работ с наибольшей экономией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874519"/>
          <a:ext cx="6766560" cy="41148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4" name="Snip Single Corner Rectangle 543"/>
          <p:cNvSpPr/>
          <p:nvPr/>
        </p:nvSpPr>
        <p:spPr>
          <a:xfrm>
            <a:off x="7589520" y="2011680"/>
            <a:ext cx="3886200" cy="19202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TextBox 544"/>
          <p:cNvSpPr txBox="1"/>
          <p:nvPr/>
        </p:nvSpPr>
        <p:spPr>
          <a:xfrm>
            <a:off x="7818120" y="2148840"/>
            <a:ext cx="3474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Максимальный эффект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там, где результат формируется из данных чертежа автоматически: спецификации, ведомости, журналы, расчёты, внесение правок.</a:t>
            </a:r>
          </a:p>
        </p:txBody>
      </p:sp>
      <p:sp>
        <p:nvSpPr>
          <p:cNvPr id="546" name="Snip Single Corner Rectangle 545"/>
          <p:cNvSpPr/>
          <p:nvPr/>
        </p:nvSpPr>
        <p:spPr>
          <a:xfrm>
            <a:off x="7589520" y="4114800"/>
            <a:ext cx="3886200" cy="173736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TextBox 546"/>
          <p:cNvSpPr txBox="1"/>
          <p:nvPr/>
        </p:nvSpPr>
        <p:spPr>
          <a:xfrm>
            <a:off x="7818120" y="4224528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386FC"/>
                </a:solidFill>
                <a:latin typeface="VK Sans Display DemiBold"/>
              </a:rPr>
              <a:t>77–91%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экономия на тех же типах задач в исследовании Autodesk для специализированных наборов AutoCAD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94360" y="60533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Середина диапазонов из таблиц базовых работ; «Исправления по замечаниям» — допущение методики (до 50%).</a:t>
            </a:r>
          </a:p>
        </p:txBody>
      </p:sp>
      <p:sp>
        <p:nvSpPr>
          <p:cNvPr id="549" name="nav">
            <a:hlinkClick action="ppaction://hlinksldjump" r:id="rId5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0" name="nav">
            <a:hlinkClick action="ppaction://hlinksldjump" r:id="rId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51" name="nav">
            <a:hlinkClick action="ppaction://hlinksldjump" r:id="rId1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2" name="nav">
            <a:hlinkClick action="ppaction://hlinksldjump" r:id="rId17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3" name="nav">
            <a:hlinkClick action="ppaction://hlinksldjump" r:id="rId18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54" name="nav">
            <a:hlinkClick action="ppaction://hlinksldjump" r:id="rId19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55" name="nav">
            <a:hlinkClick action="ppaction://hlinksldjump" r:id="rId20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МЕТОДИКА</a:t>
            </a:r>
          </a:p>
        </p:txBody>
      </p:sp>
      <p:sp>
        <p:nvSpPr>
          <p:cNvPr id="556" name="nav">
            <a:hlinkClick action="ppaction://hlinksldjump" r:id="rId21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57" name="nav">
            <a:hlinkClick action="ppaction://hlinksldjump" r:id="rId22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58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59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Подтверждение кейсами: пользователи nanoCAD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1965960"/>
            <a:ext cx="3474720" cy="39319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850392" y="2103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0386FC"/>
                </a:solidFill>
                <a:latin typeface="VK Sans Display DemiBold"/>
              </a:rPr>
              <a:t>−83%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50392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«Уфанет», телеком, СКС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50392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2D-проект одного объекта: 4 ч → 40 мин (501 объект)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−30% срока проектирования за счёт проверки коллизий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−70% возвратов рабочей документации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&gt; 1,3 млн ₽ экономии материалов на пилоте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50392" y="5440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CNews, ComNews, 23.07.2026; CADmaster № 106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4297680" y="1965960"/>
            <a:ext cx="3474720" cy="39319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4553712" y="2103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0386FC"/>
                </a:solidFill>
                <a:latin typeface="VK Sans Display DemiBold"/>
              </a:rPr>
              <a:t>+40%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553712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«АБТ», Санкт-Петербург, Электро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553712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Эффективность проектирования выросла на 40%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Подбор оборудования и кабелей расчётом по модели сети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Автоматическая спецификация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Меньше замечаний экспертизы и времени на доработку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4553712" y="5440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nanocad.ru; «САПР и графика»; CADmaster № 103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8001000" y="1965960"/>
            <a:ext cx="3474720" cy="393192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TextBox 553"/>
          <p:cNvSpPr txBox="1"/>
          <p:nvPr/>
        </p:nvSpPr>
        <p:spPr>
          <a:xfrm>
            <a:off x="8257031" y="2103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0386FC"/>
                </a:solidFill>
                <a:latin typeface="VK Sans Display DemiBold"/>
              </a:rPr>
              <a:t>до −30%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257031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Параметрические 2D-элементы, КР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257031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Сокращение сроков разработки документации до 30%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Библиотека типовых параметрических элементов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Настройка под стандарт предприятия</a:t>
            </a:r>
          </a:p>
          <a:p>
            <a:pPr algn="l" marL="246888" indent="-246888">
              <a:spcAft>
                <a:spcPts val="600"/>
              </a:spcAft>
              <a:buClr>
                <a:srgbClr val="0386FC"/>
              </a:buClr>
              <a:buFont typeface="Manrope Medium"/>
              <a:buChar char="→"/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Оперативный контроль качества проекта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257031" y="5440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Данные вендора, nanoCAD Конструкции PS</a:t>
            </a:r>
          </a:p>
        </p:txBody>
      </p:sp>
      <p:sp>
        <p:nvSpPr>
          <p:cNvPr id="558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9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60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61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62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63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64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65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566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67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8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Кейсы: специализированные наборы AutoCAD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2240280"/>
          <a:ext cx="5669280" cy="301752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4" name="TextBox 543"/>
          <p:cNvSpPr txBox="1"/>
          <p:nvPr/>
        </p:nvSpPr>
        <p:spPr>
          <a:xfrm>
            <a:off x="594360" y="1920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nrope Medium"/>
              </a:rPr>
              <a:t>Общий рост производительности по сравнению с базовым AutoCAD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Экономия времени на отдельных задачах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6537960" y="24231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386FC"/>
                </a:solidFill>
                <a:latin typeface="VK Sans Display DemiBold"/>
              </a:rPr>
              <a:t>−91%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7589520" y="24231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планы трубопроводов (MEP)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6537960" y="28803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386FC"/>
                </a:solidFill>
                <a:latin typeface="VK Sans Display DemiBold"/>
              </a:rPr>
              <a:t>−86%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7589520" y="28803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силовые и электрические планы (MEP)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6537960" y="33375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386FC"/>
                </a:solidFill>
                <a:latin typeface="VK Sans Display DemiBold"/>
              </a:rPr>
              <a:t>−84%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7589520" y="33375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новые электрические схемы (Electrical)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6537960" y="37947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386FC"/>
                </a:solidFill>
                <a:latin typeface="VK Sans Display DemiBold"/>
              </a:rPr>
              <a:t>−82%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7589520" y="37947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нумерация проводов (Electrical)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537960" y="42519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386FC"/>
                </a:solidFill>
                <a:latin typeface="VK Sans Display DemiBold"/>
              </a:rPr>
              <a:t>−81%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7589520" y="42519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планы ОВ и воздуховодов (MEP)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6537960" y="47091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386FC"/>
                </a:solidFill>
                <a:latin typeface="VK Sans Display DemiBold"/>
              </a:rPr>
              <a:t>−77%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7589520" y="47091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правки существующих схем (Electrical)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594360" y="5394960"/>
            <a:ext cx="10881360" cy="5029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TextBox 558"/>
          <p:cNvSpPr txBox="1"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Методика: независимый консультант по заказу Autodesk; один опытный пользователь, одинаковые задачи в базовом AutoCAD и в специализированном наборе.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594360" y="598932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Autodesk: AutoCAD Toolsets Productivity Studies (Electrical, MEP, Architecture, Mechanical).</a:t>
            </a:r>
          </a:p>
        </p:txBody>
      </p:sp>
      <p:sp>
        <p:nvSpPr>
          <p:cNvPr id="561" name="nav">
            <a:hlinkClick action="ppaction://hlinksldjump" r:id="rId5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62" name="nav">
            <a:hlinkClick action="ppaction://hlinksldjump" r:id="rId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63" name="nav">
            <a:hlinkClick action="ppaction://hlinksldjump" r:id="rId1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64" name="nav">
            <a:hlinkClick action="ppaction://hlinksldjump" r:id="rId17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65" name="nav">
            <a:hlinkClick action="ppaction://hlinksldjump" r:id="rId18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66" name="nav">
            <a:hlinkClick action="ppaction://hlinksldjump" r:id="rId19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67" name="nav">
            <a:hlinkClick action="ppaction://hlinksldjump" r:id="rId20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68" name="nav">
            <a:hlinkClick action="ppaction://hlinksldjump" r:id="rId21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569" name="nav">
            <a:hlinkClick action="ppaction://hlinksldjump" r:id="rId22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70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71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Наши расчёты выполнены по консервативному сценарию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3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43" name="Chart 542"/>
          <p:cNvGraphicFramePr>
            <a:graphicFrameLocks noGrp="1"/>
          </p:cNvGraphicFramePr>
          <p:nvPr/>
        </p:nvGraphicFramePr>
        <p:xfrm>
          <a:off x="502920" y="1920240"/>
          <a:ext cx="7315200" cy="301752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44" name="TextBox 543"/>
          <p:cNvSpPr txBox="1"/>
          <p:nvPr/>
        </p:nvSpPr>
        <p:spPr>
          <a:xfrm>
            <a:off x="7955279" y="22402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21–30%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7955279" y="288036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29–42%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7955279" y="35204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30–83%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7955279" y="416052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386FC"/>
                </a:solidFill>
                <a:latin typeface="VK Sans Display DemiBold"/>
              </a:rPr>
              <a:t>55–95%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9189720" y="2011680"/>
            <a:ext cx="2286000" cy="28346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9372600" y="2148840"/>
            <a:ext cx="1965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VK Sans Display DemiBold"/>
              </a:rPr>
              <a:t>Исправления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В расчётах — снижение затрат до 50%.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У «Уфанет» — −70% возвратов документации.</a:t>
            </a:r>
          </a:p>
        </p:txBody>
      </p:sp>
      <p:sp>
        <p:nvSpPr>
          <p:cNvPr id="550" name="Snip Single Corner Rectangle 549"/>
          <p:cNvSpPr/>
          <p:nvPr/>
        </p:nvSpPr>
        <p:spPr>
          <a:xfrm>
            <a:off x="594360" y="5120640"/>
            <a:ext cx="10881360" cy="731520"/>
          </a:xfrm>
          <a:prstGeom prst="snip1Rect">
            <a:avLst/>
          </a:prstGeom>
          <a:solidFill>
            <a:srgbClr val="E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TextBox 550"/>
          <p:cNvSpPr txBox="1"/>
          <p:nvPr/>
        </p:nvSpPr>
        <p:spPr>
          <a:xfrm>
            <a:off x="822960" y="512064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VK Sans Display DemiBold"/>
              </a:rPr>
              <a:t>Вывод: </a:t>
            </a:r>
            <a:r>
              <a:rPr sz="1300" b="0">
                <a:solidFill>
                  <a:srgbClr val="1A1A1A"/>
                </a:solidFill>
                <a:latin typeface="Manrope Medium"/>
              </a:rPr>
              <a:t>25–30% экономии по разделу — нижняя граница наблюдаемых результатов. Фактический эффект, как правило, выше.</a:t>
            </a:r>
          </a:p>
        </p:txBody>
      </p:sp>
      <p:sp>
        <p:nvSpPr>
          <p:cNvPr id="552" name="nav">
            <a:hlinkClick action="ppaction://hlinksldjump" r:id="rId5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3" name="nav">
            <a:hlinkClick action="ppaction://hlinksldjump" r:id="rId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54" name="nav">
            <a:hlinkClick action="ppaction://hlinksldjump" r:id="rId1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5" name="nav">
            <a:hlinkClick action="ppaction://hlinksldjump" r:id="rId17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6" name="nav">
            <a:hlinkClick action="ppaction://hlinksldjump" r:id="rId18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57" name="nav">
            <a:hlinkClick action="ppaction://hlinksldjump" r:id="rId19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58" name="nav">
            <a:hlinkClick action="ppaction://hlinksldjump" r:id="rId20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59" name="nav">
            <a:hlinkClick action="ppaction://hlinksldjump" r:id="rId21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КЕЙСЫ</a:t>
            </a:r>
          </a:p>
        </p:txBody>
      </p:sp>
      <p:sp>
        <p:nvSpPr>
          <p:cNvPr id="560" name="nav">
            <a:hlinkClick action="ppaction://hlinksldjump" r:id="rId22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61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2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Ограничения методики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10881360" cy="16916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868680" y="2286000"/>
            <a:ext cx="548640" cy="54864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691640" y="22402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VK Sans Display DemiBold"/>
              </a:rPr>
              <a:t>Параллельная работа над несколькими проектами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1691640" y="2724912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Методика считает экономию на один проект. Если специалист одновременно ведёт несколько объектов, распределение его времени и фактический эффект по каждому проекту учесть и оценить невозможно.</a:t>
            </a:r>
          </a:p>
        </p:txBody>
      </p:sp>
      <p:sp>
        <p:nvSpPr>
          <p:cNvPr id="547" name="Snip Single Corner Rectangle 546"/>
          <p:cNvSpPr/>
          <p:nvPr/>
        </p:nvSpPr>
        <p:spPr>
          <a:xfrm>
            <a:off x="594360" y="3931920"/>
            <a:ext cx="10881360" cy="16916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Snip Single Corner Rectangle 547"/>
          <p:cNvSpPr/>
          <p:nvPr/>
        </p:nvSpPr>
        <p:spPr>
          <a:xfrm>
            <a:off x="868680" y="4206240"/>
            <a:ext cx="548640" cy="54864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02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691640" y="416052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VK Sans Display DemiBold"/>
              </a:rPr>
              <a:t>Просадка эффективности при переходе на новое ПО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691640" y="4645152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anrope Medium"/>
              </a:rPr>
              <a:t>Временное снижение производительности в период освоения не учитывается: оно слишком зависит от методики внедрения. С Нормасофт переход быстрее и проще — короткие курсы по модулю, готовые шаблоны и базы, сопровождение консультантов.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594360" y="589788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nrope Medium"/>
              </a:rPr>
              <a:t>Ставки — средние по ОКВЭД 71 без региональной поправки; цены лицензий — годовые, на дату расчёта.</a:t>
            </a:r>
          </a:p>
        </p:txBody>
      </p:sp>
      <p:sp>
        <p:nvSpPr>
          <p:cNvPr id="552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53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54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55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56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57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58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59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60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61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62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05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3840480" y="3558240"/>
            <a:ext cx="7516368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НОРМАСОФТ: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90000"/>
              </a:lnSpc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ВНЕДРЕНИЕ ПОД КЛЮЧ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4663440" y="5093280"/>
            <a:ext cx="6693408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Учебный центр, консультанты по всем разделам проектирования и собственные разработки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260" name="nav">
            <a:hlinkClick action="ppaction://hlinksldjump" r:id="rId14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261" name="nav">
            <a:hlinkClick action="ppaction://hlinksldjump" r:id="rId6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262" name="nav">
            <a:hlinkClick action="ppaction://hlinksldjump" r:id="rId5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263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264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265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266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267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268" name="nav">
            <a:hlinkClick action="ppaction://hlinksldjump" r:id="rId4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269" name="nav">
            <a:hlinkClick action="ppaction://hlinksldjump" r:id="rId11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8" name="Google Shape;321;p35"/>
          <p:cNvSpPr/>
          <p:nvPr/>
        </p:nvSpPr>
        <p:spPr>
          <a:xfrm>
            <a:off x="595440" y="1672200"/>
            <a:ext cx="143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Миссия: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2091960" y="1704600"/>
            <a:ext cx="849672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9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Обеспечение технологического суверенитета российских компаний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21;p35"/>
          <p:cNvSpPr/>
          <p:nvPr/>
        </p:nvSpPr>
        <p:spPr>
          <a:xfrm>
            <a:off x="595440" y="2615400"/>
            <a:ext cx="23389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Направления: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321;p35"/>
          <p:cNvSpPr/>
          <p:nvPr/>
        </p:nvSpPr>
        <p:spPr>
          <a:xfrm>
            <a:off x="3157920" y="2615400"/>
            <a:ext cx="427824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Поставляем и внедряем инфраструктурное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и инженерное программное обеспечение, программы для учета и управления оборудованием, приборами,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IT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-активами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321;p35"/>
          <p:cNvSpPr/>
          <p:nvPr/>
        </p:nvSpPr>
        <p:spPr>
          <a:xfrm>
            <a:off x="6453000" y="3660840"/>
            <a:ext cx="284976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Развиваем  направление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«Цифровые двойники производства»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321;p35"/>
          <p:cNvSpPr/>
          <p:nvPr/>
        </p:nvSpPr>
        <p:spPr>
          <a:xfrm>
            <a:off x="3157920" y="3654720"/>
            <a:ext cx="312552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Разрабатываем типовые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и индивидуальные плагины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и утилиты для работы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321;p35"/>
          <p:cNvSpPr/>
          <p:nvPr/>
        </p:nvSpPr>
        <p:spPr>
          <a:xfrm>
            <a:off x="7567560" y="2615400"/>
            <a:ext cx="383400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Обучаем работе  с отечественным инженерным ПО в Авторизованном учебном центре «Нормасофт»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321;p35"/>
          <p:cNvSpPr/>
          <p:nvPr/>
        </p:nvSpPr>
        <p:spPr>
          <a:xfrm>
            <a:off x="9472320" y="3654720"/>
            <a:ext cx="192960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Развиваем направление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BIM VR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321;p35"/>
          <p:cNvSpPr/>
          <p:nvPr/>
        </p:nvSpPr>
        <p:spPr>
          <a:xfrm>
            <a:off x="595440" y="5185800"/>
            <a:ext cx="13460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Опыт: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71;p29"/>
          <p:cNvSpPr/>
          <p:nvPr/>
        </p:nvSpPr>
        <p:spPr>
          <a:xfrm>
            <a:off x="250272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VK Sans Display DemiBold"/>
              </a:rPr>
              <a:t>3 000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8"/>
          <p:cNvSpPr/>
          <p:nvPr/>
        </p:nvSpPr>
        <p:spPr>
          <a:xfrm>
            <a:off x="2202480" y="5708160"/>
            <a:ext cx="35071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Инженеров, специалистов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и преподавателей, прошедших обучение работе с отечественным инженерным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71;p29"/>
          <p:cNvSpPr/>
          <p:nvPr/>
        </p:nvSpPr>
        <p:spPr>
          <a:xfrm>
            <a:off x="620712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VK Sans Display DemiBold"/>
              </a:rPr>
              <a:t>500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0"/>
          <p:cNvSpPr/>
          <p:nvPr/>
        </p:nvSpPr>
        <p:spPr>
          <a:xfrm>
            <a:off x="5861160" y="5689800"/>
            <a:ext cx="30909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Клиентов, включая предприятия корпораций «РОСАТОМ», «РОСТЕХ» и «РОССЕТИ»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71;p29"/>
          <p:cNvSpPr/>
          <p:nvPr/>
        </p:nvSpPr>
        <p:spPr>
          <a:xfrm>
            <a:off x="954684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VK Sans Display DemiBold"/>
              </a:rPr>
              <a:t>12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2"/>
          <p:cNvSpPr/>
          <p:nvPr/>
        </p:nvSpPr>
        <p:spPr>
          <a:xfrm>
            <a:off x="9204120" y="5689800"/>
            <a:ext cx="22698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Лет успешного внедрения и импортозамещения отечественного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5"/>
          <p:cNvSpPr/>
          <p:nvPr/>
        </p:nvSpPr>
        <p:spPr>
          <a:xfrm>
            <a:off x="212256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6"/>
          <p:cNvSpPr/>
          <p:nvPr/>
        </p:nvSpPr>
        <p:spPr>
          <a:xfrm>
            <a:off x="580500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7"/>
          <p:cNvSpPr/>
          <p:nvPr/>
        </p:nvSpPr>
        <p:spPr>
          <a:xfrm>
            <a:off x="914436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118" name="Прямая со стрелкой 17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128" name="Google Shape;269;p32">
            <a:hlinkClick action="ppaction://hlinksldjump" r:id="rId11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9" name="nav">
            <a:hlinkClick action="ppaction://hlinksldjump" r:id="rId12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130" name="nav">
            <a:hlinkClick action="ppaction://hlinksldjump" r:id="rId13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131" name="nav">
            <a:hlinkClick action="ppaction://hlinksldjump" r:id="rId5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132" name="nav">
            <a:hlinkClick action="ppaction://hlinksldjump" r:id="rId4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133" name="nav">
            <a:hlinkClick action="ppaction://hlinksldjump" r:id="rId16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134" name="nav">
            <a:hlinkClick action="ppaction://hlinksldjump" r:id="rId17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135" name="nav">
            <a:hlinkClick action="ppaction://hlinksldjump" r:id="rId18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136" name="nav">
            <a:hlinkClick action="ppaction://hlinksldjump" r:id="rId19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137" name="nav">
            <a:hlinkClick action="ppaction://hlinksldjump" r:id="rId20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138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139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Прямоугольник: скругленные углы 9"/>
          <p:cNvSpPr/>
          <p:nvPr/>
        </p:nvSpPr>
        <p:spPr>
          <a:xfrm>
            <a:off x="4511520" y="158220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3" name="TextBox 14"/>
          <p:cNvSpPr/>
          <p:nvPr/>
        </p:nvSpPr>
        <p:spPr>
          <a:xfrm>
            <a:off x="5046120" y="2893320"/>
            <a:ext cx="24202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В группах в нашем учебном центре онлайн по общему графику.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21;p35"/>
          <p:cNvSpPr/>
          <p:nvPr/>
        </p:nvSpPr>
        <p:spPr>
          <a:xfrm>
            <a:off x="10347120" y="5406480"/>
            <a:ext cx="810000" cy="82944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200" b="0" u="none" strike="noStrike">
              <a:solidFill>
                <a:schemeClr val="dk1"/>
              </a:solidFill>
              <a:effectLst/>
              <a:uFillTx/>
              <a:latin typeface="Roboto Light"/>
            </a:endParaRPr>
          </a:p>
        </p:txBody>
      </p:sp>
      <p:cxnSp>
        <p:nvCxnSpPr>
          <p:cNvPr id="265" name="Прямая соединительная линия 26"/>
          <p:cNvCxnSpPr>
            <a:stCxn id="266" idx="0"/>
            <a:endCxn id="267" idx="2"/>
          </p:cNvCxnSpPr>
          <p:nvPr/>
        </p:nvCxnSpPr>
        <p:spPr>
          <a:xfrm>
            <a:off x="3024000" y="4910400"/>
            <a:ext cx="5820840" cy="360"/>
          </a:xfrm>
          <a:prstGeom prst="straightConnector1">
            <a:avLst/>
          </a:prstGeom>
          <a:ln w="9525">
            <a:solidFill>
              <a:srgbClr val="0386FC"/>
            </a:solidFill>
          </a:ln>
        </p:spPr>
      </p:cxnSp>
      <p:sp>
        <p:nvSpPr>
          <p:cNvPr id="268" name="Google Shape;321;p35"/>
          <p:cNvSpPr/>
          <p:nvPr/>
        </p:nvSpPr>
        <p:spPr>
          <a:xfrm>
            <a:off x="6400080" y="5641200"/>
            <a:ext cx="7232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</a:rPr>
              <a:t>Linux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21;p35"/>
          <p:cNvSpPr/>
          <p:nvPr/>
        </p:nvSpPr>
        <p:spPr>
          <a:xfrm>
            <a:off x="7282800" y="5641200"/>
            <a:ext cx="117540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АСМОграф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21;p35"/>
          <p:cNvSpPr/>
          <p:nvPr/>
        </p:nvSpPr>
        <p:spPr>
          <a:xfrm>
            <a:off x="3326040" y="5641200"/>
            <a:ext cx="10807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nanoCAD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1;p35"/>
          <p:cNvSpPr/>
          <p:nvPr/>
        </p:nvSpPr>
        <p:spPr>
          <a:xfrm>
            <a:off x="4566240" y="5641200"/>
            <a:ext cx="16747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Model Studio CS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Прямоугольник: скругленные углы 8"/>
          <p:cNvSpPr/>
          <p:nvPr/>
        </p:nvSpPr>
        <p:spPr>
          <a:xfrm>
            <a:off x="675000" y="159948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3" name="Прямоугольник: скругленные углы 10"/>
          <p:cNvSpPr/>
          <p:nvPr/>
        </p:nvSpPr>
        <p:spPr>
          <a:xfrm>
            <a:off x="8335080" y="159948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4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75" name="Прямая со стрелкой 1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76" name="TextBox 13"/>
          <p:cNvSpPr/>
          <p:nvPr/>
        </p:nvSpPr>
        <p:spPr>
          <a:xfrm>
            <a:off x="696960" y="2855520"/>
            <a:ext cx="33699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В нашем учебном центре,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на вашей территории или онлайн,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с учетом специфики проектов и технологий компании.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5"/>
          <p:cNvSpPr/>
          <p:nvPr/>
        </p:nvSpPr>
        <p:spPr>
          <a:xfrm>
            <a:off x="8384040" y="2844360"/>
            <a:ext cx="33163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Доступ к видеоурокам и тестам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для самостоятельного изучения,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что помогает быстро обучать сотрудников и оптимизировать затраты.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6"/>
          <p:cNvSpPr/>
          <p:nvPr/>
        </p:nvSpPr>
        <p:spPr>
          <a:xfrm>
            <a:off x="891720" y="1919520"/>
            <a:ext cx="2994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Корпоративное 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7"/>
          <p:cNvSpPr/>
          <p:nvPr/>
        </p:nvSpPr>
        <p:spPr>
          <a:xfrm>
            <a:off x="4527360" y="1932840"/>
            <a:ext cx="3369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Потоковое 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8"/>
          <p:cNvSpPr/>
          <p:nvPr/>
        </p:nvSpPr>
        <p:spPr>
          <a:xfrm>
            <a:off x="8903520" y="1932840"/>
            <a:ext cx="22777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Онлайн-обучение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1;p35"/>
          <p:cNvSpPr/>
          <p:nvPr/>
        </p:nvSpPr>
        <p:spPr>
          <a:xfrm>
            <a:off x="696960" y="4685760"/>
            <a:ext cx="23270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Запишитесь на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21;p35"/>
          <p:cNvSpPr/>
          <p:nvPr/>
        </p:nvSpPr>
        <p:spPr>
          <a:xfrm>
            <a:off x="3711960" y="4685760"/>
            <a:ext cx="172152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Получите доступ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21;p35"/>
          <p:cNvSpPr/>
          <p:nvPr/>
        </p:nvSpPr>
        <p:spPr>
          <a:xfrm>
            <a:off x="6121080" y="4685760"/>
            <a:ext cx="20354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Пройдите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35"/>
          <p:cNvSpPr/>
          <p:nvPr/>
        </p:nvSpPr>
        <p:spPr>
          <a:xfrm>
            <a:off x="8844480" y="4685760"/>
            <a:ext cx="28562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Применяйте знания на практике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Прямоугольник: скругленные углы 27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4" name="Google Shape;321;p35"/>
          <p:cNvSpPr/>
          <p:nvPr/>
        </p:nvSpPr>
        <p:spPr>
          <a:xfrm>
            <a:off x="696960" y="5641200"/>
            <a:ext cx="246960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Обучаем работе в ПО: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126;p27"/>
          <p:cNvSpPr/>
          <p:nvPr/>
        </p:nvSpPr>
        <p:spPr>
          <a:xfrm>
            <a:off x="10168200" y="6337800"/>
            <a:ext cx="1173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sng" strike="noStrike">
                <a:solidFill>
                  <a:srgbClr val="0088FE"/>
                </a:solidFill>
                <a:effectLst/>
                <a:uFillTx/>
                <a:latin typeface="Manrope Medium"/>
                <a:ea typeface="Manrope"/>
                <a:hlinkClick r:id="rId1"/>
              </a:rPr>
              <a:t>Записаться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sng" strike="noStrike">
                <a:solidFill>
                  <a:srgbClr val="0088FE"/>
                </a:solidFill>
                <a:effectLst/>
                <a:uFillTx/>
                <a:latin typeface="Manrope Medium"/>
                <a:ea typeface="Manrope"/>
                <a:hlinkClick r:id="rId2"/>
              </a:rPr>
              <a:t>на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Рисунок 42"/>
          <p:cNvSpPr/>
          <p:nvPr/>
        </p:nvSpPr>
        <p:spPr>
          <a:xfrm>
            <a:off x="10400760" y="5517000"/>
            <a:ext cx="682560" cy="680400"/>
          </a:xfrm>
          <a:prstGeom prst="roundRect">
            <a:avLst>
              <a:gd name="adj" fmla="val 9971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4">
            <a:alphaModFix amt="70000"/>
          </a:blip>
          <a:srcRect l="0" t="70797" r="0" b="0"/>
          <a:stretch/>
        </p:blipFill>
        <p:spPr>
          <a:xfrm rot="5400000">
            <a:off x="-1804680" y="3560040"/>
            <a:ext cx="388584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Google Shape;9193;p66"/>
          <p:cNvSpPr/>
          <p:nvPr/>
        </p:nvSpPr>
        <p:spPr>
          <a:xfrm>
            <a:off x="9862200" y="2363040"/>
            <a:ext cx="360000" cy="358560"/>
          </a:xfrm>
          <a:custGeom>
            <a:avLst/>
            <a:gdLst>
              <a:gd name="textAreaLeft" fmla="*/ 0 w 360000"/>
              <a:gd name="textAreaRight" fmla="*/ 360360 w 360000"/>
              <a:gd name="textAreaTop" fmla="*/ 0 h 358560"/>
              <a:gd name="textAreaBottom" fmla="*/ 358920 h 358560"/>
            </a:gdLst>
            <a:ahLst/>
            <a:cxnLst/>
            <a:rect l="textAreaLeft" t="textAreaTop" r="textAreaRight" b="textAreaBottom"/>
            <a:pathLst>
              <a:path w="11348" h="1130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9" name="Google Shape;9317;p66"/>
          <p:cNvSpPr/>
          <p:nvPr/>
        </p:nvSpPr>
        <p:spPr>
          <a:xfrm>
            <a:off x="2210760" y="2378520"/>
            <a:ext cx="343080" cy="343080"/>
          </a:xfrm>
          <a:custGeom>
            <a:avLst/>
            <a:gdLst>
              <a:gd name="textAreaLeft" fmla="*/ 0 w 343080"/>
              <a:gd name="textAreaRight" fmla="*/ 343440 w 343080"/>
              <a:gd name="textAreaTop" fmla="*/ 0 h 343080"/>
              <a:gd name="textAreaBottom" fmla="*/ 343440 h 343080"/>
            </a:gdLst>
            <a:ahLst/>
            <a:cxnLst/>
            <a:rect l="textAreaLeft" t="textAreaTop" r="textAreaRight" b="textAreaBottom"/>
            <a:pathLst>
              <a:path w="10812" h="10811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0" name="Google Shape;10677;p68"/>
          <p:cNvSpPr/>
          <p:nvPr/>
        </p:nvSpPr>
        <p:spPr>
          <a:xfrm>
            <a:off x="5963400" y="2387160"/>
            <a:ext cx="488880" cy="407880"/>
          </a:xfrm>
          <a:custGeom>
            <a:avLst/>
            <a:gdLst>
              <a:gd name="textAreaLeft" fmla="*/ 0 w 488880"/>
              <a:gd name="textAreaRight" fmla="*/ 489240 w 488880"/>
              <a:gd name="textAreaTop" fmla="*/ 0 h 407880"/>
              <a:gd name="textAreaBottom" fmla="*/ 408240 h 407880"/>
            </a:gdLst>
            <a:ahLst/>
            <a:cxnLst/>
            <a:rect l="textAreaLeft" t="textAreaTop" r="textAreaRight" b="textAreaBottom"/>
            <a:pathLst>
              <a:path w="10919" h="9109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1" name="Овал 103"/>
          <p:cNvSpPr/>
          <p:nvPr/>
        </p:nvSpPr>
        <p:spPr>
          <a:xfrm>
            <a:off x="365868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2" name="Овал 104"/>
          <p:cNvSpPr/>
          <p:nvPr/>
        </p:nvSpPr>
        <p:spPr>
          <a:xfrm>
            <a:off x="606780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3" name="Овал 105"/>
          <p:cNvSpPr/>
          <p:nvPr/>
        </p:nvSpPr>
        <p:spPr>
          <a:xfrm>
            <a:off x="879804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3" name="Google Shape;269;p32">
            <a:hlinkClick action="ppaction://hlinksldjump" r:id="rId14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7" name="Google Shape;321;p35"/>
          <p:cNvSpPr/>
          <p:nvPr/>
        </p:nvSpPr>
        <p:spPr>
          <a:xfrm>
            <a:off x="8617320" y="5641200"/>
            <a:ext cx="8470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Roboto Light"/>
              </a:rPr>
              <a:t>Renga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nav">
            <a:hlinkClick action="ppaction://hlinksldjump" r:id="rId15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309" name="nav">
            <a:hlinkClick action="ppaction://hlinksldjump" r:id="rId16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310" name="nav">
            <a:hlinkClick action="ppaction://hlinksldjump" r:id="rId8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311" name="nav">
            <a:hlinkClick action="ppaction://hlinksldjump" r:id="rId7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312" name="nav">
            <a:hlinkClick action="ppaction://hlinksldjump" r:id="rId19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313" name="nav">
            <a:hlinkClick action="ppaction://hlinksldjump" r:id="rId20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314" name="nav">
            <a:hlinkClick action="ppaction://hlinksldjump" r:id="rId21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315" name="nav">
            <a:hlinkClick action="ppaction://hlinksldjump" r:id="rId22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316" name="nav">
            <a:hlinkClick action="ppaction://hlinksldjump" r:id="rId23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317" name="nav">
            <a:hlinkClick action="ppaction://hlinksldjump" r:id="rId6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318" name="nav">
            <a:hlinkClick action="ppaction://hlinksldjump" r:id="rId13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Прямоугольник: скругленные углы 2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6" name="Заголовок 1"/>
          <p:cNvSpPr/>
          <p:nvPr/>
        </p:nvSpPr>
        <p:spPr>
          <a:xfrm>
            <a:off x="826200" y="1437840"/>
            <a:ext cx="1108692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Консультанты по всем разделам проектирования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Google Shape;321;p35"/>
          <p:cNvSpPr/>
          <p:nvPr/>
        </p:nvSpPr>
        <p:spPr>
          <a:xfrm>
            <a:off x="1491120" y="220428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Учебный центр: комплексное обучение работе в ПО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321;p35"/>
          <p:cNvSpPr/>
          <p:nvPr/>
        </p:nvSpPr>
        <p:spPr>
          <a:xfrm>
            <a:off x="1491120" y="2846880"/>
            <a:ext cx="2310840" cy="40932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WorldSkills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,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anrope Medium"/>
                <a:ea typeface="Roboto Light"/>
              </a:rPr>
              <a:t>AtomSkills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321;p35"/>
          <p:cNvSpPr/>
          <p:nvPr/>
        </p:nvSpPr>
        <p:spPr>
          <a:xfrm>
            <a:off x="1491120" y="345492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Инженеры по всем разделам проектирования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321;p35"/>
          <p:cNvSpPr/>
          <p:nvPr/>
        </p:nvSpPr>
        <p:spPr>
          <a:xfrm>
            <a:off x="1491120" y="4097880"/>
            <a:ext cx="8292960" cy="4928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базовому САПР для инженеров ПТО, ОКСов и служб эксплуатации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321;p35"/>
          <p:cNvSpPr/>
          <p:nvPr/>
        </p:nvSpPr>
        <p:spPr>
          <a:xfrm>
            <a:off x="1491120" y="478944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моделированию бизнес-процессов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321;p35"/>
          <p:cNvSpPr/>
          <p:nvPr/>
        </p:nvSpPr>
        <p:spPr>
          <a:xfrm>
            <a:off x="1491120" y="5432040"/>
            <a:ext cx="599724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моделированию технологических процессов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321;p35"/>
          <p:cNvSpPr/>
          <p:nvPr/>
        </p:nvSpPr>
        <p:spPr>
          <a:xfrm>
            <a:off x="1491120" y="6075000"/>
            <a:ext cx="8292960" cy="4928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Manrope Medium"/>
              </a:rPr>
              <a:t>Специалисты по развертыванию отечественного системного и инфраструктурного ПО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321;p35"/>
          <p:cNvSpPr/>
          <p:nvPr/>
        </p:nvSpPr>
        <p:spPr>
          <a:xfrm>
            <a:off x="966240" y="220428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pic>
        <p:nvPicPr>
          <p:cNvPr id="495" name="Рисунок 2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/>
          <a:stretch/>
        </p:blipFill>
        <p:spPr>
          <a:xfrm>
            <a:off x="1031040" y="22456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Google Shape;321;p35"/>
          <p:cNvSpPr/>
          <p:nvPr/>
        </p:nvSpPr>
        <p:spPr>
          <a:xfrm>
            <a:off x="966240" y="281340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497" name="Google Shape;321;p35"/>
          <p:cNvSpPr/>
          <p:nvPr/>
        </p:nvSpPr>
        <p:spPr>
          <a:xfrm>
            <a:off x="966240" y="34520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498" name="Google Shape;321;p35"/>
          <p:cNvSpPr/>
          <p:nvPr/>
        </p:nvSpPr>
        <p:spPr>
          <a:xfrm>
            <a:off x="955440" y="414648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499" name="Google Shape;321;p35"/>
          <p:cNvSpPr/>
          <p:nvPr/>
        </p:nvSpPr>
        <p:spPr>
          <a:xfrm>
            <a:off x="955440" y="47894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500" name="Google Shape;321;p35"/>
          <p:cNvSpPr/>
          <p:nvPr/>
        </p:nvSpPr>
        <p:spPr>
          <a:xfrm>
            <a:off x="966240" y="54320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sp>
        <p:nvSpPr>
          <p:cNvPr id="501" name="Google Shape;321;p35"/>
          <p:cNvSpPr/>
          <p:nvPr/>
        </p:nvSpPr>
        <p:spPr>
          <a:xfrm>
            <a:off x="966240" y="612360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Medium"/>
            </a:endParaRPr>
          </a:p>
        </p:txBody>
      </p:sp>
      <p:pic>
        <p:nvPicPr>
          <p:cNvPr id="502" name="Рисунок 26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/>
          <a:stretch/>
        </p:blipFill>
        <p:spPr>
          <a:xfrm>
            <a:off x="1064160" y="2872800"/>
            <a:ext cx="329040" cy="32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Рисунок 27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3"/>
          <a:stretch/>
        </p:blipFill>
        <p:spPr>
          <a:xfrm>
            <a:off x="1054440" y="3495240"/>
            <a:ext cx="371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Рисунок 30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4"/>
          <a:stretch/>
        </p:blipFill>
        <p:spPr>
          <a:xfrm>
            <a:off x="1054440" y="4221720"/>
            <a:ext cx="347400" cy="3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Рисунок 29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5"/>
          <a:stretch/>
        </p:blipFill>
        <p:spPr>
          <a:xfrm>
            <a:off x="1050480" y="4864680"/>
            <a:ext cx="307080" cy="3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6" name="Рисунок 28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6"/>
          <a:stretch/>
        </p:blipFill>
        <p:spPr>
          <a:xfrm>
            <a:off x="1031040" y="5468040"/>
            <a:ext cx="370440" cy="37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Рисунок 3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7"/>
          <a:stretch/>
        </p:blipFill>
        <p:spPr>
          <a:xfrm>
            <a:off x="1031040" y="6166800"/>
            <a:ext cx="371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Рисунок 39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8">
            <a:alphaModFix amt="70000"/>
          </a:blip>
          <a:srcRect l="0" t="55656" r="0" b="0"/>
          <a:stretch/>
        </p:blipFill>
        <p:spPr>
          <a:xfrm rot="5400000">
            <a:off x="-1733040" y="42814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10" name="Прямая со стрелкой 41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20" name="Google Shape;269;p32">
            <a:hlinkClick action="ppaction://hlinksldjump" r:id="rId18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21" name="nav">
            <a:hlinkClick action="ppaction://hlinksldjump" r:id="rId19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22" name="nav">
            <a:hlinkClick action="ppaction://hlinksldjump" r:id="rId20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23" name="nav">
            <a:hlinkClick action="ppaction://hlinksldjump" r:id="rId12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24" name="nav">
            <a:hlinkClick action="ppaction://hlinksldjump" r:id="rId11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25" name="nav">
            <a:hlinkClick action="ppaction://hlinksldjump" r:id="rId23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26" name="nav">
            <a:hlinkClick action="ppaction://hlinksldjump" r:id="rId24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27" name="nav">
            <a:hlinkClick action="ppaction://hlinksldjump" r:id="rId25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28" name="nav">
            <a:hlinkClick action="ppaction://hlinksldjump" r:id="rId26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29" name="nav">
            <a:hlinkClick action="ppaction://hlinksldjump" r:id="rId27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30" name="nav">
            <a:hlinkClick action="ppaction://hlinksldjump" r:id="rId10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531" name="nav">
            <a:hlinkClick action="ppaction://hlinksldjump" r:id="rId17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594360" y="1298448"/>
            <a:ext cx="10424160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Собственные разработки и сопровождение внедрения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9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43" name="Snip Single Corner Rectangle 542"/>
          <p:cNvSpPr/>
          <p:nvPr/>
        </p:nvSpPr>
        <p:spPr>
          <a:xfrm>
            <a:off x="594360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Snip Single Corner Rectangle 543"/>
          <p:cNvSpPr/>
          <p:nvPr/>
        </p:nvSpPr>
        <p:spPr>
          <a:xfrm>
            <a:off x="822960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22960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Аудит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22960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Разбираем процессы отдела и выбираем разделы с наибольшим эффектом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3127248" y="2697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Manrope Medium"/>
              </a:rPr>
              <a:t>→</a:t>
            </a:r>
          </a:p>
        </p:txBody>
      </p:sp>
      <p:sp>
        <p:nvSpPr>
          <p:cNvPr id="548" name="Snip Single Corner Rectangle 547"/>
          <p:cNvSpPr/>
          <p:nvPr/>
        </p:nvSpPr>
        <p:spPr>
          <a:xfrm>
            <a:off x="3383279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Snip Single Corner Rectangle 548"/>
          <p:cNvSpPr/>
          <p:nvPr/>
        </p:nvSpPr>
        <p:spPr>
          <a:xfrm>
            <a:off x="3611879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02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611879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Пилот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3611879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Запуск модуля на реальном проекте заказчика, замер экономии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5916168" y="2697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Manrope Medium"/>
              </a:rPr>
              <a:t>→</a:t>
            </a:r>
          </a:p>
        </p:txBody>
      </p:sp>
      <p:sp>
        <p:nvSpPr>
          <p:cNvPr id="553" name="Snip Single Corner Rectangle 552"/>
          <p:cNvSpPr/>
          <p:nvPr/>
        </p:nvSpPr>
        <p:spPr>
          <a:xfrm>
            <a:off x="6172200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Snip Single Corner Rectangle 553"/>
          <p:cNvSpPr/>
          <p:nvPr/>
        </p:nvSpPr>
        <p:spPr>
          <a:xfrm>
            <a:off x="6400800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03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400800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Обучение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6400800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Короткие курсы по модулю в УЦ Нормасофт — очно, онлайн или у вас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05088" y="2697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386FC"/>
                </a:solidFill>
                <a:latin typeface="Manrope Medium"/>
              </a:rPr>
              <a:t>→</a:t>
            </a:r>
          </a:p>
        </p:txBody>
      </p:sp>
      <p:sp>
        <p:nvSpPr>
          <p:cNvPr id="558" name="Snip Single Corner Rectangle 557"/>
          <p:cNvSpPr/>
          <p:nvPr/>
        </p:nvSpPr>
        <p:spPr>
          <a:xfrm>
            <a:off x="8961120" y="2011680"/>
            <a:ext cx="2514600" cy="2148840"/>
          </a:xfrm>
          <a:prstGeom prst="snip1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Snip Single Corner Rectangle 558"/>
          <p:cNvSpPr/>
          <p:nvPr/>
        </p:nvSpPr>
        <p:spPr>
          <a:xfrm>
            <a:off x="9189720" y="2194560"/>
            <a:ext cx="457200" cy="457200"/>
          </a:xfrm>
          <a:prstGeom prst="snip1Rect">
            <a:avLst/>
          </a:prstGeom>
          <a:solidFill>
            <a:srgbClr val="03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VK Sans Display DemiBold"/>
              </a:rPr>
              <a:t>04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9189720" y="2761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VK Sans Display DemiBold"/>
              </a:rPr>
              <a:t>Тиражирование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189720" y="3154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Распространение на отдел, настройка шаблонов, поддержка</a:t>
            </a:r>
          </a:p>
        </p:txBody>
      </p:sp>
      <p:sp>
        <p:nvSpPr>
          <p:cNvPr id="562" name="Snip Single Corner Rectangle 561"/>
          <p:cNvSpPr/>
          <p:nvPr/>
        </p:nvSpPr>
        <p:spPr>
          <a:xfrm>
            <a:off x="594360" y="4434840"/>
            <a:ext cx="3474720" cy="14630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TextBox 562"/>
          <p:cNvSpPr txBox="1"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386FC"/>
                </a:solidFill>
                <a:latin typeface="VK Sans Display DemiBold"/>
              </a:rPr>
              <a:t>Плагины и утилиты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22960" y="49560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Типовые и индивидуальные плагины под задачи отдела и стандарты предприятия</a:t>
            </a:r>
          </a:p>
        </p:txBody>
      </p:sp>
      <p:sp>
        <p:nvSpPr>
          <p:cNvPr id="565" name="Snip Single Corner Rectangle 564"/>
          <p:cNvSpPr/>
          <p:nvPr/>
        </p:nvSpPr>
        <p:spPr>
          <a:xfrm>
            <a:off x="4297680" y="4434840"/>
            <a:ext cx="3474720" cy="14630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TextBox 565"/>
          <p:cNvSpPr txBox="1"/>
          <p:nvPr/>
        </p:nvSpPr>
        <p:spPr>
          <a:xfrm>
            <a:off x="4526280" y="4572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386FC"/>
                </a:solidFill>
                <a:latin typeface="VK Sans Display DemiBold"/>
              </a:rPr>
              <a:t>Базы и шаблоны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526280" y="49560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Наполнение баз оборудования, настройка шаблонов и спецификаций под ГОСТ и СТО</a:t>
            </a:r>
          </a:p>
        </p:txBody>
      </p:sp>
      <p:sp>
        <p:nvSpPr>
          <p:cNvPr id="568" name="Snip Single Corner Rectangle 567"/>
          <p:cNvSpPr/>
          <p:nvPr/>
        </p:nvSpPr>
        <p:spPr>
          <a:xfrm>
            <a:off x="8001000" y="4434840"/>
            <a:ext cx="3474720" cy="1463040"/>
          </a:xfrm>
          <a:prstGeom prst="snip1Rect">
            <a:avLst/>
          </a:prstGeom>
          <a:noFill/>
          <a:ln w="12700">
            <a:solidFill>
              <a:srgbClr val="03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TextBox 568"/>
          <p:cNvSpPr txBox="1"/>
          <p:nvPr/>
        </p:nvSpPr>
        <p:spPr>
          <a:xfrm>
            <a:off x="8229600" y="4572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386FC"/>
                </a:solidFill>
                <a:latin typeface="VK Sans Display DemiBold"/>
              </a:rPr>
              <a:t>Развитие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8229600" y="49560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nrope Medium"/>
              </a:rPr>
              <a:t>Цифровые двойники производства, BIM VR — следующий шаг, когда он нужен</a:t>
            </a:r>
          </a:p>
        </p:txBody>
      </p:sp>
      <p:sp>
        <p:nvSpPr>
          <p:cNvPr id="571" name="nav">
            <a:hlinkClick action="ppaction://hlinksldjump" r:id="rId13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72" name="nav">
            <a:hlinkClick action="ppaction://hlinksldjump" r:id="rId5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73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74" name="nav">
            <a:hlinkClick action="ppaction://hlinksldjump" r:id="rId16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75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76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77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78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79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80" name="nav">
            <a:hlinkClick action="ppaction://hlinksldjump" r:id="rId3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НОРМАСОФТ</a:t>
            </a:r>
          </a:p>
        </p:txBody>
      </p:sp>
      <p:sp>
        <p:nvSpPr>
          <p:cNvPr id="581" name="nav">
            <a:hlinkClick action="ppaction://hlinksldjump" r:id="rId10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63" name="Заголовок 1"/>
          <p:cNvSpPr/>
          <p:nvPr/>
        </p:nvSpPr>
        <p:spPr>
          <a:xfrm>
            <a:off x="1093320" y="1568880"/>
            <a:ext cx="34178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5100" b="0" u="none" strike="noStrike">
                <a:solidFill>
                  <a:schemeClr val="dk1"/>
                </a:solidFill>
                <a:effectLst/>
                <a:uFillTx/>
                <a:latin typeface="VK Sans Display DemiBold"/>
              </a:rPr>
              <a:t>Спасибо!</a:t>
            </a:r>
            <a:endParaRPr lang="ru-RU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5"/>
          <p:cNvSpPr/>
          <p:nvPr/>
        </p:nvSpPr>
        <p:spPr>
          <a:xfrm>
            <a:off x="1133640" y="2410560"/>
            <a:ext cx="3265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У вас остались вопросы?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Подзаголовок 2"/>
          <p:cNvSpPr/>
          <p:nvPr/>
        </p:nvSpPr>
        <p:spPr>
          <a:xfrm>
            <a:off x="1093320" y="5751000"/>
            <a:ext cx="210960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2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8 (800) 302-53-50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sales@normasoft.com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Manrope Medium"/>
              </a:rPr>
              <a:t>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9"/>
          <p:cNvSpPr/>
          <p:nvPr/>
        </p:nvSpPr>
        <p:spPr>
          <a:xfrm>
            <a:off x="1093320" y="4831200"/>
            <a:ext cx="6120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Иванов Иван Иванович,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Medium"/>
              </a:rPr>
              <a:t>руководитель проектов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269;p32">
            <a:hlinkClick action="ppaction://hlinksldjump" r:id="rId12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80" name="Рисунок 2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2093" t="0" r="0" b="0"/>
          <a:stretch/>
        </p:blipFill>
        <p:spPr>
          <a:xfrm>
            <a:off x="6590520" y="2217960"/>
            <a:ext cx="5600880" cy="463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Рисунок 2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5">
            <a:alphaModFix amt="70000"/>
          </a:blip>
          <a:srcRect l="0" t="55656" r="0" b="0"/>
          <a:stretch/>
        </p:blipFill>
        <p:spPr>
          <a:xfrm rot="5400000">
            <a:off x="-1733040" y="38451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nav">
            <a:hlinkClick action="ppaction://hlinksldjump" r:id="rId11"/>
          </p:cNvPr>
          <p:cNvSpPr/>
          <p:nvPr/>
        </p:nvSpPr>
        <p:spPr>
          <a:xfrm>
            <a:off x="932688" y="219456"/>
            <a:ext cx="88696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ВЫЗОВЫ</a:t>
            </a:r>
          </a:p>
        </p:txBody>
      </p:sp>
      <p:sp>
        <p:nvSpPr>
          <p:cNvPr id="583" name="nav">
            <a:hlinkClick action="ppaction://hlinksldjump" r:id="rId10"/>
          </p:cNvPr>
          <p:cNvSpPr/>
          <p:nvPr/>
        </p:nvSpPr>
        <p:spPr>
          <a:xfrm>
            <a:off x="1929384" y="219456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ЭКОНОМИЯ</a:t>
            </a:r>
          </a:p>
        </p:txBody>
      </p:sp>
      <p:sp>
        <p:nvSpPr>
          <p:cNvPr id="584" name="nav">
            <a:hlinkClick action="ppaction://hlinksldjump" r:id="rId4"/>
          </p:cNvPr>
          <p:cNvSpPr/>
          <p:nvPr/>
        </p:nvSpPr>
        <p:spPr>
          <a:xfrm>
            <a:off x="3118103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АР и КР</a:t>
            </a:r>
          </a:p>
        </p:txBody>
      </p:sp>
      <p:sp>
        <p:nvSpPr>
          <p:cNvPr id="585" name="nav">
            <a:hlinkClick action="ppaction://hlinksldjump" r:id="rId3"/>
          </p:cNvPr>
          <p:cNvSpPr/>
          <p:nvPr/>
        </p:nvSpPr>
        <p:spPr>
          <a:xfrm>
            <a:off x="4210812" y="219456"/>
            <a:ext cx="982980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ЭЛЕКТРО</a:t>
            </a:r>
          </a:p>
        </p:txBody>
      </p:sp>
      <p:sp>
        <p:nvSpPr>
          <p:cNvPr id="586" name="nav">
            <a:hlinkClick action="ppaction://hlinksldjump" r:id="rId17"/>
          </p:cNvPr>
          <p:cNvSpPr/>
          <p:nvPr/>
        </p:nvSpPr>
        <p:spPr>
          <a:xfrm>
            <a:off x="5303519" y="219456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СКС и ОПС</a:t>
            </a:r>
          </a:p>
        </p:txBody>
      </p:sp>
      <p:sp>
        <p:nvSpPr>
          <p:cNvPr id="587" name="nav">
            <a:hlinkClick action="ppaction://hlinksldjump" r:id="rId18"/>
          </p:cNvPr>
          <p:cNvSpPr/>
          <p:nvPr/>
        </p:nvSpPr>
        <p:spPr>
          <a:xfrm>
            <a:off x="6588251" y="219456"/>
            <a:ext cx="165506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ДРУГИЕ РАЗДЕЛЫ</a:t>
            </a:r>
          </a:p>
        </p:txBody>
      </p:sp>
      <p:sp>
        <p:nvSpPr>
          <p:cNvPr id="588" name="nav">
            <a:hlinkClick action="ppaction://hlinksldjump" r:id="rId19"/>
          </p:cNvPr>
          <p:cNvSpPr/>
          <p:nvPr/>
        </p:nvSpPr>
        <p:spPr>
          <a:xfrm>
            <a:off x="932688" y="640080"/>
            <a:ext cx="1078992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МЕТОДИКА</a:t>
            </a:r>
          </a:p>
        </p:txBody>
      </p:sp>
      <p:sp>
        <p:nvSpPr>
          <p:cNvPr id="589" name="nav">
            <a:hlinkClick action="ppaction://hlinksldjump" r:id="rId20"/>
          </p:cNvPr>
          <p:cNvSpPr/>
          <p:nvPr/>
        </p:nvSpPr>
        <p:spPr>
          <a:xfrm>
            <a:off x="2121408" y="640080"/>
            <a:ext cx="790956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КЕЙСЫ</a:t>
            </a:r>
          </a:p>
        </p:txBody>
      </p:sp>
      <p:sp>
        <p:nvSpPr>
          <p:cNvPr id="590" name="nav">
            <a:hlinkClick action="ppaction://hlinksldjump" r:id="rId21"/>
          </p:cNvPr>
          <p:cNvSpPr/>
          <p:nvPr/>
        </p:nvSpPr>
        <p:spPr>
          <a:xfrm>
            <a:off x="3022091" y="640080"/>
            <a:ext cx="1367028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ОГРАНИЧЕНИЯ</a:t>
            </a:r>
          </a:p>
        </p:txBody>
      </p:sp>
      <p:sp>
        <p:nvSpPr>
          <p:cNvPr id="591" name="nav">
            <a:hlinkClick action="ppaction://hlinksldjump" r:id="rId2"/>
          </p:cNvPr>
          <p:cNvSpPr/>
          <p:nvPr/>
        </p:nvSpPr>
        <p:spPr>
          <a:xfrm>
            <a:off x="4498848" y="640080"/>
            <a:ext cx="1175004" cy="338328"/>
          </a:xfrm>
          <a:prstGeom prst="snip1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Roboto Light"/>
              </a:rPr>
              <a:t>НОРМАСОФТ</a:t>
            </a:r>
          </a:p>
        </p:txBody>
      </p:sp>
      <p:sp>
        <p:nvSpPr>
          <p:cNvPr id="592" name="nav">
            <a:hlinkClick action="ppaction://hlinksldjump" r:id="rId9"/>
          </p:cNvPr>
          <p:cNvSpPr/>
          <p:nvPr/>
        </p:nvSpPr>
        <p:spPr>
          <a:xfrm>
            <a:off x="5783579" y="640080"/>
            <a:ext cx="1078992" cy="338328"/>
          </a:xfrm>
          <a:prstGeom prst="snip1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0386FC"/>
                </a:solidFill>
                <a:latin typeface="Roboto Light"/>
              </a:rPr>
              <a:t>КОНТАКТЫ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6688</TotalTime>
  <Application>LibreOffice/26.8.0.3$Linux_X86_64 LibreOffice_project/680$Build-3</Application>
  <AppVersion>15.0000</AppVersion>
  <Words>7334</Words>
  <Paragraphs>1923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2025-11-13T03:59:40Z</dcterms:created>
  <dc:creator>Mirana Alieva</dc:creator>
  <dc:description/>
  <dc:language>ru-RU</dc:language>
  <cp:lastModifiedBy/>
  <dcterms:modified xsi:type="dcterms:W3CDTF">2026-09-27T23:50:58Z</dcterms:modified>
  <cp:revision>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76</vt:i4>
  </property>
</Properties>
</file>