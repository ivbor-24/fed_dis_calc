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71" r:id="rId18"/>
    <p:sldId id="274" r:id="rId22"/>
    <p:sldId id="275" r:id="rId23"/>
    <p:sldId id="276" r:id="rId24"/>
    <p:sldId id="277" r:id="rId25"/>
    <p:sldId id="278" r:id="rId26"/>
    <p:sldId id="279" r:id="rId27"/>
    <p:sldId id="285" r:id="rId33"/>
    <p:sldId id="287" r:id="rId35"/>
    <p:sldId id="289" r:id="rId37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8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27.xml"/><Relationship Id="rId21" Type="http://schemas.openxmlformats.org/officeDocument/2006/relationships/presProps" Target="presProps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7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33" Type="http://schemas.openxmlformats.org/officeDocument/2006/relationships/slide" Target="slides/slide18.xml"/><Relationship Id="rId35" Type="http://schemas.openxmlformats.org/officeDocument/2006/relationships/slide" Target="slides/slide20.xml"/><Relationship Id="rId37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Затраты после внедрения, тыс. ₽</c:v>
                </c:pt>
              </c:strCache>
            </c:strRef>
          </c:tx>
          <c:spPr>
            <a:solidFill>
              <a:srgbClr val="C9D3E0"/>
            </a:solidFill>
          </c:spPr>
          <c:cat>
            <c:strRef>
              <c:f>Sheet1!$A$2:$A$12</c:f>
              <c:strCache>
                <c:ptCount val="11"/>
                <c:pt idx="0">
                  <c:v>АВТ  20%</c:v>
                </c:pt>
                <c:pt idx="1">
                  <c:v>ПЗУ  30%</c:v>
                </c:pt>
                <c:pt idx="2">
                  <c:v>ПОС  30%</c:v>
                </c:pt>
                <c:pt idx="3">
                  <c:v>СС  20%</c:v>
                </c:pt>
                <c:pt idx="4">
                  <c:v>ПБ  22%</c:v>
                </c:pt>
                <c:pt idx="5">
                  <c:v>ЭО  25%</c:v>
                </c:pt>
                <c:pt idx="6">
                  <c:v>ВК  22%</c:v>
                </c:pt>
                <c:pt idx="7">
                  <c:v>ОВ  22%</c:v>
                </c:pt>
                <c:pt idx="8">
                  <c:v>ТХ  30%</c:v>
                </c:pt>
                <c:pt idx="9">
                  <c:v>АР  35%</c:v>
                </c:pt>
                <c:pt idx="10">
                  <c:v>КР  35%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214.3</c:v>
                </c:pt>
                <c:pt idx="1">
                  <c:v>208.4</c:v>
                </c:pt>
                <c:pt idx="2">
                  <c:v>215.3</c:v>
                </c:pt>
                <c:pt idx="3">
                  <c:v>277.8</c:v>
                </c:pt>
                <c:pt idx="4">
                  <c:v>332.8</c:v>
                </c:pt>
                <c:pt idx="5">
                  <c:v>349.8</c:v>
                </c:pt>
                <c:pt idx="6">
                  <c:v>441.3</c:v>
                </c:pt>
                <c:pt idx="7">
                  <c:v>541.9</c:v>
                </c:pt>
                <c:pt idx="8">
                  <c:v>1042.0</c:v>
                </c:pt>
                <c:pt idx="9">
                  <c:v>1045.0</c:v>
                </c:pt>
                <c:pt idx="10">
                  <c:v>1257.8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Экономия, тыс. ₽</c:v>
                </c:pt>
              </c:strCache>
            </c:strRef>
          </c:tx>
          <c:spPr>
            <a:solidFill>
              <a:srgbClr val="0386F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АВТ  20%</c:v>
                </c:pt>
                <c:pt idx="1">
                  <c:v>ПЗУ  30%</c:v>
                </c:pt>
                <c:pt idx="2">
                  <c:v>ПОС  30%</c:v>
                </c:pt>
                <c:pt idx="3">
                  <c:v>СС  20%</c:v>
                </c:pt>
                <c:pt idx="4">
                  <c:v>ПБ  22%</c:v>
                </c:pt>
                <c:pt idx="5">
                  <c:v>ЭО  25%</c:v>
                </c:pt>
                <c:pt idx="6">
                  <c:v>ВК  22%</c:v>
                </c:pt>
                <c:pt idx="7">
                  <c:v>ОВ  22%</c:v>
                </c:pt>
                <c:pt idx="8">
                  <c:v>ТХ  30%</c:v>
                </c:pt>
                <c:pt idx="9">
                  <c:v>АР  35%</c:v>
                </c:pt>
                <c:pt idx="10">
                  <c:v>КР  35%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53.6</c:v>
                </c:pt>
                <c:pt idx="1">
                  <c:v>89.3</c:v>
                </c:pt>
                <c:pt idx="2">
                  <c:v>92.3</c:v>
                </c:pt>
                <c:pt idx="3">
                  <c:v>69.5</c:v>
                </c:pt>
                <c:pt idx="4">
                  <c:v>93.9</c:v>
                </c:pt>
                <c:pt idx="5">
                  <c:v>116.6</c:v>
                </c:pt>
                <c:pt idx="6">
                  <c:v>124.4</c:v>
                </c:pt>
                <c:pt idx="7">
                  <c:v>152.8</c:v>
                </c:pt>
                <c:pt idx="8">
                  <c:v>446.6</c:v>
                </c:pt>
                <c:pt idx="9">
                  <c:v>562.7</c:v>
                </c:pt>
                <c:pt idx="10">
                  <c:v>677.3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1A1A1A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0"/>
              <a:t>Эффект за год, тыс. ₽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Детский сад на 200 мест</c:v>
                </c:pt>
              </c:strCache>
            </c:strRef>
          </c:tx>
          <c:spPr>
            <a:solidFill>
              <a:srgbClr val="C9D3E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АР и КР (СПДС)</c:v>
                </c:pt>
                <c:pt idx="1">
                  <c:v>Электро</c:v>
                </c:pt>
                <c:pt idx="2">
                  <c:v>СКС + ОПС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977.6</c:v>
                </c:pt>
                <c:pt idx="1">
                  <c:v>557.0</c:v>
                </c:pt>
                <c:pt idx="2">
                  <c:v>938.6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Котельная 25 Гкал/ч</c:v>
                </c:pt>
              </c:strCache>
            </c:strRef>
          </c:tx>
          <c:spPr>
            <a:solidFill>
              <a:srgbClr val="0386F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АР и КР (СПДС)</c:v>
                </c:pt>
                <c:pt idx="1">
                  <c:v>Электро</c:v>
                </c:pt>
                <c:pt idx="2">
                  <c:v>СКС + ОПС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1351.9</c:v>
                </c:pt>
                <c:pt idx="1">
                  <c:v>1048.8</c:v>
                </c:pt>
                <c:pt idx="2">
                  <c:v>1220.8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A1A1A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</c:spPr>
          <c:cat>
            <c:strRef>
              <c:f>Sheet1!$A$2:$A$5</c:f>
              <c:strCache>
                <c:ptCount val="4"/>
                <c:pt idx="0">
                  <c:v>Бенчмарки Autodesk</c:v>
                </c:pt>
                <c:pt idx="1">
                  <c:v>Кейсы пользователей nanoCAD</c:v>
                </c:pt>
                <c:pt idx="2">
                  <c:v>Сумма этапов работ (таблицы)</c:v>
                </c:pt>
                <c:pt idx="3">
                  <c:v>Принято в расчётах ROI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</c:v>
                </c:pt>
                <c:pt idx="1">
                  <c:v>0.3</c:v>
                </c:pt>
                <c:pt idx="2">
                  <c:v>0.29</c:v>
                </c:pt>
                <c:pt idx="3">
                  <c:v>0.21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Диапазон экономии</c:v>
                </c:pt>
              </c:strCache>
            </c:strRef>
          </c:tx>
          <c:spPr>
            <a:solidFill>
              <a:srgbClr val="0386FC"/>
            </a:solidFill>
          </c:spPr>
          <c:dPt>
            <c:idx val="3"/>
            <c:spPr>
              <a:solidFill>
                <a:srgbClr val="1A1A1A"/>
              </a:solidFill>
            </c:spPr>
          </c:dPt>
          <c:cat>
            <c:strRef>
              <c:f>Sheet1!$A$2:$A$5</c:f>
              <c:strCache>
                <c:ptCount val="4"/>
                <c:pt idx="0">
                  <c:v>Бенчмарки Autodesk</c:v>
                </c:pt>
                <c:pt idx="1">
                  <c:v>Кейсы пользователей nanoCAD</c:v>
                </c:pt>
                <c:pt idx="2">
                  <c:v>Сумма этапов работ (таблицы)</c:v>
                </c:pt>
                <c:pt idx="3">
                  <c:v>Принято в расчётах ROI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0.53</c:v>
                </c:pt>
                <c:pt idx="2">
                  <c:v>0.13</c:v>
                </c:pt>
                <c:pt idx="3">
                  <c:v>0.09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100">
          <a:solidFill>
            <a:srgbClr val="1A1A1A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Презентация для руководителя проектной организации: сколько экономят специализированные модули nanoCAD и за сколько окупаются.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Ставка инженера растёт, требования экспертизы ужесточаются, ошибки проекта дорого обходятся на стройке. Ответ — автоматизировать рутину в привычной среде, а не перестраивать весь процесс.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для директора: экономия достигается без перехода на 3D. Суммы внедрения — из расчётов по модулям: СПДС 69 900 + 30 000; Электро 96 900 + 25 100; СКС+ОПС 151 200 + 33 400.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Основной эффект — в АР и КР (СПДС: 35%), затем ТХ, ПОС и ПЗУ (30%). Инженерные разделы — 20–25%. Итого 25% от цены проекта, или 2,48 млн ₽ на одном объекте.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Экономия на оформлении документации, спецификациях и ведомостях АР и КР. Детсад: 46 → 36 дней, котельная: 44 → 31 день. Исправления и согласования: затраты снижаются до 50%.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ЭО. Детсад: 20 → 14 дней, котельная: 40 → 30 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Разделы ПБ, СС, АВТ. Детсад: 43 → 33–35 дней, котельная: 50 → 38 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Сводка по шести расчётам. Цифры — из базовых расчётов по модулям,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Кейсы подтверждают, что 25–30% экономии в наших расчётах — нижняя граница результатов реальных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Сравниваем, что заложено в ROI, с таблицами этапов, кейсами nanoCAD и бенчмарками Autodesk. Бенчмарки задачные, кейсы — по отдельным процессам, поэтому выше.</a:t>
            </a:r>
          </a:p>
          <a:p/>
          <a:p>
            <a:r>
              <a:t>Ограничения методики: не учитывается параллельная работа специалиста над несколькими проектами и временная просадка эффективности при переходе — она зависит от методики внедрения; с Нормасофт переход быстрее за счёт коротких курсов и сопровождения.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не просто продаём лицензии: помогаем получить экономию из расчёта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60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45D1D-E7C6-4CA4-BA68-3EFEC11926A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0CA34-20D6-4D59-A810-88C261A77E7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368B1-6205-4591-944C-F695018B317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32400" y="1660320"/>
            <a:ext cx="5053320" cy="40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Click to edit the title text format</a:t>
            </a:r>
            <a:endParaRPr lang="ru-RU" sz="6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17" name="Google Shape;60;p10"/>
          <p:cNvSpPr/>
          <p:nvPr/>
        </p:nvSpPr>
        <p:spPr>
          <a:xfrm>
            <a:off x="7112160" y="-558720"/>
            <a:ext cx="4851000" cy="1259280"/>
          </a:xfrm>
          <a:custGeom>
            <a:avLst/>
            <a:gdLst>
              <a:gd name="textAreaLeft" fmla="*/ 0 w 4851000"/>
              <a:gd name="textAreaRight" fmla="*/ 4851360 w 4851000"/>
              <a:gd name="textAreaTop" fmla="*/ 0 h 1259280"/>
              <a:gd name="textAreaBottom" fmla="*/ 1259640 h 1259280"/>
            </a:gdLst>
            <a:ahLst/>
            <a:cxnLst/>
            <a:rect l="textAreaLeft" t="textAreaTop" r="textAreaRight" b="textAreaBottom"/>
            <a:pathLst>
              <a:path w="145542" h="37790">
                <a:moveTo>
                  <a:pt x="0" y="7620"/>
                </a:moveTo>
                <a:cubicBezTo>
                  <a:pt x="4572" y="10287"/>
                  <a:pt x="4837" y="9877"/>
                  <a:pt x="9144" y="12954"/>
                </a:cubicBezTo>
                <a:cubicBezTo>
                  <a:pt x="11455" y="14605"/>
                  <a:pt x="11449" y="18166"/>
                  <a:pt x="12954" y="20574"/>
                </a:cubicBezTo>
                <a:cubicBezTo>
                  <a:pt x="17437" y="27747"/>
                  <a:pt x="23597" y="36404"/>
                  <a:pt x="32004" y="37338"/>
                </a:cubicBezTo>
                <a:cubicBezTo>
                  <a:pt x="40145" y="38243"/>
                  <a:pt x="48783" y="37332"/>
                  <a:pt x="56388" y="34290"/>
                </a:cubicBezTo>
                <a:cubicBezTo>
                  <a:pt x="64316" y="31119"/>
                  <a:pt x="70203" y="23407"/>
                  <a:pt x="78486" y="21336"/>
                </a:cubicBezTo>
                <a:cubicBezTo>
                  <a:pt x="88862" y="18742"/>
                  <a:pt x="99902" y="20563"/>
                  <a:pt x="110490" y="19050"/>
                </a:cubicBezTo>
                <a:cubicBezTo>
                  <a:pt x="123654" y="17169"/>
                  <a:pt x="136139" y="9403"/>
                  <a:pt x="145542" y="0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" name="Google Shape;61;p10"/>
          <p:cNvSpPr/>
          <p:nvPr/>
        </p:nvSpPr>
        <p:spPr>
          <a:xfrm>
            <a:off x="5359320" y="6215760"/>
            <a:ext cx="4673160" cy="1022760"/>
          </a:xfrm>
          <a:custGeom>
            <a:avLst/>
            <a:gdLst>
              <a:gd name="textAreaLeft" fmla="*/ 0 w 4673160"/>
              <a:gd name="textAreaRight" fmla="*/ 4673520 w 4673160"/>
              <a:gd name="textAreaTop" fmla="*/ 0 h 1022760"/>
              <a:gd name="textAreaBottom" fmla="*/ 1023120 h 1022760"/>
            </a:gdLst>
            <a:ahLst/>
            <a:cxnLst/>
            <a:rect l="textAreaLeft" t="textAreaTop" r="textAreaRight" b="textAreaBottom"/>
            <a:pathLst>
              <a:path w="140208" h="30697">
                <a:moveTo>
                  <a:pt x="0" y="30697"/>
                </a:moveTo>
                <a:cubicBezTo>
                  <a:pt x="8996" y="26199"/>
                  <a:pt x="12967" y="14940"/>
                  <a:pt x="21336" y="9361"/>
                </a:cubicBezTo>
                <a:cubicBezTo>
                  <a:pt x="31078" y="2866"/>
                  <a:pt x="45626" y="11687"/>
                  <a:pt x="56388" y="7075"/>
                </a:cubicBezTo>
                <a:cubicBezTo>
                  <a:pt x="62811" y="4322"/>
                  <a:pt x="69266" y="-650"/>
                  <a:pt x="76200" y="217"/>
                </a:cubicBezTo>
                <a:cubicBezTo>
                  <a:pt x="99040" y="3072"/>
                  <a:pt x="117190" y="26125"/>
                  <a:pt x="140208" y="26125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621FD-8356-43EF-A87B-2E4B0DAFDA1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60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+mn-lt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32702-57E4-4DD1-BA27-7406ED2E64F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AC46C-88B0-4126-B378-F3CAF89DAB09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50B95-5880-4597-92A8-832E573F204F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1259FA-1359-4A04-A8A6-BB175EC4775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1745B-18EC-4B20-A6EC-8334F33A0F4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32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8AE75-B39E-410C-99AE-368026AF45E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32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Double-click to add an Image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A455A-89CC-4204-BC33-AE6E1EE3CD8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2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3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4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chart" Target="../charts/chart1.xml"/><Relationship Id="rId12" Type="http://schemas.openxmlformats.org/officeDocument/2006/relationships/notesSlide" Target="../notesSlides/notesSlide4.xml"/><Relationship Id="rId13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1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5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6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7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4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chart" Target="../charts/chart2.xml"/><Relationship Id="rId12" Type="http://schemas.openxmlformats.org/officeDocument/2006/relationships/notesSlide" Target="../notesSlides/notesSlide8.xml"/><Relationship Id="rId13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1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4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4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chart" Target="../charts/chart5.xml"/><Relationship Id="rId12" Type="http://schemas.openxmlformats.org/officeDocument/2006/relationships/notesSlide" Target="../notesSlides/notesSlide16.xml"/><Relationship Id="rId13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1" Type="http://schemas.openxmlformats.org/officeDocument/2006/relationships/slide" Target="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5" Type="http://schemas.openxmlformats.org/officeDocument/2006/relationships/slide" Target="slide5.xml"/><Relationship Id="rId8" Type="http://schemas.openxmlformats.org/officeDocument/2006/relationships/slide" Target="slide26.xml"/><Relationship Id="rId9" Type="http://schemas.openxmlformats.org/officeDocument/2006/relationships/slide" Target="slide7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8.xml"/><Relationship Id="rId12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_rels/slide27.xml.rels><?xml version='1.0' encoding='UTF-8' standalone='yes'?>
<Relationships xmlns="http://schemas.openxmlformats.org/package/2006/relationships"><Relationship Id="rId7" Type="http://schemas.openxmlformats.org/officeDocument/2006/relationships/slide" Target="slide26.xml"/><Relationship Id="rId8" Type="http://schemas.openxmlformats.org/officeDocument/2006/relationships/slide" Target="slide7.xml"/><Relationship Id="rId9" Type="http://schemas.openxmlformats.org/officeDocument/2006/relationships/slide" Target="slide27.xml"/><Relationship Id="rId10" Type="http://schemas.openxmlformats.org/officeDocument/2006/relationships/slide" Target="slide5.xml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image" Target="../media/image3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5.xml"/><Relationship Id="rId20" Type="http://schemas.openxmlformats.org/officeDocument/2006/relationships/slide" Target="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: скругленные углы 2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65" name="Google Shape;321;p35"/>
          <p:cNvSpPr/>
          <p:nvPr/>
        </p:nvSpPr>
        <p:spPr>
          <a:xfrm>
            <a:off x="8378640" y="1713240"/>
            <a:ext cx="113256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+mn-lt"/>
              </a:rPr>
              <a:t>Обучение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66" name="Google Shape;321;p35"/>
          <p:cNvSpPr/>
          <p:nvPr/>
        </p:nvSpPr>
        <p:spPr>
          <a:xfrm>
            <a:off x="9511560" y="1713240"/>
            <a:ext cx="16124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Без 3D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7" name="Google Shape;321;p35"/>
          <p:cNvSpPr/>
          <p:nvPr/>
        </p:nvSpPr>
        <p:spPr>
          <a:xfrm>
            <a:off x="4823640" y="1713240"/>
            <a:ext cx="224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+mn-lt"/>
                <a:ea typeface="Manrope"/>
              </a:rPr>
              <a:t>Окупаемость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68" name="Google Shape;321;p35"/>
          <p:cNvSpPr/>
          <p:nvPr/>
        </p:nvSpPr>
        <p:spPr>
          <a:xfrm>
            <a:off x="7073280" y="1713240"/>
            <a:ext cx="13050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Модули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9" name="Подзаголовок 2"/>
          <p:cNvSpPr/>
          <p:nvPr/>
        </p:nvSpPr>
        <p:spPr>
          <a:xfrm>
            <a:off x="4716000" y="3840480"/>
            <a:ext cx="64490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+mn-lt"/>
              </a:rPr>
              <a:t>Экономия времени и ФОТ проектного отдела — без перехода на 3D и полного переобучения штата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70" name="Заголовок 1"/>
          <p:cNvSpPr/>
          <p:nvPr/>
        </p:nvSpPr>
        <p:spPr>
          <a:xfrm>
            <a:off x="4716000" y="2417400"/>
            <a:ext cx="653148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Окупаемость модулей nanoCAD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71" name="Подзаголовок 2"/>
          <p:cNvSpPr/>
          <p:nvPr/>
        </p:nvSpPr>
        <p:spPr>
          <a:xfrm>
            <a:off x="5337000" y="5567040"/>
            <a:ext cx="6449040" cy="7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Спикер: </a:t>
            </a: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+mn-lt"/>
              </a:rPr>
              <a:t>ФИО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Должность: </a:t>
            </a:r>
            <a:r>
              <a:rPr lang="ru-RU" sz="1800" b="0" u="none" strike="noStrike">
                <a:solidFill>
                  <a:srgbClr val="707070"/>
                </a:solidFill>
                <a:effectLst/>
                <a:uFillTx/>
                <a:latin typeface="+mn-lt"/>
              </a:rPr>
              <a:t>должность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72" name="Рисунок 12" descr="Изображение выглядит как снимок экрана, Графика, графический дизайн, логотип&#10;&#10;Контент, сгенерированный ИИ, может содержать ошибки."/>
          <p:cNvPicPr/>
          <p:nvPr/>
        </p:nvPicPr>
        <p:blipFill>
          <a:blip r:embed="rId1"/>
          <a:srcRect l="6675" t="0" r="3344" b="0"/>
          <a:stretch/>
        </p:blipFill>
        <p:spPr>
          <a:xfrm>
            <a:off x="446040" y="273240"/>
            <a:ext cx="3801600" cy="1272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3" name="Прямая со стрелкой 14"/>
          <p:cNvCxnSpPr/>
          <p:nvPr/>
        </p:nvCxnSpPr>
        <p:spPr>
          <a:xfrm>
            <a:off x="4339080" y="5354640"/>
            <a:ext cx="667764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74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Подзаголовок 2"/>
          <p:cNvSpPr/>
          <p:nvPr/>
        </p:nvSpPr>
        <p:spPr>
          <a:xfrm>
            <a:off x="9467280" y="685080"/>
            <a:ext cx="17802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1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8 (800) 302-53-50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sales@normasoft.com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76" name="Рисунок 1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4670" t="0" r="0" b="0"/>
          <a:stretch/>
        </p:blipFill>
        <p:spPr>
          <a:xfrm flipH="1">
            <a:off x="360" y="2262960"/>
            <a:ext cx="5336640" cy="459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Тяжёлые времена требуют современных решений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463040" cy="38404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+mn-lt"/>
              </a:rPr>
              <a:t>Вызовы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60604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386FC"/>
                </a:solidFill>
                <a:latin typeface="+mj-lt"/>
              </a:rPr>
              <a:t>146 684 ₽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2743200" y="260604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средняя зарплата в проектировании (ОКВЭД 71, ЕМИСС, январь–апрель 2026): час инженера дорожает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594360" y="368503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386FC"/>
                </a:solidFill>
                <a:latin typeface="+mj-lt"/>
              </a:rPr>
              <a:t>5,5%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2743200" y="3685032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доля отрицательных заключений госэкспертизы в 2025 году — +1,8 п.п. к 2024 году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4764024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386FC"/>
                </a:solidFill>
                <a:latin typeface="+mj-lt"/>
              </a:rPr>
              <a:t>&gt; 70%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743200" y="4764024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всех переделок в строительстве вызваны ошибками проектирования (Love &amp; Edwards)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6263640" y="2011680"/>
            <a:ext cx="1463040" cy="38404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+mn-lt"/>
              </a:rPr>
              <a:t>Решение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6263640" y="2606040"/>
            <a:ext cx="5212080" cy="32461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6537960" y="27889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+mj-lt"/>
              </a:rPr>
              <a:t>Специализированные модули nanoCAD на привычной 2D-платформе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6537960" y="361188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+mn-lt"/>
              <a:buChar char="→"/>
            </a:pPr>
            <a:r>
              <a:rPr sz="1300" b="0">
                <a:solidFill>
                  <a:srgbClr val="1A1A1A"/>
                </a:solidFill>
                <a:latin typeface="+mn-lt"/>
              </a:rPr>
              <a:t>Автоматизация рутины: спецификации, ведомости, кабельные журналы, расчёты</a:t>
            </a:r>
          </a:p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+mn-lt"/>
              <a:buChar char="→"/>
            </a:pPr>
            <a:r>
              <a:rPr sz="1300" b="0">
                <a:solidFill>
                  <a:srgbClr val="1A1A1A"/>
                </a:solidFill>
                <a:latin typeface="+mn-lt"/>
              </a:rPr>
              <a:t>Сокращение трудозатрат раздела на 25–30% — консервативная оценка</a:t>
            </a:r>
          </a:p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+mn-lt"/>
              <a:buChar char="→"/>
            </a:pPr>
            <a:r>
              <a:rPr sz="1300" b="0">
                <a:solidFill>
                  <a:srgbClr val="1A1A1A"/>
                </a:solidFill>
                <a:latin typeface="+mn-lt"/>
              </a:rPr>
              <a:t>Окупаемость лицензии и обучения — за 1–3 проекта</a:t>
            </a:r>
          </a:p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+mn-lt"/>
              <a:buChar char="→"/>
            </a:pPr>
            <a:r>
              <a:rPr sz="1300" b="0">
                <a:solidFill>
                  <a:srgbClr val="1A1A1A"/>
                </a:solidFill>
                <a:latin typeface="+mn-lt"/>
              </a:rPr>
              <a:t>Российское ПО: лицензионная чистота и защита данных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Источники: ЕМИСС; итоги Главгосэкспертизы за 2025 год; Love P., Edwards D. Calculating total rework costs in Australian construction projects.</a:t>
            </a:r>
          </a:p>
        </p:txBody>
      </p:sp>
      <p:sp>
        <p:nvSpPr>
          <p:cNvPr id="555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ВЫЗОВЫ</a:t>
            </a:r>
          </a:p>
        </p:txBody>
      </p:sp>
      <p:sp>
        <p:nvSpPr>
          <p:cNvPr id="556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57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58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59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60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Экономия без 3D и полного переобучения штата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3429000" cy="25146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868680" y="224028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68680" y="2880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+mj-lt"/>
              </a:rPr>
              <a:t>Привычный 2D-процесс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68680" y="33375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Работа в DWG и в привычной логике чертежа. Не нужно перестраивать процессы отдела и ждать внедрения BIM-стандарта.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4251960" y="2011680"/>
            <a:ext cx="3429000" cy="25146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Snip Single Corner Rectangle 547"/>
          <p:cNvSpPr/>
          <p:nvPr/>
        </p:nvSpPr>
        <p:spPr>
          <a:xfrm>
            <a:off x="4526280" y="224028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526280" y="2880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+mj-lt"/>
              </a:rPr>
              <a:t>Короткие курсы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526280" y="33375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Обучение в УЦ Нормасофт: отдельный курс по нужному модулю, без полного переобучения. 15 000–25 100 ₽ на сотрудника.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7909560" y="2011680"/>
            <a:ext cx="3429000" cy="25146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Snip Single Corner Rectangle 551"/>
          <p:cNvSpPr/>
          <p:nvPr/>
        </p:nvSpPr>
        <p:spPr>
          <a:xfrm>
            <a:off x="8183880" y="224028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8183880" y="2880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+mj-lt"/>
              </a:rPr>
              <a:t>Эффект с первого проекта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183880" y="33375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Спецификации, журналы и расчёты формируются автоматически сразу. Лицензия и обучение окупаются за 1–3 проекта.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594360" y="4754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+mn-lt"/>
              </a:rPr>
              <a:t>Затраты на внедрение одного рабочего места (лицензия + обучение)</a:t>
            </a:r>
          </a:p>
        </p:txBody>
      </p:sp>
      <p:sp>
        <p:nvSpPr>
          <p:cNvPr id="556" name="Snip Single Corner Rectangle 555"/>
          <p:cNvSpPr/>
          <p:nvPr/>
        </p:nvSpPr>
        <p:spPr>
          <a:xfrm>
            <a:off x="594360" y="5120640"/>
            <a:ext cx="3429000" cy="8229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7" name="TextBox 556"/>
          <p:cNvSpPr txBox="1"/>
          <p:nvPr/>
        </p:nvSpPr>
        <p:spPr>
          <a:xfrm>
            <a:off x="868680" y="51206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386FC"/>
                </a:solidFill>
                <a:latin typeface="+mj-lt"/>
              </a:rPr>
              <a:t>99 900 ₽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2560320" y="51206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АР и КР (СПДС)</a:t>
            </a:r>
          </a:p>
        </p:txBody>
      </p:sp>
      <p:sp>
        <p:nvSpPr>
          <p:cNvPr id="559" name="Snip Single Corner Rectangle 558"/>
          <p:cNvSpPr/>
          <p:nvPr/>
        </p:nvSpPr>
        <p:spPr>
          <a:xfrm>
            <a:off x="4251960" y="5120640"/>
            <a:ext cx="3429000" cy="8229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TextBox 559"/>
          <p:cNvSpPr txBox="1"/>
          <p:nvPr/>
        </p:nvSpPr>
        <p:spPr>
          <a:xfrm>
            <a:off x="4526280" y="51206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386FC"/>
                </a:solidFill>
                <a:latin typeface="+mj-lt"/>
              </a:rPr>
              <a:t>122 000 ₽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6217920" y="51206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Электро</a:t>
            </a:r>
          </a:p>
        </p:txBody>
      </p:sp>
      <p:sp>
        <p:nvSpPr>
          <p:cNvPr id="562" name="Snip Single Corner Rectangle 561"/>
          <p:cNvSpPr/>
          <p:nvPr/>
        </p:nvSpPr>
        <p:spPr>
          <a:xfrm>
            <a:off x="7909560" y="5120640"/>
            <a:ext cx="3429000" cy="8229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TextBox 562"/>
          <p:cNvSpPr txBox="1"/>
          <p:nvPr/>
        </p:nvSpPr>
        <p:spPr>
          <a:xfrm>
            <a:off x="8183880" y="51206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386FC"/>
                </a:solidFill>
                <a:latin typeface="+mj-lt"/>
              </a:rPr>
              <a:t>184 600 ₽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9875520" y="51206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СКС + ОПС</a:t>
            </a:r>
          </a:p>
        </p:txBody>
      </p:sp>
      <p:sp>
        <p:nvSpPr>
          <p:cNvPr id="565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ВЫЗОВЫ</a:t>
            </a:r>
          </a:p>
        </p:txBody>
      </p:sp>
      <p:sp>
        <p:nvSpPr>
          <p:cNvPr id="566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67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68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69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70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Где возникает экономия: объект «Детский сад на 200 мест»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920240"/>
          <a:ext cx="6949440" cy="406908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4" name="Snip Single Corner Rectangle 543"/>
          <p:cNvSpPr/>
          <p:nvPr/>
        </p:nvSpPr>
        <p:spPr>
          <a:xfrm>
            <a:off x="7818120" y="2011680"/>
            <a:ext cx="3657600" cy="10241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TextBox 544"/>
          <p:cNvSpPr txBox="1"/>
          <p:nvPr/>
        </p:nvSpPr>
        <p:spPr>
          <a:xfrm>
            <a:off x="8046720" y="21031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+mj-lt"/>
              </a:rPr>
              <a:t>9 923,8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046720" y="259689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тыс. ₽ — базовая цена проектирования без НДС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7818120" y="3172968"/>
            <a:ext cx="3657600" cy="1024128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TextBox 547"/>
          <p:cNvSpPr txBox="1"/>
          <p:nvPr/>
        </p:nvSpPr>
        <p:spPr>
          <a:xfrm>
            <a:off x="8046720" y="326440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386FC"/>
                </a:solidFill>
                <a:latin typeface="+mj-lt"/>
              </a:rPr>
              <a:t>2 479,0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046720" y="3758184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тыс. ₽ — общая экономия по проекту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7818120" y="4334256"/>
            <a:ext cx="3657600" cy="1024128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TextBox 550"/>
          <p:cNvSpPr txBox="1"/>
          <p:nvPr/>
        </p:nvSpPr>
        <p:spPr>
          <a:xfrm>
            <a:off x="8046720" y="442569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386FC"/>
                </a:solidFill>
                <a:latin typeface="+mj-lt"/>
              </a:rPr>
              <a:t>25%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8046720" y="491947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от стоимости проекта — консервативная оценка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7818120" y="548640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Разделы СМ, КОН, ООС, ОДИ, ЭЭ, ПЗ, ТБЭ — экономия не учитывается (0%).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Расчёт по калькулятору стоимости проектных работ: 848/пр, 707/пр, Ипр 1,68 (II кв. 2026). Длина полосы — затраты раздела, синяя часть — экономия.</a:t>
            </a:r>
          </a:p>
        </p:txBody>
      </p:sp>
      <p:sp>
        <p:nvSpPr>
          <p:cNvPr id="555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56" name="nav">
            <a:hlinkClick action="ppaction://hlinksldjump" r:id="rId4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ЭКОНОМИЯ</a:t>
            </a:r>
          </a:p>
        </p:txBody>
      </p:sp>
      <p:sp>
        <p:nvSpPr>
          <p:cNvPr id="557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58" name="nav">
            <a:hlinkClick action="ppaction://hlinksldjump" r:id="rId21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59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60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АР и КР: окупаемость компонента СПДС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Что автоматизируется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514600"/>
            <a:ext cx="3063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Оформление по ГОСТ и СПДС параметрическими объектами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Спецификации и ведомости — из данных чертежа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Изменения автоматически попадают в таблицы и марки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Готовые перечни и объёмы для сметного отдела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3886200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4142232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Детский сад на 200 мест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42232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Трудозатраты по разделу, ч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42232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+mj-lt"/>
              </a:rPr>
              <a:t>368</a:t>
            </a:r>
            <a:r>
              <a:rPr sz="1800" b="1">
                <a:solidFill>
                  <a:srgbClr val="6B7280"/>
                </a:solidFill>
                <a:latin typeface="+mj-lt"/>
              </a:rPr>
              <a:t>  →  </a:t>
            </a:r>
            <a:r>
              <a:rPr sz="1800" b="1">
                <a:solidFill>
                  <a:srgbClr val="0386FC"/>
                </a:solidFill>
                <a:latin typeface="+mj-lt"/>
              </a:rPr>
              <a:t>288 ч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42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ФОТ в год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97880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937 000 ₽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4223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на правках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897880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140 500 ₽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42232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Затраты на внедрение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897880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99 900 ₽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4142232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4297680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ROI за год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9768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386FC"/>
                </a:solidFill>
                <a:latin typeface="+mj-lt"/>
              </a:rPr>
              <a:t>978%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71500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Эффект за год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2356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977 600 ₽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97680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10 проектов в год, ставка 1 171 ₽/ч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7726679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982711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Котельная 25 Гкал/ч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982711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Трудозатраты по разделу, ч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82711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+mj-lt"/>
              </a:rPr>
              <a:t>352</a:t>
            </a:r>
            <a:r>
              <a:rPr sz="1800" b="1">
                <a:solidFill>
                  <a:srgbClr val="6B7280"/>
                </a:solidFill>
                <a:latin typeface="+mj-lt"/>
              </a:rPr>
              <a:t>  →  </a:t>
            </a:r>
            <a:r>
              <a:rPr sz="1800" b="1">
                <a:solidFill>
                  <a:srgbClr val="0386FC"/>
                </a:solidFill>
                <a:latin typeface="+mj-lt"/>
              </a:rPr>
              <a:t>248 ч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82711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ФОТ в год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9738359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1 217 800 ₽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982711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на правках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9738359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234 000 ₽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82711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Затраты на внедрение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9738359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99 900 ₽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7982711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138159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ROI за год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138159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386FC"/>
                </a:solidFill>
                <a:latin typeface="+mj-lt"/>
              </a:rPr>
              <a:t>1 353%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955548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Эффект за год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946404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1 351 900 ₽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8138159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10 проектов в год, ставка 1 171 ₽/ч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Платформа nanoCAD с компонентом СПДС — 69 900 ₽; обучение — 30 000 ₽ (платформа + компонент). Окупаемость — 1–2 проекта.</a:t>
            </a:r>
          </a:p>
        </p:txBody>
      </p:sp>
      <p:sp>
        <p:nvSpPr>
          <p:cNvPr id="578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79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80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ОКУПАЕМОСТЬ</a:t>
            </a:r>
          </a:p>
        </p:txBody>
      </p:sp>
      <p:sp>
        <p:nvSpPr>
          <p:cNvPr id="581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82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83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Электро: окупаемость nanoCAD BIM Электро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Что автоматизируется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514600"/>
            <a:ext cx="3063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Электротехнические и светотехнические расчёты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Трассировка сетей и кабельные журналы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Щиты, выбор аппаратов, однолинейные схемы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Спецификации оборудования по ГОСТ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3886200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4142232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Детский сад на 200 мест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42232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Трудозатраты по разделу, ч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42232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+mj-lt"/>
              </a:rPr>
              <a:t>160</a:t>
            </a:r>
            <a:r>
              <a:rPr sz="1800" b="1">
                <a:solidFill>
                  <a:srgbClr val="6B7280"/>
                </a:solidFill>
                <a:latin typeface="+mj-lt"/>
              </a:rPr>
              <a:t>  →  </a:t>
            </a:r>
            <a:r>
              <a:rPr sz="1800" b="1">
                <a:solidFill>
                  <a:srgbClr val="0386FC"/>
                </a:solidFill>
                <a:latin typeface="+mj-lt"/>
              </a:rPr>
              <a:t>112 ч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42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ФОТ в год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97880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562 000 ₽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4223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на правках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897880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117 000 ₽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42232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Затраты на внедрение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897880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122 000 ₽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4142232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4297680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ROI за год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9768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386FC"/>
                </a:solidFill>
                <a:latin typeface="+mj-lt"/>
              </a:rPr>
              <a:t>457%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71500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Эффект за год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2356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557 000 ₽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97680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10 проектов в год, ставка 1 171 ₽/ч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7726679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982711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Котельная 25 Гкал/ч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982711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Трудозатраты по разделу, ч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82711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+mj-lt"/>
              </a:rPr>
              <a:t>320</a:t>
            </a:r>
            <a:r>
              <a:rPr sz="1800" b="1">
                <a:solidFill>
                  <a:srgbClr val="6B7280"/>
                </a:solidFill>
                <a:latin typeface="+mj-lt"/>
              </a:rPr>
              <a:t>  →  </a:t>
            </a:r>
            <a:r>
              <a:rPr sz="1800" b="1">
                <a:solidFill>
                  <a:srgbClr val="0386FC"/>
                </a:solidFill>
                <a:latin typeface="+mj-lt"/>
              </a:rPr>
              <a:t>240 ч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82711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ФОТ в год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9738359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936 800 ₽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982711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на правках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9738359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234 000 ₽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82711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Затраты на внедрение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9738359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122 000 ₽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7982711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138159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ROI за год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138159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386FC"/>
                </a:solidFill>
                <a:latin typeface="+mj-lt"/>
              </a:rPr>
              <a:t>860%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955548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Эффект за год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946404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1 048 800 ₽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8138159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10 проектов в год, ставка 1 171 ₽/ч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nanoCAD BIM Электро — 71 500 ₽ + Платформа nanoCAD — 25 400 ₽; обучение — 25 100 ₽. Окупаемость — 2–3 проекта.</a:t>
            </a:r>
          </a:p>
        </p:txBody>
      </p:sp>
      <p:sp>
        <p:nvSpPr>
          <p:cNvPr id="578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79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80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ОКУПАЕМОСТЬ</a:t>
            </a:r>
          </a:p>
        </p:txBody>
      </p:sp>
      <p:sp>
        <p:nvSpPr>
          <p:cNvPr id="581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82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83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СКС и ОПС: окупаемость nanoCAD ОПС и СКС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Что автоматизируется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514600"/>
            <a:ext cx="3063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Расстановка оборудования и трассировка кабелей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Расчёты: АКБ, падение напряжения, заполнение лотков, оповещение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Кабельные журналы и спецификации — автоматически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+mn-lt"/>
              <a:buChar char="→"/>
            </a:pPr>
            <a:r>
              <a:rPr sz="1200" b="0">
                <a:solidFill>
                  <a:srgbClr val="1A1A1A"/>
                </a:solidFill>
                <a:latin typeface="+mn-lt"/>
              </a:rPr>
              <a:t>Структурные схемы и планы по ГОСТ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3886200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4142232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Детский сад на 200 мест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42232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Трудозатраты по разделу, ч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42232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+mj-lt"/>
              </a:rPr>
              <a:t>344</a:t>
            </a:r>
            <a:r>
              <a:rPr sz="1800" b="1">
                <a:solidFill>
                  <a:srgbClr val="6B7280"/>
                </a:solidFill>
                <a:latin typeface="+mj-lt"/>
              </a:rPr>
              <a:t>  →  </a:t>
            </a:r>
            <a:r>
              <a:rPr sz="1800" b="1">
                <a:solidFill>
                  <a:srgbClr val="0386FC"/>
                </a:solidFill>
                <a:latin typeface="+mj-lt"/>
              </a:rPr>
              <a:t>272 ч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42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ФОТ в год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97880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843 100 ₽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4223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на правках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897880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280 100 ₽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42232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Затраты на внедрение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897880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184 600 ₽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4142232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4297680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ROI за год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9768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386FC"/>
                </a:solidFill>
                <a:latin typeface="+mj-lt"/>
              </a:rPr>
              <a:t>508%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71500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Эффект за год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2356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938 600 ₽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97680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10 проектов в год, ставка 1 171 ₽/ч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7726679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982711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Котельная 25 Гкал/ч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982711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Трудозатраты по разделу, ч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82711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+mj-lt"/>
              </a:rPr>
              <a:t>400</a:t>
            </a:r>
            <a:r>
              <a:rPr sz="1800" b="1">
                <a:solidFill>
                  <a:srgbClr val="6B7280"/>
                </a:solidFill>
                <a:latin typeface="+mj-lt"/>
              </a:rPr>
              <a:t>  →  </a:t>
            </a:r>
            <a:r>
              <a:rPr sz="1800" b="1">
                <a:solidFill>
                  <a:srgbClr val="0386FC"/>
                </a:solidFill>
                <a:latin typeface="+mj-lt"/>
              </a:rPr>
              <a:t>304 ч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82711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ФОТ в год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9738359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1 124 400 ₽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982711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Экономия на правках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9738359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281 000 ₽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82711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Затраты на внедрение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9738359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184 600 ₽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7982711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138159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ROI за год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138159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386FC"/>
                </a:solidFill>
                <a:latin typeface="+mj-lt"/>
              </a:rPr>
              <a:t>661%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955548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+mn-lt"/>
              </a:rPr>
              <a:t>Эффект за год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946404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1 220 800 ₽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8138159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10 проектов в год, ставка 1 171 ₽/ч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nanoCAD ОПС и СКС — по 62 900 ₽ + Платформа nanoCAD — 25 400 ₽; обучение — 2 курса по 16 700 ₽. Окупаемость — 2–3 проекта.</a:t>
            </a:r>
          </a:p>
        </p:txBody>
      </p:sp>
      <p:sp>
        <p:nvSpPr>
          <p:cNvPr id="578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79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80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ОКУПАЕМОСТЬ</a:t>
            </a:r>
          </a:p>
        </p:txBody>
      </p:sp>
      <p:sp>
        <p:nvSpPr>
          <p:cNvPr id="581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82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83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Сводка: эффект за год от одного рабочего места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920240"/>
          <a:ext cx="6492240" cy="402336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544" name="Table 543"/>
          <p:cNvGraphicFramePr>
            <a:graphicFrameLocks noGrp="1"/>
          </p:cNvGraphicFramePr>
          <p:nvPr/>
        </p:nvGraphicFramePr>
        <p:xfrm>
          <a:off x="7269480" y="201168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960120"/>
                <a:gridCol w="1097280"/>
                <a:gridCol w="109728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+mn-lt"/>
                        </a:rPr>
                        <a:t>Модуль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+mn-lt"/>
                        </a:rPr>
                        <a:t>ROI детсад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+mn-lt"/>
                        </a:rPr>
                        <a:t>ROI котельная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+mn-lt"/>
                        </a:rPr>
                        <a:t>Окупаемость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+mn-lt"/>
                        </a:rPr>
                        <a:t>АР и КР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+mn-lt"/>
                        </a:rPr>
                        <a:t>978%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+mn-lt"/>
                        </a:rPr>
                        <a:t>1 353%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+mn-lt"/>
                        </a:rPr>
                        <a:t>1–2 проекта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+mn-lt"/>
                        </a:rPr>
                        <a:t>Электро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+mn-lt"/>
                        </a:rPr>
                        <a:t>457%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+mn-lt"/>
                        </a:rPr>
                        <a:t>860%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+mn-lt"/>
                        </a:rPr>
                        <a:t>2–3 проекта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+mn-lt"/>
                        </a:rPr>
                        <a:t>СКС + ОПС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+mn-lt"/>
                        </a:rPr>
                        <a:t>508%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+mn-lt"/>
                        </a:rPr>
                        <a:t>661%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+mn-lt"/>
                        </a:rPr>
                        <a:t>2–3 проекта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45" name="Snip Single Corner Rectangle 544"/>
          <p:cNvSpPr/>
          <p:nvPr/>
        </p:nvSpPr>
        <p:spPr>
          <a:xfrm>
            <a:off x="7269480" y="4434840"/>
            <a:ext cx="4206240" cy="14173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7498079" y="4553712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Все модули окупаются за 1–3 проекта. 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+mn-lt"/>
              </a:rPr>
              <a:t>Расчёт — по консервативному сценарию: 20–30% экономии времени по разделу.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Эффект = экономия ФОТ + экономия на исправлениях − затраты на внедрение; 10 однотипных проектов в год.</a:t>
            </a:r>
          </a:p>
        </p:txBody>
      </p:sp>
      <p:sp>
        <p:nvSpPr>
          <p:cNvPr id="548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49" name="nav">
            <a:hlinkClick action="ppaction://hlinksldjump" r:id="rId4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50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ОКУПАЕМОСТЬ</a:t>
            </a:r>
          </a:p>
        </p:txBody>
      </p:sp>
      <p:sp>
        <p:nvSpPr>
          <p:cNvPr id="551" name="nav">
            <a:hlinkClick action="ppaction://hlinksldjump" r:id="rId21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52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53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Подтверждение кейсами: пользователи nanoCAD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1965960"/>
            <a:ext cx="3474720" cy="39319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850392" y="2103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386FC"/>
                </a:solidFill>
                <a:latin typeface="+mj-lt"/>
              </a:rPr>
              <a:t>−83%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50392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«Уфанет», телеком, СКС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50392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2D-проект одного объекта: 4 ч → 40 мин (501 объект)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−30% срока проектирования за счёт проверки коллизий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−70% возвратов рабочей документации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&gt; 1,3 млн ₽ экономии материалов на пилоте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50392" y="5440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CNews, ComNews, 23.07.2026; CADmaster № 106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4297680" y="1965960"/>
            <a:ext cx="3474720" cy="39319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4553712" y="2103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386FC"/>
                </a:solidFill>
                <a:latin typeface="+mj-lt"/>
              </a:rPr>
              <a:t>+40%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553712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«АБТ», Санкт-Петербург, Электро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553712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Эффективность проектирования выросла на 40%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Подбор оборудования и кабелей расчётом по модели сети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Автоматическая спецификация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Меньше замечаний экспертизы и времени на доработку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4553712" y="5440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nanocad.ru; «САПР и графика»; CADmaster № 103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8001000" y="1965960"/>
            <a:ext cx="3474720" cy="39319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TextBox 553"/>
          <p:cNvSpPr txBox="1"/>
          <p:nvPr/>
        </p:nvSpPr>
        <p:spPr>
          <a:xfrm>
            <a:off x="8257031" y="2103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386FC"/>
                </a:solidFill>
                <a:latin typeface="+mj-lt"/>
              </a:rPr>
              <a:t>до −30%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257031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Параметрические 2D-элементы, КР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257031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Сокращение сроков разработки документации до 30%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Библиотека типовых параметрических элементов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Настройка под стандарт предприятия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+mn-lt"/>
              <a:buChar char="→"/>
            </a:pPr>
            <a:r>
              <a:rPr sz="1100" b="0">
                <a:solidFill>
                  <a:srgbClr val="1A1A1A"/>
                </a:solidFill>
                <a:latin typeface="+mn-lt"/>
              </a:rPr>
              <a:t>Оперативный контроль качества проекта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257031" y="5440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+mn-lt"/>
              </a:rPr>
              <a:t>Данные вендора, nanoCAD Конструкции PS</a:t>
            </a:r>
          </a:p>
        </p:txBody>
      </p:sp>
      <p:sp>
        <p:nvSpPr>
          <p:cNvPr id="558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59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60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61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КЕЙСЫ</a:t>
            </a:r>
          </a:p>
        </p:txBody>
      </p:sp>
      <p:sp>
        <p:nvSpPr>
          <p:cNvPr id="562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63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Наши расчёты выполнены по консервативному сценарию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920240"/>
          <a:ext cx="7315200" cy="301752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4" name="TextBox 543"/>
          <p:cNvSpPr txBox="1"/>
          <p:nvPr/>
        </p:nvSpPr>
        <p:spPr>
          <a:xfrm>
            <a:off x="7955279" y="22402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386FC"/>
                </a:solidFill>
                <a:latin typeface="+mj-lt"/>
              </a:rPr>
              <a:t>21–30%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7955279" y="288036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386FC"/>
                </a:solidFill>
                <a:latin typeface="+mj-lt"/>
              </a:rPr>
              <a:t>29–42%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7955279" y="35204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386FC"/>
                </a:solidFill>
                <a:latin typeface="+mj-lt"/>
              </a:rPr>
              <a:t>30–83%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7955279" y="416052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386FC"/>
                </a:solidFill>
                <a:latin typeface="+mj-lt"/>
              </a:rPr>
              <a:t>55–95%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9189720" y="2011680"/>
            <a:ext cx="2286000" cy="28346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9372600" y="2148840"/>
            <a:ext cx="1965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+mj-lt"/>
              </a:rPr>
              <a:t>Исправления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В расчётах — снижение затрат до 50%.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У «Уфанет» — −70% возвратов документации.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5120640"/>
            <a:ext cx="10881360" cy="7315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TextBox 550"/>
          <p:cNvSpPr txBox="1"/>
          <p:nvPr/>
        </p:nvSpPr>
        <p:spPr>
          <a:xfrm>
            <a:off x="822960" y="512064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+mj-lt"/>
              </a:rPr>
              <a:t>Вывод: </a:t>
            </a:r>
            <a:r>
              <a:rPr sz="1300" b="0">
                <a:solidFill>
                  <a:srgbClr val="1A1A1A"/>
                </a:solidFill>
                <a:latin typeface="+mn-lt"/>
              </a:rPr>
              <a:t>25–30% экономии по разделу — нижняя граница наблюдаемых результатов. Фактический эффект, как правило, выше.</a:t>
            </a:r>
          </a:p>
        </p:txBody>
      </p:sp>
      <p:sp>
        <p:nvSpPr>
          <p:cNvPr id="552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53" name="nav">
            <a:hlinkClick action="ppaction://hlinksldjump" r:id="rId4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54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55" name="nav">
            <a:hlinkClick action="ppaction://hlinksldjump" r:id="rId21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КЕЙСЫ</a:t>
            </a:r>
          </a:p>
        </p:txBody>
      </p:sp>
      <p:sp>
        <p:nvSpPr>
          <p:cNvPr id="556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57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Собственные разработки и сопровождение внедрения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822960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22960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Аудит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22960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Разбираем процессы отдела и выбираем разделы с наибольшим эффектом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3127248" y="2697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+mn-lt"/>
              </a:rPr>
              <a:t>→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3383279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Snip Single Corner Rectangle 548"/>
          <p:cNvSpPr/>
          <p:nvPr/>
        </p:nvSpPr>
        <p:spPr>
          <a:xfrm>
            <a:off x="3611879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611879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Пилот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3611879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Запуск модуля на реальном проекте заказчика, замер экономии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916168" y="2697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+mn-lt"/>
              </a:rPr>
              <a:t>→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6172200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Snip Single Corner Rectangle 553"/>
          <p:cNvSpPr/>
          <p:nvPr/>
        </p:nvSpPr>
        <p:spPr>
          <a:xfrm>
            <a:off x="6400800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400800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Обучение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6400800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Короткие курсы по модулю в УЦ Нормасофт — очно, онлайн или у вас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05088" y="2697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+mn-lt"/>
              </a:rPr>
              <a:t>→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8961120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Snip Single Corner Rectangle 558"/>
          <p:cNvSpPr/>
          <p:nvPr/>
        </p:nvSpPr>
        <p:spPr>
          <a:xfrm>
            <a:off x="9189720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9189720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+mj-lt"/>
              </a:rPr>
              <a:t>Тиражирование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189720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Распространение на отдел, настройка шаблонов, поддержка</a:t>
            </a:r>
          </a:p>
        </p:txBody>
      </p:sp>
      <p:sp>
        <p:nvSpPr>
          <p:cNvPr id="562" name="Snip Single Corner Rectangle 561"/>
          <p:cNvSpPr/>
          <p:nvPr/>
        </p:nvSpPr>
        <p:spPr>
          <a:xfrm>
            <a:off x="594360" y="4434840"/>
            <a:ext cx="3474720" cy="14630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TextBox 562"/>
          <p:cNvSpPr txBox="1"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86FC"/>
                </a:solidFill>
                <a:latin typeface="+mj-lt"/>
              </a:rPr>
              <a:t>Плагины и утилиты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22960" y="49560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Типовые и индивидуальные плагины под задачи отдела и стандарты предприятия</a:t>
            </a:r>
          </a:p>
        </p:txBody>
      </p:sp>
      <p:sp>
        <p:nvSpPr>
          <p:cNvPr id="565" name="Snip Single Corner Rectangle 564"/>
          <p:cNvSpPr/>
          <p:nvPr/>
        </p:nvSpPr>
        <p:spPr>
          <a:xfrm>
            <a:off x="4297680" y="4434840"/>
            <a:ext cx="3474720" cy="14630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TextBox 565"/>
          <p:cNvSpPr txBox="1"/>
          <p:nvPr/>
        </p:nvSpPr>
        <p:spPr>
          <a:xfrm>
            <a:off x="4526280" y="4572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86FC"/>
                </a:solidFill>
                <a:latin typeface="+mj-lt"/>
              </a:rPr>
              <a:t>Базы и шаблоны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526280" y="49560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Наполнение баз оборудования, настройка шаблонов и спецификаций под ГОСТ и СТО</a:t>
            </a:r>
          </a:p>
        </p:txBody>
      </p:sp>
      <p:sp>
        <p:nvSpPr>
          <p:cNvPr id="568" name="Snip Single Corner Rectangle 567"/>
          <p:cNvSpPr/>
          <p:nvPr/>
        </p:nvSpPr>
        <p:spPr>
          <a:xfrm>
            <a:off x="8001000" y="4434840"/>
            <a:ext cx="3474720" cy="14630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TextBox 568"/>
          <p:cNvSpPr txBox="1"/>
          <p:nvPr/>
        </p:nvSpPr>
        <p:spPr>
          <a:xfrm>
            <a:off x="8229600" y="4572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86FC"/>
                </a:solidFill>
                <a:latin typeface="+mj-lt"/>
              </a:rPr>
              <a:t>Развитие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8229600" y="49560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+mn-lt"/>
              </a:rPr>
              <a:t>Цифровые двойники производства, BIM VR — следующий шаг, когда он нужен</a:t>
            </a:r>
          </a:p>
        </p:txBody>
      </p:sp>
      <p:sp>
        <p:nvSpPr>
          <p:cNvPr id="571" name="nav">
            <a:hlinkClick action="ppaction://hlinksldjump" r:id="rId14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72" name="nav">
            <a:hlinkClick action="ppaction://hlinksldjump" r:id="rId5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73" name="nav">
            <a:hlinkClick action="ppaction://hlinksldjump" r:id="rId9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74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75" name="nav">
            <a:hlinkClick action="ppaction://hlinksldjump" r:id="rId8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НОРМАСОФТ</a:t>
            </a:r>
          </a:p>
        </p:txBody>
      </p:sp>
      <p:sp>
        <p:nvSpPr>
          <p:cNvPr id="576" name="nav">
            <a:hlinkClick action="ppaction://hlinksldjump" r:id="rId10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63" name="Заголовок 1"/>
          <p:cNvSpPr/>
          <p:nvPr/>
        </p:nvSpPr>
        <p:spPr>
          <a:xfrm>
            <a:off x="1093320" y="1568880"/>
            <a:ext cx="34178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51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Спасибо!</a:t>
            </a:r>
            <a:endParaRPr lang="ru-RU" sz="5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4" name="TextBox 5"/>
          <p:cNvSpPr/>
          <p:nvPr/>
        </p:nvSpPr>
        <p:spPr>
          <a:xfrm>
            <a:off x="1133640" y="2410560"/>
            <a:ext cx="3265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У вас остались вопросы?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5" name="Подзаголовок 2"/>
          <p:cNvSpPr/>
          <p:nvPr/>
        </p:nvSpPr>
        <p:spPr>
          <a:xfrm>
            <a:off x="1093320" y="5751000"/>
            <a:ext cx="210960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2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8 (800) 302-53-50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sales@normasoft.com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6" name="TextBox 9"/>
          <p:cNvSpPr/>
          <p:nvPr/>
        </p:nvSpPr>
        <p:spPr>
          <a:xfrm>
            <a:off x="1093320" y="4831200"/>
            <a:ext cx="6120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Иванов Иван Иванович,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руководитель проектов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6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80" name="Рисунок 2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14">
            <a:extLst/>
          </a:blip>
          <a:srcRect l="32093" t="0" r="0" b="0"/>
          <a:stretch/>
        </p:blipFill>
        <p:spPr>
          <a:xfrm>
            <a:off x="6590520" y="2217960"/>
            <a:ext cx="5600880" cy="463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Рисунок 2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5">
            <a:alphaModFix amt="70000"/>
          </a:blip>
          <a:srcRect l="0" t="55656" r="0" b="0"/>
          <a:stretch/>
        </p:blipFill>
        <p:spPr>
          <a:xfrm rot="5400000">
            <a:off x="-1733040" y="38451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nav">
            <a:hlinkClick action="ppaction://hlinksldjump" r:id="rId13"/>
          </p:cNvPr>
          <p:cNvSpPr/>
          <p:nvPr/>
        </p:nvSpPr>
        <p:spPr>
          <a:xfrm>
            <a:off x="932688" y="429768"/>
            <a:ext cx="9692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ВЫЗОВЫ</a:t>
            </a:r>
          </a:p>
        </p:txBody>
      </p:sp>
      <p:sp>
        <p:nvSpPr>
          <p:cNvPr id="583" name="nav">
            <a:hlinkClick action="ppaction://hlinksldjump" r:id="rId10"/>
          </p:cNvPr>
          <p:cNvSpPr/>
          <p:nvPr/>
        </p:nvSpPr>
        <p:spPr>
          <a:xfrm>
            <a:off x="2039112" y="429768"/>
            <a:ext cx="117043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ЭКОНОМИЯ</a:t>
            </a:r>
          </a:p>
        </p:txBody>
      </p:sp>
      <p:sp>
        <p:nvSpPr>
          <p:cNvPr id="584" name="nav">
            <a:hlinkClick action="ppaction://hlinksldjump" r:id="rId8"/>
          </p:cNvPr>
          <p:cNvSpPr/>
          <p:nvPr/>
        </p:nvSpPr>
        <p:spPr>
          <a:xfrm>
            <a:off x="3346704" y="429768"/>
            <a:ext cx="147218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ОКУПАЕМОСТЬ</a:t>
            </a:r>
          </a:p>
        </p:txBody>
      </p:sp>
      <p:sp>
        <p:nvSpPr>
          <p:cNvPr id="585" name="nav">
            <a:hlinkClick action="ppaction://hlinksldjump" r:id="rId20"/>
          </p:cNvPr>
          <p:cNvSpPr/>
          <p:nvPr/>
        </p:nvSpPr>
        <p:spPr>
          <a:xfrm>
            <a:off x="4956048" y="429768"/>
            <a:ext cx="8686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КЕЙСЫ</a:t>
            </a:r>
          </a:p>
        </p:txBody>
      </p:sp>
      <p:sp>
        <p:nvSpPr>
          <p:cNvPr id="586" name="nav">
            <a:hlinkClick action="ppaction://hlinksldjump" r:id="rId7"/>
          </p:cNvPr>
          <p:cNvSpPr/>
          <p:nvPr/>
        </p:nvSpPr>
        <p:spPr>
          <a:xfrm>
            <a:off x="5961888" y="429768"/>
            <a:ext cx="127101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Manrope"/>
              </a:rPr>
              <a:t>НОРМАСОФТ</a:t>
            </a:r>
          </a:p>
        </p:txBody>
      </p:sp>
      <p:sp>
        <p:nvSpPr>
          <p:cNvPr id="587" name="nav">
            <a:hlinkClick action="ppaction://hlinksldjump" r:id="rId9"/>
          </p:cNvPr>
          <p:cNvSpPr/>
          <p:nvPr/>
        </p:nvSpPr>
        <p:spPr>
          <a:xfrm>
            <a:off x="7370063" y="429768"/>
            <a:ext cx="117043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0386FC"/>
                </a:solidFill>
                <a:latin typeface="Manrope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6688</TotalTime>
  <Application>LibreOffice/26.8.0.3$Linux_X86_64 LibreOffice_project/680$Build-3</Application>
  <AppVersion>15.0000</AppVersion>
  <Words>7334</Words>
  <Paragraphs>1923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2025-11-13T03:59:40Z</dcterms:created>
  <dc:creator>Mirana Alieva</dc:creator>
  <dc:description/>
  <dc:language>ru-RU</dc:language>
  <cp:lastModifiedBy/>
  <dcterms:modified xsi:type="dcterms:W3CDTF">2026-09-27T23:50:58Z</dcterms:modified>
  <cp:revision>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76</vt:i4>
  </property>
</Properties>
</file>