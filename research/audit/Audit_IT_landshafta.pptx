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71" r:id="rId18"/>
    <p:sldId id="293" r:id="rId41"/>
    <p:sldId id="274" r:id="rId22"/>
    <p:sldId id="275" r:id="rId23"/>
    <p:sldId id="276" r:id="rId24"/>
    <p:sldId id="294" r:id="rId42"/>
    <p:sldId id="277" r:id="rId25"/>
    <p:sldId id="278" r:id="rId26"/>
    <p:sldId id="279" r:id="rId27"/>
    <p:sldId id="280" r:id="rId28"/>
    <p:sldId id="281" r:id="rId29"/>
    <p:sldId id="295" r:id="rId43"/>
    <p:sldId id="282" r:id="rId30"/>
    <p:sldId id="283" r:id="rId31"/>
    <p:sldId id="284" r:id="rId32"/>
    <p:sldId id="285" r:id="rId33"/>
    <p:sldId id="286" r:id="rId34"/>
    <p:sldId id="296" r:id="rId44"/>
    <p:sldId id="287" r:id="rId35"/>
    <p:sldId id="288" r:id="rId36"/>
    <p:sldId id="289" r:id="rId37"/>
    <p:sldId id="263" r:id="rId10"/>
    <p:sldId id="290" r:id="rId38"/>
    <p:sldId id="291" r:id="rId39"/>
    <p:sldId id="258" r:id="rId5"/>
    <p:sldId id="264" r:id="rId11"/>
    <p:sldId id="270" r:id="rId17"/>
    <p:sldId id="292" r:id="rId40"/>
    <p:sldId id="273" r:id="rId2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5" Type="http://schemas.openxmlformats.org/officeDocument/2006/relationships/slide" Target="slides/slide26.xml"/><Relationship Id="rId10" Type="http://schemas.openxmlformats.org/officeDocument/2006/relationships/slide" Target="slides/slide23.xml"/><Relationship Id="rId11" Type="http://schemas.openxmlformats.org/officeDocument/2006/relationships/slide" Target="slides/slide27.xml"/><Relationship Id="rId17" Type="http://schemas.openxmlformats.org/officeDocument/2006/relationships/slide" Target="slides/slide28.xml"/><Relationship Id="rId18" Type="http://schemas.openxmlformats.org/officeDocument/2006/relationships/slide" Target="slides/slide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30.xml"/><Relationship Id="rId21" Type="http://schemas.openxmlformats.org/officeDocument/2006/relationships/presProps" Target="presProps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9.xml"/><Relationship Id="rId41" Type="http://schemas.openxmlformats.org/officeDocument/2006/relationships/slide" Target="slides/slide3.xml"/><Relationship Id="rId42" Type="http://schemas.openxmlformats.org/officeDocument/2006/relationships/slide" Target="slides/slide7.xml"/><Relationship Id="rId43" Type="http://schemas.openxmlformats.org/officeDocument/2006/relationships/slide" Target="slides/slide13.xml"/><Relationship Id="rId44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Аудитория: директора, менеджеры по развитию, руководители ИТ-служб и департаментов цифровой трансформации.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Позиционирование одним слайдом, без истории компании, наград и перечня продуктов.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Типичные ошибки — повод для аудита: решение о ПО принимается раньше, чем появляется картина процессов, данных и людей.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вопросов, на которые отвечает аудит. Каждый по отдельности решается в своей службе; аудит сводит их вместе.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Межвендорный подход: заказчик получает независимую оценку, а не подбор под один бренд.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Этапы 5 и 6 выполняются по запросу и при наличии ТИМ-процессов. Этап 7 сводит всё в отчётные документы.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Шаблоны: «Паспорт организации», «Карта текущего ИТ-ландшафта», «Матрица импортозамещения ПО», «Карта целевого ИТ-ландшафта».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Интервью ведутся по анкетам; ответы заносятся в шаблоны стратегических и производственных требований.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Оценка зрелости — по анкетам руководителей, ТИМ-специалистов и исполнителей с сопоставлением с матрицей ТИМ-зрелости.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Итоговый комплект: паспорт организации, карты текущего и целевого ИТ-ландшафта, требования, матрица компетенций, матрица импортозамещения, дорожная карта.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Комплект документов аудита. Главная ценность — не описание «как есть», а решение «что делать».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под состав аудитории: директор, развитие, ИТ, цифровая трансформация.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строится по шаблону на этапах 1–2 (текущая) и 7 (целевая).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Матрица показывает объективность выбора: баллы, веса и итог по разделам.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Аргумент для директора: аудит страхует основной бюджет перехода.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 — презентация кейсов Нормасофт. Строка «Применимость» — связь кейса с аудитом.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 — презентация кейсов Нормасофт. Строка «Применимость» — связь кейса с аудитом.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 — презентация кейсов Нормасофт. Строка «Применимость» — связь кейса с аудитом.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Кратко: аудит — первый из семи шагов перехода.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Кратко о преимуществах работы с интегратором и с нами. Детали — на слайдах «О нас», «Учебный центр», «Консультанты».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Вопросы для перехода к диалогу; цель — договориться о следующем шаге.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ru-RU" sz="60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ru-RU" sz="60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60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6D45D1D-E7C6-4CA4-BA68-3EFEC11926A4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10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Заголовок и вертикальный текс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44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90CA34-20D6-4D59-A810-88C261A77E72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10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Вертикальный заголовок и текс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44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4368B1-6205-4591-944C-F695018B317C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10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932400" y="1660320"/>
            <a:ext cx="5053320" cy="4044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64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6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Click to edit the title text format</a:t>
            </a:r>
            <a:endParaRPr lang="ru-RU" sz="64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17" name="Google Shape;60;p10"/>
          <p:cNvSpPr/>
          <p:nvPr/>
        </p:nvSpPr>
        <p:spPr>
          <a:xfrm>
            <a:off x="7112160" y="-558720"/>
            <a:ext cx="4851000" cy="1259280"/>
          </a:xfrm>
          <a:custGeom>
            <a:avLst/>
            <a:gdLst>
              <a:gd name="textAreaLeft" fmla="*/ 0 w 4851000"/>
              <a:gd name="textAreaRight" fmla="*/ 4851360 w 4851000"/>
              <a:gd name="textAreaTop" fmla="*/ 0 h 1259280"/>
              <a:gd name="textAreaBottom" fmla="*/ 1259640 h 1259280"/>
            </a:gdLst>
            <a:ahLst/>
            <a:cxnLst/>
            <a:rect l="textAreaLeft" t="textAreaTop" r="textAreaRight" b="textAreaBottom"/>
            <a:pathLst>
              <a:path w="145542" h="37790">
                <a:moveTo>
                  <a:pt x="0" y="7620"/>
                </a:moveTo>
                <a:cubicBezTo>
                  <a:pt x="4572" y="10287"/>
                  <a:pt x="4837" y="9877"/>
                  <a:pt x="9144" y="12954"/>
                </a:cubicBezTo>
                <a:cubicBezTo>
                  <a:pt x="11455" y="14605"/>
                  <a:pt x="11449" y="18166"/>
                  <a:pt x="12954" y="20574"/>
                </a:cubicBezTo>
                <a:cubicBezTo>
                  <a:pt x="17437" y="27747"/>
                  <a:pt x="23597" y="36404"/>
                  <a:pt x="32004" y="37338"/>
                </a:cubicBezTo>
                <a:cubicBezTo>
                  <a:pt x="40145" y="38243"/>
                  <a:pt x="48783" y="37332"/>
                  <a:pt x="56388" y="34290"/>
                </a:cubicBezTo>
                <a:cubicBezTo>
                  <a:pt x="64316" y="31119"/>
                  <a:pt x="70203" y="23407"/>
                  <a:pt x="78486" y="21336"/>
                </a:cubicBezTo>
                <a:cubicBezTo>
                  <a:pt x="88862" y="18742"/>
                  <a:pt x="99902" y="20563"/>
                  <a:pt x="110490" y="19050"/>
                </a:cubicBezTo>
                <a:cubicBezTo>
                  <a:pt x="123654" y="17169"/>
                  <a:pt x="136139" y="9403"/>
                  <a:pt x="145542" y="0"/>
                </a:cubicBezTo>
              </a:path>
            </a:pathLst>
          </a:custGeom>
          <a:noFill/>
          <a:ln w="9525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8" name="Google Shape;61;p10"/>
          <p:cNvSpPr/>
          <p:nvPr/>
        </p:nvSpPr>
        <p:spPr>
          <a:xfrm>
            <a:off x="5359320" y="6215760"/>
            <a:ext cx="4673160" cy="1022760"/>
          </a:xfrm>
          <a:custGeom>
            <a:avLst/>
            <a:gdLst>
              <a:gd name="textAreaLeft" fmla="*/ 0 w 4673160"/>
              <a:gd name="textAreaRight" fmla="*/ 4673520 w 4673160"/>
              <a:gd name="textAreaTop" fmla="*/ 0 h 1022760"/>
              <a:gd name="textAreaBottom" fmla="*/ 1023120 h 1022760"/>
            </a:gdLst>
            <a:ahLst/>
            <a:cxnLst/>
            <a:rect l="textAreaLeft" t="textAreaTop" r="textAreaRight" b="textAreaBottom"/>
            <a:pathLst>
              <a:path w="140208" h="30697">
                <a:moveTo>
                  <a:pt x="0" y="30697"/>
                </a:moveTo>
                <a:cubicBezTo>
                  <a:pt x="8996" y="26199"/>
                  <a:pt x="12967" y="14940"/>
                  <a:pt x="21336" y="9361"/>
                </a:cubicBezTo>
                <a:cubicBezTo>
                  <a:pt x="31078" y="2866"/>
                  <a:pt x="45626" y="11687"/>
                  <a:pt x="56388" y="7075"/>
                </a:cubicBezTo>
                <a:cubicBezTo>
                  <a:pt x="62811" y="4322"/>
                  <a:pt x="69266" y="-650"/>
                  <a:pt x="76200" y="217"/>
                </a:cubicBezTo>
                <a:cubicBezTo>
                  <a:pt x="99040" y="3072"/>
                  <a:pt x="117190" y="26125"/>
                  <a:pt x="140208" y="26125"/>
                </a:cubicBezTo>
              </a:path>
            </a:pathLst>
          </a:custGeom>
          <a:noFill/>
          <a:ln w="9525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Click to edit the outline text format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Second Outline Level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Third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Fourth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Fifth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Sixth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Seventh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объек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44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87621FD-8356-43EF-A87B-2E4B0DAFDA14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60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60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60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Образец текста</a:t>
            </a:r>
            <a:endParaRPr lang="ru-RU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+mn-lt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8C32702-57E4-4DD1-BA27-7406ED2E64FC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Два объект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44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45AC46C-88B0-4126-B378-F3CAF89DAB09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44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2400" b="1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2400" b="1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3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0250B95-5880-4597-92A8-832E573F204F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Только заголовок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44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61259FA-1359-4A04-A8A6-BB175EC4775D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Click to edit the outline text format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Second Outline Level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Third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Fourth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Fifth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Sixth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Seventh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2B1745B-18EC-4B20-A6EC-8334F33A0F4D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32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32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32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32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32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32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398AE75-B39E-410C-99AE-368026AF45E2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32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32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32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pic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Double-click to add an Image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63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28A455A-89CC-4204-BC33-AE6E1EE3CD8E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microsoft.com/office/2007/relationships/hdphoto" Target="../media/hdphoto1.wdp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2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" Target="slide26.xml"/><Relationship Id="rId4" Type="http://schemas.openxmlformats.org/officeDocument/2006/relationships/slide" Target="slide23.xml"/><Relationship Id="rId5" Type="http://schemas.openxmlformats.org/officeDocument/2006/relationships/slide" Target="slide19.xml"/><Relationship Id="rId6" Type="http://schemas.openxmlformats.org/officeDocument/2006/relationships/slide" Target="slide13.xml"/><Relationship Id="rId11" Type="http://schemas.openxmlformats.org/officeDocument/2006/relationships/slide" Target="slide30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4" Type="http://schemas.openxmlformats.org/officeDocument/2006/relationships/slide" Target="slide7.xml"/><Relationship Id="rId16" Type="http://schemas.openxmlformats.org/officeDocument/2006/relationships/slideLayout" Target="../slideLayouts/slideLayout5.xml"/><Relationship Id="rId17" Type="http://schemas.openxmlformats.org/officeDocument/2006/relationships/slide" Target="slide2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3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4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5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" Target="slide26.xml"/><Relationship Id="rId4" Type="http://schemas.openxmlformats.org/officeDocument/2006/relationships/slide" Target="slide23.xml"/><Relationship Id="rId5" Type="http://schemas.openxmlformats.org/officeDocument/2006/relationships/slide" Target="slide19.xml"/><Relationship Id="rId6" Type="http://schemas.openxmlformats.org/officeDocument/2006/relationships/slide" Target="slide13.xml"/><Relationship Id="rId11" Type="http://schemas.openxmlformats.org/officeDocument/2006/relationships/slide" Target="slide30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4" Type="http://schemas.openxmlformats.org/officeDocument/2006/relationships/slide" Target="slide7.xml"/><Relationship Id="rId16" Type="http://schemas.openxmlformats.org/officeDocument/2006/relationships/slideLayout" Target="../slideLayouts/slideLayout5.xml"/><Relationship Id="rId17" Type="http://schemas.openxmlformats.org/officeDocument/2006/relationships/slide" Target="slide2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6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7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8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9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10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" Target="slide26.xml"/><Relationship Id="rId4" Type="http://schemas.openxmlformats.org/officeDocument/2006/relationships/slide" Target="slide23.xml"/><Relationship Id="rId5" Type="http://schemas.openxmlformats.org/officeDocument/2006/relationships/slide" Target="slide19.xml"/><Relationship Id="rId6" Type="http://schemas.openxmlformats.org/officeDocument/2006/relationships/slide" Target="slide13.xml"/><Relationship Id="rId11" Type="http://schemas.openxmlformats.org/officeDocument/2006/relationships/slide" Target="slide30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4" Type="http://schemas.openxmlformats.org/officeDocument/2006/relationships/slide" Target="slide7.xml"/><Relationship Id="rId16" Type="http://schemas.openxmlformats.org/officeDocument/2006/relationships/slideLayout" Target="../slideLayouts/slideLayout5.xml"/><Relationship Id="rId17" Type="http://schemas.openxmlformats.org/officeDocument/2006/relationships/slide" Target="slide2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11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12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7.xml"/><Relationship Id="rId5" Type="http://schemas.openxmlformats.org/officeDocument/2006/relationships/slide" Target="slide3.xml"/><Relationship Id="rId10" Type="http://schemas.openxmlformats.org/officeDocument/2006/relationships/slide" Target="slide30.xml"/><Relationship Id="rId11" Type="http://schemas.openxmlformats.org/officeDocument/2006/relationships/image" Target="../media/image5.jpg"/><Relationship Id="rId12" Type="http://schemas.openxmlformats.org/officeDocument/2006/relationships/notesSlide" Target="../notesSlides/notesSlide13.xml"/><Relationship Id="rId13" Type="http://schemas.openxmlformats.org/officeDocument/2006/relationships/slide" Target="slide1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3.xml"/><Relationship Id="rId17" Type="http://schemas.openxmlformats.org/officeDocument/2006/relationships/slide" Target="slide19.xml"/><Relationship Id="rId18" Type="http://schemas.openxmlformats.org/officeDocument/2006/relationships/slide" Target="slide2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7.xml"/><Relationship Id="rId5" Type="http://schemas.openxmlformats.org/officeDocument/2006/relationships/slide" Target="slide3.xml"/><Relationship Id="rId10" Type="http://schemas.openxmlformats.org/officeDocument/2006/relationships/slide" Target="slide30.xml"/><Relationship Id="rId11" Type="http://schemas.openxmlformats.org/officeDocument/2006/relationships/image" Target="../media/image6.png"/><Relationship Id="rId12" Type="http://schemas.openxmlformats.org/officeDocument/2006/relationships/notesSlide" Target="../notesSlides/notesSlide14.xml"/><Relationship Id="rId13" Type="http://schemas.openxmlformats.org/officeDocument/2006/relationships/slide" Target="slide1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3.xml"/><Relationship Id="rId17" Type="http://schemas.openxmlformats.org/officeDocument/2006/relationships/slide" Target="slide19.xml"/><Relationship Id="rId18" Type="http://schemas.openxmlformats.org/officeDocument/2006/relationships/slide" Target="slide2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15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" Target="slide26.xml"/><Relationship Id="rId4" Type="http://schemas.openxmlformats.org/officeDocument/2006/relationships/slide" Target="slide23.xml"/><Relationship Id="rId5" Type="http://schemas.openxmlformats.org/officeDocument/2006/relationships/slide" Target="slide19.xml"/><Relationship Id="rId6" Type="http://schemas.openxmlformats.org/officeDocument/2006/relationships/slide" Target="slide13.xml"/><Relationship Id="rId11" Type="http://schemas.openxmlformats.org/officeDocument/2006/relationships/slide" Target="slide30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4" Type="http://schemas.openxmlformats.org/officeDocument/2006/relationships/slide" Target="slide7.xml"/><Relationship Id="rId16" Type="http://schemas.openxmlformats.org/officeDocument/2006/relationships/slideLayout" Target="../slideLayouts/slideLayout5.xml"/><Relationship Id="rId17" Type="http://schemas.openxmlformats.org/officeDocument/2006/relationships/slide" Target="slide2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7.xml"/><Relationship Id="rId5" Type="http://schemas.openxmlformats.org/officeDocument/2006/relationships/slide" Target="slide3.xml"/><Relationship Id="rId10" Type="http://schemas.openxmlformats.org/officeDocument/2006/relationships/slide" Target="slide30.xml"/><Relationship Id="rId11" Type="http://schemas.openxmlformats.org/officeDocument/2006/relationships/image" Target="../media/image7.png"/><Relationship Id="rId12" Type="http://schemas.openxmlformats.org/officeDocument/2006/relationships/notesSlide" Target="../notesSlides/notesSlide16.xml"/><Relationship Id="rId13" Type="http://schemas.openxmlformats.org/officeDocument/2006/relationships/slide" Target="slide1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3.xml"/><Relationship Id="rId17" Type="http://schemas.openxmlformats.org/officeDocument/2006/relationships/slide" Target="slide19.xml"/><Relationship Id="rId18" Type="http://schemas.openxmlformats.org/officeDocument/2006/relationships/slide" Target="slide2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17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7.xml"/><Relationship Id="rId5" Type="http://schemas.openxmlformats.org/officeDocument/2006/relationships/slide" Target="slide3.xml"/><Relationship Id="rId10" Type="http://schemas.openxmlformats.org/officeDocument/2006/relationships/slide" Target="slide30.xml"/><Relationship Id="rId11" Type="http://schemas.openxmlformats.org/officeDocument/2006/relationships/image" Target="../media/image8.png"/><Relationship Id="rId12" Type="http://schemas.openxmlformats.org/officeDocument/2006/relationships/notesSlide" Target="../notesSlides/notesSlide18.xml"/><Relationship Id="rId13" Type="http://schemas.openxmlformats.org/officeDocument/2006/relationships/slide" Target="slide1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3.xml"/><Relationship Id="rId17" Type="http://schemas.openxmlformats.org/officeDocument/2006/relationships/slide" Target="slide19.xml"/><Relationship Id="rId18" Type="http://schemas.openxmlformats.org/officeDocument/2006/relationships/slide" Target="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" Target="slide26.xml"/><Relationship Id="rId4" Type="http://schemas.openxmlformats.org/officeDocument/2006/relationships/slide" Target="slide23.xml"/><Relationship Id="rId5" Type="http://schemas.openxmlformats.org/officeDocument/2006/relationships/slide" Target="slide19.xml"/><Relationship Id="rId6" Type="http://schemas.openxmlformats.org/officeDocument/2006/relationships/slide" Target="slide13.xml"/><Relationship Id="rId11" Type="http://schemas.openxmlformats.org/officeDocument/2006/relationships/slide" Target="slide30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4" Type="http://schemas.openxmlformats.org/officeDocument/2006/relationships/slide" Target="slide7.xml"/><Relationship Id="rId16" Type="http://schemas.openxmlformats.org/officeDocument/2006/relationships/slideLayout" Target="../slideLayouts/slideLayout5.xml"/><Relationship Id="rId17" Type="http://schemas.openxmlformats.org/officeDocument/2006/relationships/slide" Target="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19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20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9.xml"/><Relationship Id="rId5" Type="http://schemas.openxmlformats.org/officeDocument/2006/relationships/slide" Target="slide13.xml"/><Relationship Id="rId10" Type="http://schemas.openxmlformats.org/officeDocument/2006/relationships/slide" Target="slide30.xml"/><Relationship Id="rId11" Type="http://schemas.openxmlformats.org/officeDocument/2006/relationships/slide" Target="slide1.xml"/><Relationship Id="rId12" Type="http://schemas.openxmlformats.org/officeDocument/2006/relationships/slide" Target="slide3.xml"/><Relationship Id="rId13" Type="http://schemas.openxmlformats.org/officeDocument/2006/relationships/slide" Target="slide7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2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hyperlink" Target="https://edu.normasoft.com/" TargetMode="External"/><Relationship Id="rId2" Type="http://schemas.openxmlformats.org/officeDocument/2006/relationships/hyperlink" Target="https://edu.normasoft.com/" TargetMode="Externa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slide" Target="slide26.xml"/><Relationship Id="rId6" Type="http://schemas.openxmlformats.org/officeDocument/2006/relationships/slide" Target="slide23.xml"/><Relationship Id="rId7" Type="http://schemas.openxmlformats.org/officeDocument/2006/relationships/slide" Target="slide19.xml"/><Relationship Id="rId8" Type="http://schemas.openxmlformats.org/officeDocument/2006/relationships/slide" Target="slide13.xml"/><Relationship Id="rId13" Type="http://schemas.openxmlformats.org/officeDocument/2006/relationships/slide" Target="slide30.xml"/><Relationship Id="rId14" Type="http://schemas.openxmlformats.org/officeDocument/2006/relationships/slide" Target="slide1.xml"/><Relationship Id="rId15" Type="http://schemas.openxmlformats.org/officeDocument/2006/relationships/slide" Target="slide3.xml"/><Relationship Id="rId16" Type="http://schemas.openxmlformats.org/officeDocument/2006/relationships/slide" Target="slide7.xml"/><Relationship Id="rId18" Type="http://schemas.openxmlformats.org/officeDocument/2006/relationships/slideLayout" Target="../slideLayouts/slideLayout5.xml"/><Relationship Id="rId19" Type="http://schemas.openxmlformats.org/officeDocument/2006/relationships/slide" Target="slide2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5.png"/><Relationship Id="rId8" Type="http://schemas.openxmlformats.org/officeDocument/2006/relationships/image" Target="../media/image2.png"/><Relationship Id="rId9" Type="http://schemas.openxmlformats.org/officeDocument/2006/relationships/slide" Target="slide26.xml"/><Relationship Id="rId10" Type="http://schemas.openxmlformats.org/officeDocument/2006/relationships/slide" Target="slide23.xml"/><Relationship Id="rId11" Type="http://schemas.openxmlformats.org/officeDocument/2006/relationships/slide" Target="slide19.xml"/><Relationship Id="rId12" Type="http://schemas.openxmlformats.org/officeDocument/2006/relationships/slide" Target="slide13.xml"/><Relationship Id="rId17" Type="http://schemas.openxmlformats.org/officeDocument/2006/relationships/slide" Target="slide30.xml"/><Relationship Id="rId18" Type="http://schemas.openxmlformats.org/officeDocument/2006/relationships/slide" Target="slide1.xml"/><Relationship Id="rId19" Type="http://schemas.openxmlformats.org/officeDocument/2006/relationships/slide" Target="slide3.xml"/><Relationship Id="rId20" Type="http://schemas.openxmlformats.org/officeDocument/2006/relationships/slide" Target="slide7.xml"/><Relationship Id="rId22" Type="http://schemas.openxmlformats.org/officeDocument/2006/relationships/slideLayout" Target="../slideLayouts/slideLayout9.xml"/><Relationship Id="rId23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21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" Target="slide26.xml"/><Relationship Id="rId2" Type="http://schemas.openxmlformats.org/officeDocument/2006/relationships/slide" Target="slide23.xml"/><Relationship Id="rId3" Type="http://schemas.openxmlformats.org/officeDocument/2006/relationships/slide" Target="slide19.xml"/><Relationship Id="rId4" Type="http://schemas.openxmlformats.org/officeDocument/2006/relationships/slide" Target="slide13.xml"/><Relationship Id="rId9" Type="http://schemas.openxmlformats.org/officeDocument/2006/relationships/slide" Target="slide30.xml"/><Relationship Id="rId10" Type="http://schemas.openxmlformats.org/officeDocument/2006/relationships/slide" Target="slide7.xml"/><Relationship Id="rId11" Type="http://schemas.openxmlformats.org/officeDocument/2006/relationships/slide" Target="slide3.xml"/><Relationship Id="rId12" Type="http://schemas.openxmlformats.org/officeDocument/2006/relationships/slide" Target="slide1.xml"/><Relationship Id="rId14" Type="http://schemas.openxmlformats.org/officeDocument/2006/relationships/image" Target="../media/image3.png"/><Relationship Id="rId15" Type="http://schemas.openxmlformats.org/officeDocument/2006/relationships/image" Target="../media/image2.png"/><Relationship Id="rId16" Type="http://schemas.openxmlformats.org/officeDocument/2006/relationships/slideLayout" Target="../slideLayouts/slideLayout5.xml"/><Relationship Id="rId17" Type="http://schemas.openxmlformats.org/officeDocument/2006/relationships/slide" Target="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Прямоугольник: скругленные углы 2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65" name="Google Shape;321;p35"/>
          <p:cNvSpPr/>
          <p:nvPr/>
        </p:nvSpPr>
        <p:spPr>
          <a:xfrm>
            <a:off x="8378640" y="1713240"/>
            <a:ext cx="113256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lt1"/>
                </a:solidFill>
                <a:effectLst/>
                <a:uFillTx/>
                <a:latin typeface="+mn-lt"/>
              </a:rPr>
              <a:t>Зрелость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66" name="Google Shape;321;p35"/>
          <p:cNvSpPr/>
          <p:nvPr/>
        </p:nvSpPr>
        <p:spPr>
          <a:xfrm>
            <a:off x="9511560" y="1713240"/>
            <a:ext cx="1612440" cy="44928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План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67" name="Google Shape;321;p35"/>
          <p:cNvSpPr/>
          <p:nvPr/>
        </p:nvSpPr>
        <p:spPr>
          <a:xfrm>
            <a:off x="4823640" y="1713240"/>
            <a:ext cx="224928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lt1"/>
                </a:solidFill>
                <a:effectLst/>
                <a:uFillTx/>
                <a:latin typeface="+mn-lt"/>
                <a:ea typeface="Manrope"/>
              </a:rPr>
              <a:t>ИТ-ландшафт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68" name="Google Shape;321;p35"/>
          <p:cNvSpPr/>
          <p:nvPr/>
        </p:nvSpPr>
        <p:spPr>
          <a:xfrm>
            <a:off x="7073280" y="1713240"/>
            <a:ext cx="1305000" cy="44928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ТИМ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69" name="Подзаголовок 2"/>
          <p:cNvSpPr/>
          <p:nvPr/>
        </p:nvSpPr>
        <p:spPr>
          <a:xfrm>
            <a:off x="4716000" y="3931920"/>
            <a:ext cx="6449040" cy="100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 fontScale="70000" lnSpcReduction="19999"/>
          </a:bodyPr>
          <a:p>
            <a:pPr defTabSz="914400">
              <a:lnSpc>
                <a:spcPct val="11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+mn-lt"/>
              </a:rPr>
              <a:t>Обоснованное решение об автоматизации, ТИМ и импортозамещении — до того, как потрачен основной бюджет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70" name="Заголовок 1"/>
          <p:cNvSpPr/>
          <p:nvPr/>
        </p:nvSpPr>
        <p:spPr>
          <a:xfrm>
            <a:off x="4716000" y="2417400"/>
            <a:ext cx="6531480" cy="13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Аудит ИТ-ландшафта и цифровой зрелости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71" name="Подзаголовок 2"/>
          <p:cNvSpPr/>
          <p:nvPr/>
        </p:nvSpPr>
        <p:spPr>
          <a:xfrm>
            <a:off x="5337000" y="5567040"/>
            <a:ext cx="6449040" cy="75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 lnSpcReduction="9999"/>
          </a:bodyPr>
          <a:p>
            <a:pPr defTabSz="914400">
              <a:lnSpc>
                <a:spcPct val="11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ExtraBold"/>
              </a:rPr>
              <a:t>Спикер: </a:t>
            </a:r>
            <a:r>
              <a:rPr lang="ru-RU" sz="18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+mn-lt"/>
              </a:rPr>
              <a:t>ФИО спикера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11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ExtraBold"/>
              </a:rPr>
              <a:t>Должность: </a:t>
            </a:r>
            <a:r>
              <a:rPr lang="ru-RU" sz="1800" b="0" u="none" strike="noStrike">
                <a:solidFill>
                  <a:srgbClr val="707070"/>
                </a:solidFill>
                <a:effectLst/>
                <a:uFillTx/>
                <a:latin typeface="+mn-lt"/>
              </a:rPr>
              <a:t>должность спикера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pic>
        <p:nvPicPr>
          <p:cNvPr id="72" name="Рисунок 12" descr="Изображение выглядит как снимок экрана, Графика, графический дизайн, логотип&#10;&#10;Контент, сгенерированный ИИ, может содержать ошибки."/>
          <p:cNvPicPr/>
          <p:nvPr/>
        </p:nvPicPr>
        <p:blipFill>
          <a:blip r:embed="rId1"/>
          <a:srcRect l="6675" t="0" r="3344" b="0"/>
          <a:stretch/>
        </p:blipFill>
        <p:spPr>
          <a:xfrm>
            <a:off x="446040" y="273240"/>
            <a:ext cx="3801600" cy="12722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73" name="Прямая со стрелкой 14"/>
          <p:cNvCxnSpPr/>
          <p:nvPr/>
        </p:nvCxnSpPr>
        <p:spPr>
          <a:xfrm>
            <a:off x="4339080" y="5354640"/>
            <a:ext cx="667764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74" name="Рисунок 15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2">
            <a:alphaModFix amt="70000"/>
          </a:blip>
          <a:srcRect l="0" t="55656" r="0" b="0"/>
          <a:stretch/>
        </p:blipFill>
        <p:spPr>
          <a:xfrm rot="5400000">
            <a:off x="10039680" y="338328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Подзаголовок 2"/>
          <p:cNvSpPr/>
          <p:nvPr/>
        </p:nvSpPr>
        <p:spPr>
          <a:xfrm>
            <a:off x="9467280" y="685080"/>
            <a:ext cx="1780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1100" b="0" u="none" strike="noStrike">
                <a:solidFill>
                  <a:srgbClr val="404040"/>
                </a:solidFill>
                <a:effectLst/>
                <a:uFillTx/>
                <a:latin typeface="+mn-lt"/>
              </a:rPr>
              <a:t>8 (800) 302-53-50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100" b="0" u="none" strike="noStrike">
                <a:solidFill>
                  <a:srgbClr val="404040"/>
                </a:solidFill>
                <a:effectLst/>
                <a:uFillTx/>
                <a:latin typeface="+mn-lt"/>
              </a:rPr>
              <a:t>sales@normasoft.com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100" b="0" u="none" strike="noStrike">
                <a:solidFill>
                  <a:srgbClr val="404040"/>
                </a:solidFill>
                <a:effectLst/>
                <a:uFillTx/>
                <a:latin typeface="+mn-lt"/>
              </a:rPr>
              <a:t>normasoft.com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pic>
        <p:nvPicPr>
          <p:cNvPr id="76" name="Рисунок 1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l="34670" t="0" r="0" b="0"/>
          <a:stretch/>
        </p:blipFill>
        <p:spPr>
          <a:xfrm flipH="1">
            <a:off x="360" y="2262960"/>
            <a:ext cx="5336640" cy="4594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Нормасофт: роль в проекте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10881360" cy="132588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TextBox 543"/>
          <p:cNvSpPr txBox="1"/>
          <p:nvPr/>
        </p:nvSpPr>
        <p:spPr>
          <a:xfrm>
            <a:off x="868680" y="2011680"/>
            <a:ext cx="1033272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Нормасофт — системный интегратор инженерного ПО. </a:t>
            </a:r>
            <a:r>
              <a:rPr sz="1300" b="0">
                <a:solidFill>
                  <a:srgbClr val="1A1A1A"/>
                </a:solidFill>
                <a:latin typeface="+mn-lt"/>
              </a:rPr>
              <a:t>Помогаем проектным организациям встроить отечественные САПР и ТИМ-решения в действующий технологический контур: обследуем процессы, подбираем связку продуктов разных разработчиков, настраиваем обмен данными, готовим пользователей и сопровождаем пилот до проверяемого результата.</a:t>
            </a:r>
          </a:p>
        </p:txBody>
      </p:sp>
      <p:sp>
        <p:nvSpPr>
          <p:cNvPr id="545" name="Snip Single Corner Rectangle 544"/>
          <p:cNvSpPr/>
          <p:nvPr/>
        </p:nvSpPr>
        <p:spPr>
          <a:xfrm>
            <a:off x="594360" y="3611880"/>
            <a:ext cx="3474720" cy="1097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6" name="TextBox 545"/>
          <p:cNvSpPr txBox="1"/>
          <p:nvPr/>
        </p:nvSpPr>
        <p:spPr>
          <a:xfrm>
            <a:off x="822960" y="3721608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386FC"/>
                </a:solidFill>
                <a:latin typeface="+mj-lt"/>
              </a:rPr>
              <a:t>14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822960" y="4233672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лет на рынке</a:t>
            </a:r>
          </a:p>
        </p:txBody>
      </p:sp>
      <p:sp>
        <p:nvSpPr>
          <p:cNvPr id="548" name="Snip Single Corner Rectangle 547"/>
          <p:cNvSpPr/>
          <p:nvPr/>
        </p:nvSpPr>
        <p:spPr>
          <a:xfrm>
            <a:off x="4297680" y="3611880"/>
            <a:ext cx="3474720" cy="1097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9" name="TextBox 548"/>
          <p:cNvSpPr txBox="1"/>
          <p:nvPr/>
        </p:nvSpPr>
        <p:spPr>
          <a:xfrm>
            <a:off x="4526280" y="3721608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386FC"/>
                </a:solidFill>
                <a:latin typeface="+mj-lt"/>
              </a:rPr>
              <a:t>17+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4526280" y="4233672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внедрений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8001000" y="3611880"/>
            <a:ext cx="3474720" cy="1097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2" name="TextBox 551"/>
          <p:cNvSpPr txBox="1"/>
          <p:nvPr/>
        </p:nvSpPr>
        <p:spPr>
          <a:xfrm>
            <a:off x="8229600" y="3721608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386FC"/>
                </a:solidFill>
                <a:latin typeface="+mj-lt"/>
              </a:rPr>
              <a:t>Бюро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8229600" y="4233672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собственное проектное бюро</a:t>
            </a:r>
          </a:p>
        </p:txBody>
      </p:sp>
      <p:sp>
        <p:nvSpPr>
          <p:cNvPr id="554" name="Snip Single Corner Rectangle 553"/>
          <p:cNvSpPr/>
          <p:nvPr/>
        </p:nvSpPr>
        <p:spPr>
          <a:xfrm>
            <a:off x="594360" y="4846320"/>
            <a:ext cx="3474720" cy="1097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5" name="TextBox 554"/>
          <p:cNvSpPr txBox="1"/>
          <p:nvPr/>
        </p:nvSpPr>
        <p:spPr>
          <a:xfrm>
            <a:off x="822960" y="4956048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386FC"/>
                </a:solidFill>
                <a:latin typeface="+mj-lt"/>
              </a:rPr>
              <a:t>САПР · ТИМ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822960" y="5468112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специалисты по разделам и информационному моделированию</a:t>
            </a:r>
          </a:p>
        </p:txBody>
      </p:sp>
      <p:sp>
        <p:nvSpPr>
          <p:cNvPr id="557" name="Snip Single Corner Rectangle 556"/>
          <p:cNvSpPr/>
          <p:nvPr/>
        </p:nvSpPr>
        <p:spPr>
          <a:xfrm>
            <a:off x="4297680" y="4846320"/>
            <a:ext cx="3474720" cy="1097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8" name="TextBox 557"/>
          <p:cNvSpPr txBox="1"/>
          <p:nvPr/>
        </p:nvSpPr>
        <p:spPr>
          <a:xfrm>
            <a:off x="4526280" y="4956048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386FC"/>
                </a:solidFill>
                <a:latin typeface="+mj-lt"/>
              </a:rPr>
              <a:t>ИТ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4526280" y="5468112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команда по инфраструктуре и отечественному системному ПО</a:t>
            </a:r>
          </a:p>
        </p:txBody>
      </p:sp>
      <p:sp>
        <p:nvSpPr>
          <p:cNvPr id="560" name="Snip Single Corner Rectangle 559"/>
          <p:cNvSpPr/>
          <p:nvPr/>
        </p:nvSpPr>
        <p:spPr>
          <a:xfrm>
            <a:off x="8001000" y="4846320"/>
            <a:ext cx="3474720" cy="1097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1" name="TextBox 560"/>
          <p:cNvSpPr txBox="1"/>
          <p:nvPr/>
        </p:nvSpPr>
        <p:spPr>
          <a:xfrm>
            <a:off x="8229600" y="4956048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386FC"/>
                </a:solidFill>
                <a:latin typeface="+mj-lt"/>
              </a:rPr>
              <a:t>УЦ</a:t>
            </a:r>
          </a:p>
        </p:txBody>
      </p:sp>
      <p:sp>
        <p:nvSpPr>
          <p:cNvPr id="562" name="TextBox 561"/>
          <p:cNvSpPr txBox="1"/>
          <p:nvPr/>
        </p:nvSpPr>
        <p:spPr>
          <a:xfrm>
            <a:off x="8229600" y="5468112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лицензированный учебный центр</a:t>
            </a:r>
          </a:p>
        </p:txBody>
      </p:sp>
      <p:sp>
        <p:nvSpPr>
          <p:cNvPr id="563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64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65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66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67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68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НОРМАСОФТ</a:t>
            </a:r>
          </a:p>
        </p:txBody>
      </p:sp>
      <p:sp>
        <p:nvSpPr>
          <p:cNvPr id="569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70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Прямоугольник: скругленные углы 4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40" name="Google Shape;529;p41"/>
          <p:cNvSpPr/>
          <p:nvPr/>
        </p:nvSpPr>
        <p:spPr>
          <a:xfrm>
            <a:off x="10015920" y="1959120"/>
            <a:ext cx="1341720" cy="84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en" sz="4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01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1" name="Google Shape;529;p41"/>
          <p:cNvSpPr/>
          <p:nvPr/>
        </p:nvSpPr>
        <p:spPr>
          <a:xfrm>
            <a:off x="3840480" y="3558240"/>
            <a:ext cx="7516368" cy="131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ЗАЧЕМ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НУЖЕН АУДИТ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2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43" name="Прямая со стрелкой 8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44" name="TextBox 9"/>
          <p:cNvSpPr/>
          <p:nvPr/>
        </p:nvSpPr>
        <p:spPr>
          <a:xfrm>
            <a:off x="4663440" y="5093280"/>
            <a:ext cx="6693408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Как не купить систему, которая не встанет в ваши процессы, данные и компетенции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5" name="Прямоугольник: скругленные углы 10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cxnSp>
        <p:nvCxnSpPr>
          <p:cNvPr id="246" name="Прямая со стрелкой 1"/>
          <p:cNvCxnSpPr/>
          <p:nvPr/>
        </p:nvCxnSpPr>
        <p:spPr>
          <a:xfrm>
            <a:off x="5074200" y="4999320"/>
            <a:ext cx="619308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24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7381080" y="292752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Рисунок 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2">
            <a:extLst/>
          </a:blip>
          <a:stretch/>
        </p:blipFill>
        <p:spPr>
          <a:xfrm flipH="1">
            <a:off x="360" y="3371760"/>
            <a:ext cx="6197400" cy="34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59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ЗАЧЕМ АУДИТ</a:t>
            </a:r>
          </a:p>
        </p:txBody>
      </p:sp>
      <p:sp>
        <p:nvSpPr>
          <p:cNvPr id="260" name="nav">
            <a:hlinkClick action="ppaction://hlinksldjump" r:id="rId14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261" name="nav">
            <a:hlinkClick action="ppaction://hlinksldjump" r:id="rId6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262" name="nav">
            <a:hlinkClick action="ppaction://hlinksldjump" r:id="rId5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263" name="nav">
            <a:hlinkClick action="ppaction://hlinksldjump" r:id="rId4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264" name="nav">
            <a:hlinkClick action="ppaction://hlinksldjump" r:id="rId3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265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266" name="nav">
            <a:hlinkClick action="ppaction://hlinksldjump" r:id="rId11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Главный вопрос руководителя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10881360" cy="11430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TextBox 543"/>
          <p:cNvSpPr txBox="1"/>
          <p:nvPr/>
        </p:nvSpPr>
        <p:spPr>
          <a:xfrm>
            <a:off x="914400" y="2011680"/>
            <a:ext cx="1024128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+mj-lt"/>
              </a:rPr>
              <a:t>«Мы собираемся менять ПО. Откуда мы знаем, что выбранное решение действительно даст результат?»</a:t>
            </a:r>
          </a:p>
        </p:txBody>
      </p:sp>
      <p:sp>
        <p:nvSpPr>
          <p:cNvPr id="545" name="Snip Single Corner Rectangle 544"/>
          <p:cNvSpPr/>
          <p:nvPr/>
        </p:nvSpPr>
        <p:spPr>
          <a:xfrm>
            <a:off x="594360" y="3429000"/>
            <a:ext cx="3474720" cy="23317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6" name="TextBox 545"/>
          <p:cNvSpPr txBox="1"/>
          <p:nvPr/>
        </p:nvSpPr>
        <p:spPr>
          <a:xfrm>
            <a:off x="868680" y="361188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386FC"/>
                </a:solidFill>
                <a:latin typeface="+mj-lt"/>
              </a:rPr>
              <a:t>Ошибка № 1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868680" y="4114800"/>
            <a:ext cx="29260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+mn-lt"/>
              </a:rPr>
              <a:t>Покупать систему, не разобравшись, как сегодня устроены процессы и зависимости.</a:t>
            </a:r>
          </a:p>
        </p:txBody>
      </p:sp>
      <p:sp>
        <p:nvSpPr>
          <p:cNvPr id="548" name="Snip Single Corner Rectangle 547"/>
          <p:cNvSpPr/>
          <p:nvPr/>
        </p:nvSpPr>
        <p:spPr>
          <a:xfrm>
            <a:off x="4297680" y="3429000"/>
            <a:ext cx="3474720" cy="23317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9" name="TextBox 548"/>
          <p:cNvSpPr txBox="1"/>
          <p:nvPr/>
        </p:nvSpPr>
        <p:spPr>
          <a:xfrm>
            <a:off x="4572000" y="361188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386FC"/>
                </a:solidFill>
                <a:latin typeface="+mj-lt"/>
              </a:rPr>
              <a:t>Ошибка № 2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4572000" y="4114800"/>
            <a:ext cx="29260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+mn-lt"/>
              </a:rPr>
              <a:t>Оценивать ПО по списку функций, не учитывая реальные производственные требования.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8001000" y="3429000"/>
            <a:ext cx="3474720" cy="23317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2" name="TextBox 551"/>
          <p:cNvSpPr txBox="1"/>
          <p:nvPr/>
        </p:nvSpPr>
        <p:spPr>
          <a:xfrm>
            <a:off x="8275320" y="361188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386FC"/>
                </a:solidFill>
                <a:latin typeface="+mj-lt"/>
              </a:rPr>
              <a:t>Ошибка № 3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8275320" y="4114800"/>
            <a:ext cx="29260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+mn-lt"/>
              </a:rPr>
              <a:t>Начинать внедрение без понимания компетенций, ограничений и целевого ИТ-ландшафта.</a:t>
            </a:r>
          </a:p>
        </p:txBody>
      </p:sp>
      <p:sp>
        <p:nvSpPr>
          <p:cNvPr id="554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ЗАЧЕМ АУДИТ</a:t>
            </a:r>
          </a:p>
        </p:txBody>
      </p:sp>
      <p:sp>
        <p:nvSpPr>
          <p:cNvPr id="555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56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57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58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59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0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61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Почему аудит должен предшествовать инвестициям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57400"/>
            <a:ext cx="2011680" cy="20116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Snip Single Corner Rectangle 543"/>
          <p:cNvSpPr/>
          <p:nvPr/>
        </p:nvSpPr>
        <p:spPr>
          <a:xfrm>
            <a:off x="822960" y="2240280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+mj-lt"/>
              </a:rPr>
              <a:t>01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822960" y="2788920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+mj-lt"/>
              </a:rPr>
              <a:t>ПО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822960" y="3246120"/>
            <a:ext cx="1645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Что покупать и что развивать?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2811779" y="2057400"/>
            <a:ext cx="2011680" cy="20116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8" name="Snip Single Corner Rectangle 547"/>
          <p:cNvSpPr/>
          <p:nvPr/>
        </p:nvSpPr>
        <p:spPr>
          <a:xfrm>
            <a:off x="3040379" y="2240280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+mj-lt"/>
              </a:rPr>
              <a:t>02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3040379" y="2788920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+mj-lt"/>
              </a:rPr>
              <a:t>Процессы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3040379" y="3246120"/>
            <a:ext cx="1645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Что менять в работе?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5029200" y="2057400"/>
            <a:ext cx="2011680" cy="20116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2" name="Snip Single Corner Rectangle 551"/>
          <p:cNvSpPr/>
          <p:nvPr/>
        </p:nvSpPr>
        <p:spPr>
          <a:xfrm>
            <a:off x="5257800" y="2240280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+mj-lt"/>
              </a:rPr>
              <a:t>03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5257800" y="2788920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+mj-lt"/>
              </a:rPr>
              <a:t>Данные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5257800" y="3246120"/>
            <a:ext cx="1645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Какие форматы и связи критичны?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7246620" y="2057400"/>
            <a:ext cx="2011680" cy="20116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6" name="Snip Single Corner Rectangle 555"/>
          <p:cNvSpPr/>
          <p:nvPr/>
        </p:nvSpPr>
        <p:spPr>
          <a:xfrm>
            <a:off x="7475220" y="2240280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+mj-lt"/>
              </a:rPr>
              <a:t>04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7475220" y="2788920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+mj-lt"/>
              </a:rPr>
              <a:t>Люди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7475220" y="3246120"/>
            <a:ext cx="1645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Какие компетенции нужны?</a:t>
            </a:r>
          </a:p>
        </p:txBody>
      </p:sp>
      <p:sp>
        <p:nvSpPr>
          <p:cNvPr id="559" name="Snip Single Corner Rectangle 558"/>
          <p:cNvSpPr/>
          <p:nvPr/>
        </p:nvSpPr>
        <p:spPr>
          <a:xfrm>
            <a:off x="9464040" y="2057400"/>
            <a:ext cx="2011680" cy="20116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0" name="Snip Single Corner Rectangle 559"/>
          <p:cNvSpPr/>
          <p:nvPr/>
        </p:nvSpPr>
        <p:spPr>
          <a:xfrm>
            <a:off x="9692640" y="2240280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+mj-lt"/>
              </a:rPr>
              <a:t>05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9692640" y="2788920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+mj-lt"/>
              </a:rPr>
              <a:t>Внедрение</a:t>
            </a:r>
          </a:p>
        </p:txBody>
      </p:sp>
      <p:sp>
        <p:nvSpPr>
          <p:cNvPr id="562" name="TextBox 561"/>
          <p:cNvSpPr txBox="1"/>
          <p:nvPr/>
        </p:nvSpPr>
        <p:spPr>
          <a:xfrm>
            <a:off x="9692640" y="3246120"/>
            <a:ext cx="1645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В какой последовательности действовать?</a:t>
            </a:r>
          </a:p>
        </p:txBody>
      </p:sp>
      <p:sp>
        <p:nvSpPr>
          <p:cNvPr id="563" name="TextBox 562"/>
          <p:cNvSpPr txBox="1"/>
          <p:nvPr/>
        </p:nvSpPr>
        <p:spPr>
          <a:xfrm>
            <a:off x="594360" y="42245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0">
                <a:solidFill>
                  <a:srgbClr val="0386FC"/>
                </a:solidFill>
                <a:latin typeface="+mn-lt"/>
              </a:rPr>
              <a:t>↓</a:t>
            </a:r>
          </a:p>
        </p:txBody>
      </p:sp>
      <p:sp>
        <p:nvSpPr>
          <p:cNvPr id="564" name="Snip Single Corner Rectangle 563"/>
          <p:cNvSpPr/>
          <p:nvPr/>
        </p:nvSpPr>
        <p:spPr>
          <a:xfrm>
            <a:off x="594360" y="4754880"/>
            <a:ext cx="10881360" cy="105156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5" name="TextBox 564"/>
          <p:cNvSpPr txBox="1"/>
          <p:nvPr/>
        </p:nvSpPr>
        <p:spPr>
          <a:xfrm>
            <a:off x="914400" y="4754880"/>
            <a:ext cx="102412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+mj-lt"/>
              </a:rPr>
              <a:t>Аудит связывает эти вопросы в единую картину и переводит разрозненные решения в дорожную карту</a:t>
            </a:r>
          </a:p>
        </p:txBody>
      </p:sp>
      <p:sp>
        <p:nvSpPr>
          <p:cNvPr id="566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ЗАЧЕМ АУДИТ</a:t>
            </a:r>
          </a:p>
        </p:txBody>
      </p:sp>
      <p:sp>
        <p:nvSpPr>
          <p:cNvPr id="567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68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69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70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71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72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73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Подход: оценка всего технологического контура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graphicFrame>
        <p:nvGraphicFramePr>
          <p:cNvPr id="543" name="Table 542"/>
          <p:cNvGraphicFramePr>
            <a:graphicFrameLocks noGrp="1"/>
          </p:cNvGraphicFramePr>
          <p:nvPr/>
        </p:nvGraphicFramePr>
        <p:xfrm>
          <a:off x="594360" y="2011680"/>
          <a:ext cx="10881360" cy="2606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86867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386FC"/>
                          </a:solidFill>
                          <a:latin typeface="+mj-lt"/>
                        </a:rPr>
                        <a:t>Исходная ситуация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+mn-lt"/>
                        </a:rPr>
                        <a:t>В организации уже есть проекты, форматы, библиотеки, расчётные программы, серверные системы и требования заказчиков к выпуску документации.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6867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386FC"/>
                          </a:solidFill>
                          <a:latin typeface="+mj-lt"/>
                        </a:rPr>
                        <a:t>Роль Нормасофт</a:t>
                      </a:r>
                    </a:p>
                  </a:txBody>
                  <a:tcPr marL="91440" marR="91440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+mn-lt"/>
                        </a:rPr>
                        <a:t>Увидеть контур целиком — процессы, ПО разных разработчиков, данные, людей — и связать его в целевой ИТ-ландшафт с понятными границами каждого продукта.</a:t>
                      </a:r>
                    </a:p>
                  </a:txBody>
                  <a:tcPr marL="91440" marR="91440" marT="45720" marB="45720" anchor="ctr">
                    <a:solidFill>
                      <a:srgbClr val="F1F3F6"/>
                    </a:solidFill>
                  </a:tcPr>
                </a:tc>
              </a:tr>
              <a:tr h="86868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386FC"/>
                          </a:solidFill>
                          <a:latin typeface="+mj-lt"/>
                        </a:rPr>
                        <a:t>Что проверяем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+mn-lt"/>
                        </a:rPr>
                        <a:t>Состав и фактическое использование ПО; форматы и обмен данными (DWG, IFC); критические зависимости; интеграции с расчётными и корпоративными системами; компетенции; готовность к замещению.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4" name="Snip Single Corner Rectangle 543"/>
          <p:cNvSpPr/>
          <p:nvPr/>
        </p:nvSpPr>
        <p:spPr>
          <a:xfrm>
            <a:off x="594360" y="4892040"/>
            <a:ext cx="10881360" cy="91440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5" name="TextBox 544"/>
          <p:cNvSpPr txBox="1"/>
          <p:nvPr/>
        </p:nvSpPr>
        <p:spPr>
          <a:xfrm>
            <a:off x="868680" y="4892040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Принцип: </a:t>
            </a:r>
            <a:r>
              <a:rPr sz="1400" b="0">
                <a:solidFill>
                  <a:srgbClr val="1A1A1A"/>
                </a:solidFill>
                <a:latin typeface="+mn-lt"/>
              </a:rPr>
              <a:t>не обещаем одну программу для всех задач — предлагаем управляемую архитектуру и отвечаем за стыки между решениями разных разработчиков.</a:t>
            </a:r>
          </a:p>
        </p:txBody>
      </p:sp>
      <p:sp>
        <p:nvSpPr>
          <p:cNvPr id="546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ЗАЧЕМ АУДИТ</a:t>
            </a:r>
          </a:p>
        </p:txBody>
      </p:sp>
      <p:sp>
        <p:nvSpPr>
          <p:cNvPr id="547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48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49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50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51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52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53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Прямоугольник: скругленные углы 4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40" name="Google Shape;529;p41"/>
          <p:cNvSpPr/>
          <p:nvPr/>
        </p:nvSpPr>
        <p:spPr>
          <a:xfrm>
            <a:off x="10015920" y="1959120"/>
            <a:ext cx="1341720" cy="84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en" sz="4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02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1" name="Google Shape;529;p41"/>
          <p:cNvSpPr/>
          <p:nvPr/>
        </p:nvSpPr>
        <p:spPr>
          <a:xfrm>
            <a:off x="3840480" y="3558240"/>
            <a:ext cx="7516368" cy="131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КАК ПРОХОДИТ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АУДИТ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2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43" name="Прямая со стрелкой 8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44" name="TextBox 9"/>
          <p:cNvSpPr/>
          <p:nvPr/>
        </p:nvSpPr>
        <p:spPr>
          <a:xfrm>
            <a:off x="4663440" y="5093280"/>
            <a:ext cx="6693408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Семь этапов: от паспорта организации до дорожной карты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5" name="Прямоугольник: скругленные углы 10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cxnSp>
        <p:nvCxnSpPr>
          <p:cNvPr id="246" name="Прямая со стрелкой 1"/>
          <p:cNvCxnSpPr/>
          <p:nvPr/>
        </p:nvCxnSpPr>
        <p:spPr>
          <a:xfrm>
            <a:off x="5074200" y="4999320"/>
            <a:ext cx="619308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24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7381080" y="292752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Рисунок 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2">
            <a:extLst/>
          </a:blip>
          <a:stretch/>
        </p:blipFill>
        <p:spPr>
          <a:xfrm flipH="1">
            <a:off x="360" y="3371760"/>
            <a:ext cx="6197400" cy="34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59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260" name="nav">
            <a:hlinkClick action="ppaction://hlinksldjump" r:id="rId14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ЭТАПЫ</a:t>
            </a:r>
          </a:p>
        </p:txBody>
      </p:sp>
      <p:sp>
        <p:nvSpPr>
          <p:cNvPr id="261" name="nav">
            <a:hlinkClick action="ppaction://hlinksldjump" r:id="rId6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262" name="nav">
            <a:hlinkClick action="ppaction://hlinksldjump" r:id="rId5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263" name="nav">
            <a:hlinkClick action="ppaction://hlinksldjump" r:id="rId4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264" name="nav">
            <a:hlinkClick action="ppaction://hlinksldjump" r:id="rId3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265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266" name="nav">
            <a:hlinkClick action="ppaction://hlinksldjump" r:id="rId11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Семь этапов аудита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1444752" cy="2240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Snip Single Corner Rectangle 543"/>
          <p:cNvSpPr/>
          <p:nvPr/>
        </p:nvSpPr>
        <p:spPr>
          <a:xfrm>
            <a:off x="758952" y="2176272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1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685800" y="2724912"/>
            <a:ext cx="13167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Предварительное обследование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594360" y="4389120"/>
            <a:ext cx="1444752" cy="86868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/>
            <a:r>
              <a:rPr sz="950" b="0">
                <a:solidFill>
                  <a:srgbClr val="1A1A1A"/>
                </a:solidFill>
                <a:latin typeface="+mn-lt"/>
              </a:rPr>
              <a:t>Паспорт организации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2167128" y="2011680"/>
            <a:ext cx="1444752" cy="2240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8" name="Snip Single Corner Rectangle 547"/>
          <p:cNvSpPr/>
          <p:nvPr/>
        </p:nvSpPr>
        <p:spPr>
          <a:xfrm>
            <a:off x="2331720" y="2176272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2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2258568" y="2724912"/>
            <a:ext cx="13167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Технический аудит ПО</a:t>
            </a:r>
          </a:p>
        </p:txBody>
      </p:sp>
      <p:sp>
        <p:nvSpPr>
          <p:cNvPr id="550" name="Snip Single Corner Rectangle 549"/>
          <p:cNvSpPr/>
          <p:nvPr/>
        </p:nvSpPr>
        <p:spPr>
          <a:xfrm>
            <a:off x="2167128" y="4389120"/>
            <a:ext cx="1444752" cy="86868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/>
            <a:r>
              <a:rPr sz="950" b="0">
                <a:solidFill>
                  <a:srgbClr val="1A1A1A"/>
                </a:solidFill>
                <a:latin typeface="+mn-lt"/>
              </a:rPr>
              <a:t>Карта текущего ИТ-ландшафта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3739896" y="2011680"/>
            <a:ext cx="1444752" cy="2240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2" name="Snip Single Corner Rectangle 551"/>
          <p:cNvSpPr/>
          <p:nvPr/>
        </p:nvSpPr>
        <p:spPr>
          <a:xfrm>
            <a:off x="3904487" y="2176272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3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3831335" y="2724912"/>
            <a:ext cx="13167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Интервью с руководством</a:t>
            </a:r>
          </a:p>
        </p:txBody>
      </p:sp>
      <p:sp>
        <p:nvSpPr>
          <p:cNvPr id="554" name="Snip Single Corner Rectangle 553"/>
          <p:cNvSpPr/>
          <p:nvPr/>
        </p:nvSpPr>
        <p:spPr>
          <a:xfrm>
            <a:off x="3739896" y="4389120"/>
            <a:ext cx="1444752" cy="86868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/>
            <a:r>
              <a:rPr sz="950" b="0">
                <a:solidFill>
                  <a:srgbClr val="1A1A1A"/>
                </a:solidFill>
                <a:latin typeface="+mn-lt"/>
              </a:rPr>
              <a:t>Стратегические требования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5312664" y="2011680"/>
            <a:ext cx="1444752" cy="2240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6" name="Snip Single Corner Rectangle 555"/>
          <p:cNvSpPr/>
          <p:nvPr/>
        </p:nvSpPr>
        <p:spPr>
          <a:xfrm>
            <a:off x="5477256" y="2176272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4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5404104" y="2724912"/>
            <a:ext cx="13167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Интервью с подразделениями</a:t>
            </a:r>
          </a:p>
        </p:txBody>
      </p:sp>
      <p:sp>
        <p:nvSpPr>
          <p:cNvPr id="558" name="Snip Single Corner Rectangle 557"/>
          <p:cNvSpPr/>
          <p:nvPr/>
        </p:nvSpPr>
        <p:spPr>
          <a:xfrm>
            <a:off x="5312664" y="4389120"/>
            <a:ext cx="1444752" cy="86868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/>
            <a:r>
              <a:rPr sz="950" b="0">
                <a:solidFill>
                  <a:srgbClr val="1A1A1A"/>
                </a:solidFill>
                <a:latin typeface="+mn-lt"/>
              </a:rPr>
              <a:t>Производственные требования</a:t>
            </a:r>
          </a:p>
        </p:txBody>
      </p:sp>
      <p:sp>
        <p:nvSpPr>
          <p:cNvPr id="559" name="Snip Single Corner Rectangle 558"/>
          <p:cNvSpPr/>
          <p:nvPr/>
        </p:nvSpPr>
        <p:spPr>
          <a:xfrm>
            <a:off x="6885432" y="2011680"/>
            <a:ext cx="1444752" cy="2240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0" name="Snip Single Corner Rectangle 559"/>
          <p:cNvSpPr/>
          <p:nvPr/>
        </p:nvSpPr>
        <p:spPr>
          <a:xfrm>
            <a:off x="7050024" y="2176272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5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6976872" y="2724912"/>
            <a:ext cx="13167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Анализ кадров</a:t>
            </a:r>
          </a:p>
        </p:txBody>
      </p:sp>
      <p:sp>
        <p:nvSpPr>
          <p:cNvPr id="562" name="TextBox 561"/>
          <p:cNvSpPr txBox="1"/>
          <p:nvPr/>
        </p:nvSpPr>
        <p:spPr>
          <a:xfrm>
            <a:off x="7050024" y="3840480"/>
            <a:ext cx="1170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по запросу</a:t>
            </a:r>
          </a:p>
        </p:txBody>
      </p:sp>
      <p:sp>
        <p:nvSpPr>
          <p:cNvPr id="563" name="Snip Single Corner Rectangle 562"/>
          <p:cNvSpPr/>
          <p:nvPr/>
        </p:nvSpPr>
        <p:spPr>
          <a:xfrm>
            <a:off x="6885432" y="4389120"/>
            <a:ext cx="1444752" cy="86868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/>
            <a:r>
              <a:rPr sz="950" b="0">
                <a:solidFill>
                  <a:srgbClr val="1A1A1A"/>
                </a:solidFill>
                <a:latin typeface="+mn-lt"/>
              </a:rPr>
              <a:t>Матрица компетенций</a:t>
            </a:r>
          </a:p>
        </p:txBody>
      </p:sp>
      <p:sp>
        <p:nvSpPr>
          <p:cNvPr id="564" name="Snip Single Corner Rectangle 563"/>
          <p:cNvSpPr/>
          <p:nvPr/>
        </p:nvSpPr>
        <p:spPr>
          <a:xfrm>
            <a:off x="8458200" y="2011680"/>
            <a:ext cx="1444752" cy="2240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5" name="Snip Single Corner Rectangle 564"/>
          <p:cNvSpPr/>
          <p:nvPr/>
        </p:nvSpPr>
        <p:spPr>
          <a:xfrm>
            <a:off x="8622792" y="2176272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6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8549640" y="2724912"/>
            <a:ext cx="13167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Аудит ТИМ-зрелости</a:t>
            </a:r>
          </a:p>
        </p:txBody>
      </p:sp>
      <p:sp>
        <p:nvSpPr>
          <p:cNvPr id="567" name="TextBox 566"/>
          <p:cNvSpPr txBox="1"/>
          <p:nvPr/>
        </p:nvSpPr>
        <p:spPr>
          <a:xfrm>
            <a:off x="8622792" y="3840480"/>
            <a:ext cx="1170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при наличии ТИМ</a:t>
            </a:r>
          </a:p>
        </p:txBody>
      </p:sp>
      <p:sp>
        <p:nvSpPr>
          <p:cNvPr id="568" name="Snip Single Corner Rectangle 567"/>
          <p:cNvSpPr/>
          <p:nvPr/>
        </p:nvSpPr>
        <p:spPr>
          <a:xfrm>
            <a:off x="8458200" y="4389120"/>
            <a:ext cx="1444752" cy="86868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/>
            <a:r>
              <a:rPr sz="950" b="0">
                <a:solidFill>
                  <a:srgbClr val="1A1A1A"/>
                </a:solidFill>
                <a:latin typeface="+mn-lt"/>
              </a:rPr>
              <a:t>Оценка ТИМ-зрелости</a:t>
            </a:r>
          </a:p>
        </p:txBody>
      </p:sp>
      <p:sp>
        <p:nvSpPr>
          <p:cNvPr id="569" name="Snip Single Corner Rectangle 568"/>
          <p:cNvSpPr/>
          <p:nvPr/>
        </p:nvSpPr>
        <p:spPr>
          <a:xfrm>
            <a:off x="10030968" y="2011680"/>
            <a:ext cx="1444752" cy="2240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0" name="Snip Single Corner Rectangle 569"/>
          <p:cNvSpPr/>
          <p:nvPr/>
        </p:nvSpPr>
        <p:spPr>
          <a:xfrm>
            <a:off x="10195560" y="2176272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7</a:t>
            </a:r>
          </a:p>
        </p:txBody>
      </p:sp>
      <p:sp>
        <p:nvSpPr>
          <p:cNvPr id="571" name="TextBox 570"/>
          <p:cNvSpPr txBox="1"/>
          <p:nvPr/>
        </p:nvSpPr>
        <p:spPr>
          <a:xfrm>
            <a:off x="10122408" y="2724912"/>
            <a:ext cx="13167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Отчётные документы</a:t>
            </a:r>
          </a:p>
        </p:txBody>
      </p:sp>
      <p:sp>
        <p:nvSpPr>
          <p:cNvPr id="572" name="Snip Single Corner Rectangle 571"/>
          <p:cNvSpPr/>
          <p:nvPr/>
        </p:nvSpPr>
        <p:spPr>
          <a:xfrm>
            <a:off x="10030968" y="4389120"/>
            <a:ext cx="1444752" cy="86868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/>
            <a:r>
              <a:rPr sz="950" b="0">
                <a:solidFill>
                  <a:srgbClr val="1A1A1A"/>
                </a:solidFill>
                <a:latin typeface="+mn-lt"/>
              </a:rPr>
              <a:t>Дорожная карта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594360" y="54406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+mn-lt"/>
              </a:rPr>
              <a:t>Результат каждого этапа </a:t>
            </a:r>
            <a:r>
              <a:rPr sz="1200" b="0">
                <a:solidFill>
                  <a:srgbClr val="1A1A1A"/>
                </a:solidFill>
                <a:latin typeface="+mn-lt"/>
              </a:rPr>
              <a:t>— документ, который используется на следующем.</a:t>
            </a:r>
          </a:p>
        </p:txBody>
      </p:sp>
      <p:sp>
        <p:nvSpPr>
          <p:cNvPr id="574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75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ЭТАПЫ</a:t>
            </a:r>
          </a:p>
        </p:txBody>
      </p:sp>
      <p:sp>
        <p:nvSpPr>
          <p:cNvPr id="576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77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78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79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80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81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Этапы 1–2: обследование и технический аудит ПО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502920" cy="50292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+mj-lt"/>
              </a:rPr>
              <a:t>1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280160" y="2011680"/>
            <a:ext cx="4617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+mj-lt"/>
              </a:rPr>
              <a:t>Предварительное обследование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594360" y="274320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Цель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594360" y="2990088"/>
            <a:ext cx="5303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+mn-lt"/>
              </a:rPr>
              <a:t>Понять структуру организации ещё до интервью с подразделениями.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594360" y="384048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Запрашиваем у заказчика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594360" y="4096512"/>
            <a:ext cx="2560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оргструктура и подразделения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численность проектировщиков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направления проектирования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используемое ПО и лицензии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серверные системы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3246120" y="4096512"/>
            <a:ext cx="2560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типовые проекты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стандарты и ТИМ-стандарты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требования заказчиков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форматы передачи данных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планы цифровизации</a:t>
            </a:r>
          </a:p>
        </p:txBody>
      </p:sp>
      <p:sp>
        <p:nvSpPr>
          <p:cNvPr id="550" name="Snip Single Corner Rectangle 549"/>
          <p:cNvSpPr/>
          <p:nvPr/>
        </p:nvSpPr>
        <p:spPr>
          <a:xfrm>
            <a:off x="594360" y="5440680"/>
            <a:ext cx="5303520" cy="50292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Результат: паспорт организации, первичная карта ИТ-ландшафта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6172200" y="2011680"/>
            <a:ext cx="502920" cy="50292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+mj-lt"/>
              </a:rPr>
              <a:t>2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6858000" y="2011680"/>
            <a:ext cx="4617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+mj-lt"/>
              </a:rPr>
              <a:t>Технический аудит ПО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6172200" y="274320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Цель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6172200" y="2990088"/>
            <a:ext cx="5303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+mn-lt"/>
              </a:rPr>
              <a:t>Определить фактический состав, состояние, взаимосвязи и критические зависимости ПО, оценить готовность к замещению и развитию целевого ИТ-ландшафта.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6172200" y="384048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Анализируем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6172200" y="4096512"/>
            <a:ext cx="5303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инвентаризация ПО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фактическое использование функционала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поддерживаемые и используемые форматы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критические зависимости и интеграции</a:t>
            </a:r>
          </a:p>
        </p:txBody>
      </p:sp>
      <p:sp>
        <p:nvSpPr>
          <p:cNvPr id="557" name="Snip Single Corner Rectangle 556"/>
          <p:cNvSpPr/>
          <p:nvPr/>
        </p:nvSpPr>
        <p:spPr>
          <a:xfrm>
            <a:off x="6172200" y="5440680"/>
            <a:ext cx="5303520" cy="50292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Результат: карта текущего ИТ-ландшафта, первичные карта целевого ландшафта и матрица импортозамещения</a:t>
            </a:r>
          </a:p>
        </p:txBody>
      </p:sp>
      <p:sp>
        <p:nvSpPr>
          <p:cNvPr id="558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59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ЭТАПЫ</a:t>
            </a:r>
          </a:p>
        </p:txBody>
      </p:sp>
      <p:sp>
        <p:nvSpPr>
          <p:cNvPr id="560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61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62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63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4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65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Этапы 3–4: интервью с руководством и подразделениями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502920" cy="50292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+mj-lt"/>
              </a:rPr>
              <a:t>3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280160" y="2011680"/>
            <a:ext cx="4617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+mj-lt"/>
              </a:rPr>
              <a:t>Интервью с руководством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594360" y="274320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Цель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594360" y="2990088"/>
            <a:ext cx="5303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+mn-lt"/>
              </a:rPr>
              <a:t>Определить стратегические цели и приоритеты, ключевые проблемы и ограничения, целевое состояние цифровой трансформации и импортозамещения.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594360" y="384048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Интервьюируем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594360" y="4096512"/>
            <a:ext cx="5303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генеральный директор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главный инженер проекта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руководитель проектирования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CIO / ИТ-директор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руководитель ТИМ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руководители производственных подразделений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594360" y="5440680"/>
            <a:ext cx="5303520" cy="50292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Результат: стратегические требования к процессам и инструментам</a:t>
            </a:r>
          </a:p>
        </p:txBody>
      </p:sp>
      <p:sp>
        <p:nvSpPr>
          <p:cNvPr id="550" name="Snip Single Corner Rectangle 549"/>
          <p:cNvSpPr/>
          <p:nvPr/>
        </p:nvSpPr>
        <p:spPr>
          <a:xfrm>
            <a:off x="6172200" y="2011680"/>
            <a:ext cx="502920" cy="50292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+mj-lt"/>
              </a:rPr>
              <a:t>4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6858000" y="2011680"/>
            <a:ext cx="4617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+mj-lt"/>
              </a:rPr>
              <a:t>Интервью с подразделениями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6172200" y="274320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Цель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6172200" y="2990088"/>
            <a:ext cx="5303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+mn-lt"/>
              </a:rPr>
              <a:t>Получить картину процессов «как есть», найти технологические и организационные разрывы, сформировать требования к целевому ПО и процессам.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6172200" y="384048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Интервьюируем отделы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6172200" y="4096512"/>
            <a:ext cx="2560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архитектура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конструкции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отопление и вентиляция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водоснабжение и канализация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электротехнический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сети связи и слаботочные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8823960" y="4096512"/>
            <a:ext cx="2560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генплан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технология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сметчики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инженеры-расчётчики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ГИП / ГАП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ТИМ-отдел</a:t>
            </a:r>
          </a:p>
        </p:txBody>
      </p:sp>
      <p:sp>
        <p:nvSpPr>
          <p:cNvPr id="557" name="Snip Single Corner Rectangle 556"/>
          <p:cNvSpPr/>
          <p:nvPr/>
        </p:nvSpPr>
        <p:spPr>
          <a:xfrm>
            <a:off x="6172200" y="5440680"/>
            <a:ext cx="5303520" cy="50292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Результат: производственные требования к процессам и инструментам</a:t>
            </a:r>
          </a:p>
        </p:txBody>
      </p:sp>
      <p:sp>
        <p:nvSpPr>
          <p:cNvPr id="558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59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ЭТАПЫ</a:t>
            </a:r>
          </a:p>
        </p:txBody>
      </p:sp>
      <p:sp>
        <p:nvSpPr>
          <p:cNvPr id="560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61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62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63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4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65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Этапы 5–6: кадры и ТИМ-зрелость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502920" cy="50292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+mj-lt"/>
              </a:rPr>
              <a:t>5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280160" y="2011680"/>
            <a:ext cx="4617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+mj-lt"/>
              </a:rPr>
              <a:t>Анализ кадров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1280160" y="2487168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по запросу заказчика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594360" y="274320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Цель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594360" y="2990088"/>
            <a:ext cx="5303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+mn-lt"/>
              </a:rPr>
              <a:t>Оценить компетенции и готовность сотрудников к отечественному ПО и ТИМ, выявить дефициты, определить потребность в обучении.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594360" y="384048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Анкетирование и аттестация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594360" y="4096512"/>
            <a:ext cx="5303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возраст и стаж — в контексте обучения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уровень владения ПО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способность обучать других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дефицит компетенций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потребность в переобучении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проверка знаний после прошлого обучения</a:t>
            </a:r>
          </a:p>
        </p:txBody>
      </p:sp>
      <p:sp>
        <p:nvSpPr>
          <p:cNvPr id="550" name="Snip Single Corner Rectangle 549"/>
          <p:cNvSpPr/>
          <p:nvPr/>
        </p:nvSpPr>
        <p:spPr>
          <a:xfrm>
            <a:off x="594360" y="5440680"/>
            <a:ext cx="5303520" cy="50292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Результат: матрица компетенций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6172200" y="2011680"/>
            <a:ext cx="502920" cy="50292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+mj-lt"/>
              </a:rPr>
              <a:t>6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6858000" y="2011680"/>
            <a:ext cx="4617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+mj-lt"/>
              </a:rPr>
              <a:t>Аудит ТИМ-зрелости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6858000" y="2487168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при наличии ТИМ-процессов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6172200" y="274320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Цель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6172200" y="2990088"/>
            <a:ext cx="5303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+mn-lt"/>
              </a:rPr>
              <a:t>Определить текущий и целевой уровни ТИМ-зрелости, выявить разрывы, сформировать требования к процессам, технологиям, данным и компетенциям.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6172200" y="384048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Оцениваем 7 групп показателей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6172200" y="4096512"/>
            <a:ext cx="5303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процессы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информационная модель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совместная работа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стандарты и регламенты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технологии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люди и компетенции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ТИМ на жизненном цикле</a:t>
            </a:r>
          </a:p>
        </p:txBody>
      </p:sp>
      <p:sp>
        <p:nvSpPr>
          <p:cNvPr id="558" name="Snip Single Corner Rectangle 557"/>
          <p:cNvSpPr/>
          <p:nvPr/>
        </p:nvSpPr>
        <p:spPr>
          <a:xfrm>
            <a:off x="6172200" y="5440680"/>
            <a:ext cx="5303520" cy="50292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Результат: итоговая оценка ТИМ-зрелости</a:t>
            </a:r>
          </a:p>
        </p:txBody>
      </p:sp>
      <p:sp>
        <p:nvSpPr>
          <p:cNvPr id="559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60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ЭТАПЫ</a:t>
            </a:r>
          </a:p>
        </p:txBody>
      </p:sp>
      <p:sp>
        <p:nvSpPr>
          <p:cNvPr id="561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62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63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64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5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66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Этап 7: отчётные документы и дорожная карта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TextBox 542"/>
          <p:cNvSpPr txBox="1"/>
          <p:nvPr/>
        </p:nvSpPr>
        <p:spPr>
          <a:xfrm>
            <a:off x="594360" y="196596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+mn-lt"/>
              </a:rPr>
              <a:t>Входные данные этапов 1–6</a:t>
            </a:r>
          </a:p>
        </p:txBody>
      </p:sp>
      <p:sp>
        <p:nvSpPr>
          <p:cNvPr id="544" name="Snip Single Corner Rectangle 543"/>
          <p:cNvSpPr/>
          <p:nvPr/>
        </p:nvSpPr>
        <p:spPr>
          <a:xfrm>
            <a:off x="594360" y="2331720"/>
            <a:ext cx="3291840" cy="47548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Паспорт организации</a:t>
            </a:r>
          </a:p>
        </p:txBody>
      </p:sp>
      <p:sp>
        <p:nvSpPr>
          <p:cNvPr id="545" name="Snip Single Corner Rectangle 544"/>
          <p:cNvSpPr/>
          <p:nvPr/>
        </p:nvSpPr>
        <p:spPr>
          <a:xfrm>
            <a:off x="594360" y="2898648"/>
            <a:ext cx="3291840" cy="47548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Карта текущего ИТ-ландшафта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594360" y="3465576"/>
            <a:ext cx="3291840" cy="47548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Стратегические требования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594360" y="4032504"/>
            <a:ext cx="3291840" cy="47548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Производственные требования</a:t>
            </a:r>
          </a:p>
        </p:txBody>
      </p:sp>
      <p:sp>
        <p:nvSpPr>
          <p:cNvPr id="548" name="Snip Single Corner Rectangle 547"/>
          <p:cNvSpPr/>
          <p:nvPr/>
        </p:nvSpPr>
        <p:spPr>
          <a:xfrm>
            <a:off x="594360" y="4599432"/>
            <a:ext cx="3291840" cy="47548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Матрица компетенций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594360" y="5166360"/>
            <a:ext cx="3291840" cy="47548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Оценка ТИМ-зрелости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3977639" y="3566160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0">
                <a:solidFill>
                  <a:srgbClr val="0386FC"/>
                </a:solidFill>
                <a:latin typeface="+mn-lt"/>
              </a:rPr>
              <a:t>→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4526280" y="2331720"/>
            <a:ext cx="2834640" cy="3310128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2" name="TextBox 551"/>
          <p:cNvSpPr txBox="1"/>
          <p:nvPr/>
        </p:nvSpPr>
        <p:spPr>
          <a:xfrm>
            <a:off x="4754880" y="2514600"/>
            <a:ext cx="242316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FFFFFF"/>
                </a:solidFill>
                <a:latin typeface="+mj-lt"/>
              </a:rPr>
              <a:t>Анализ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FFFFFF"/>
                </a:solidFill>
                <a:latin typeface="+mn-lt"/>
              </a:rPr>
              <a:t>Систематизация данных всех этапов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FFFFFF"/>
                </a:solidFill>
                <a:latin typeface="+mn-lt"/>
              </a:rPr>
              <a:t>Сопоставление требований с текущим ландшафтом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FFFFFF"/>
                </a:solidFill>
                <a:latin typeface="+mn-lt"/>
              </a:rPr>
              <a:t>Рекомендации: что менять, что сохранить, что внедрять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7452360" y="3566160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0">
                <a:solidFill>
                  <a:srgbClr val="0386FC"/>
                </a:solidFill>
                <a:latin typeface="+mn-lt"/>
              </a:rPr>
              <a:t>→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8001000" y="196596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+mn-lt"/>
              </a:rPr>
              <a:t>Отчётные документы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8001000" y="2331720"/>
            <a:ext cx="3474720" cy="100584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6" name="TextBox 555"/>
          <p:cNvSpPr txBox="1"/>
          <p:nvPr/>
        </p:nvSpPr>
        <p:spPr>
          <a:xfrm>
            <a:off x="8183879" y="244144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386FC"/>
                </a:solidFill>
                <a:latin typeface="+mj-lt"/>
              </a:rPr>
              <a:t>Карта целевого ИТ-ландшафта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8183879" y="2807208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+mn-lt"/>
              </a:rPr>
              <a:t>с учётом стратегических и производственных требований</a:t>
            </a:r>
          </a:p>
        </p:txBody>
      </p:sp>
      <p:sp>
        <p:nvSpPr>
          <p:cNvPr id="558" name="Snip Single Corner Rectangle 557"/>
          <p:cNvSpPr/>
          <p:nvPr/>
        </p:nvSpPr>
        <p:spPr>
          <a:xfrm>
            <a:off x="8001000" y="3483863"/>
            <a:ext cx="3474720" cy="100584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9" name="TextBox 558"/>
          <p:cNvSpPr txBox="1"/>
          <p:nvPr/>
        </p:nvSpPr>
        <p:spPr>
          <a:xfrm>
            <a:off x="8183879" y="3593591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386FC"/>
                </a:solidFill>
                <a:latin typeface="+mj-lt"/>
              </a:rPr>
              <a:t>Матрица импортозамещения ПО</a:t>
            </a:r>
          </a:p>
        </p:txBody>
      </p:sp>
      <p:sp>
        <p:nvSpPr>
          <p:cNvPr id="560" name="TextBox 559"/>
          <p:cNvSpPr txBox="1"/>
          <p:nvPr/>
        </p:nvSpPr>
        <p:spPr>
          <a:xfrm>
            <a:off x="8183879" y="3959352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+mn-lt"/>
              </a:rPr>
              <a:t>что и чем замещать, по разделам</a:t>
            </a:r>
          </a:p>
        </p:txBody>
      </p:sp>
      <p:sp>
        <p:nvSpPr>
          <p:cNvPr id="561" name="Snip Single Corner Rectangle 560"/>
          <p:cNvSpPr/>
          <p:nvPr/>
        </p:nvSpPr>
        <p:spPr>
          <a:xfrm>
            <a:off x="8001000" y="4636007"/>
            <a:ext cx="3474720" cy="100584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2" name="TextBox 561"/>
          <p:cNvSpPr txBox="1"/>
          <p:nvPr/>
        </p:nvSpPr>
        <p:spPr>
          <a:xfrm>
            <a:off x="8183879" y="474573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386FC"/>
                </a:solidFill>
                <a:latin typeface="+mj-lt"/>
              </a:rPr>
              <a:t>Дорожная карта</a:t>
            </a:r>
          </a:p>
        </p:txBody>
      </p:sp>
      <p:sp>
        <p:nvSpPr>
          <p:cNvPr id="563" name="TextBox 562"/>
          <p:cNvSpPr txBox="1"/>
          <p:nvPr/>
        </p:nvSpPr>
        <p:spPr>
          <a:xfrm>
            <a:off x="8183879" y="5111496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+mn-lt"/>
              </a:rPr>
              <a:t>требования + ТИМ-зрелость + компетенции → план внедрения ПО</a:t>
            </a:r>
          </a:p>
        </p:txBody>
      </p:sp>
      <p:sp>
        <p:nvSpPr>
          <p:cNvPr id="564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65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ЭТАПЫ</a:t>
            </a:r>
          </a:p>
        </p:txBody>
      </p:sp>
      <p:sp>
        <p:nvSpPr>
          <p:cNvPr id="566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67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68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69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70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71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Прямоугольник: скругленные углы 4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40" name="Google Shape;529;p41"/>
          <p:cNvSpPr/>
          <p:nvPr/>
        </p:nvSpPr>
        <p:spPr>
          <a:xfrm>
            <a:off x="10015920" y="1959120"/>
            <a:ext cx="1341720" cy="84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en" sz="4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03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1" name="Google Shape;529;p41"/>
          <p:cNvSpPr/>
          <p:nvPr/>
        </p:nvSpPr>
        <p:spPr>
          <a:xfrm>
            <a:off x="3840480" y="3558240"/>
            <a:ext cx="7516368" cy="131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РЕЗУЛЬТАТ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АУДИТА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2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43" name="Прямая со стрелкой 8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44" name="TextBox 9"/>
          <p:cNvSpPr/>
          <p:nvPr/>
        </p:nvSpPr>
        <p:spPr>
          <a:xfrm>
            <a:off x="4663440" y="5093280"/>
            <a:ext cx="6693408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Не отчёт о текущем состоянии, а основа для управленческого решения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5" name="Прямоугольник: скругленные углы 10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cxnSp>
        <p:nvCxnSpPr>
          <p:cNvPr id="246" name="Прямая со стрелкой 1"/>
          <p:cNvCxnSpPr/>
          <p:nvPr/>
        </p:nvCxnSpPr>
        <p:spPr>
          <a:xfrm>
            <a:off x="5074200" y="4999320"/>
            <a:ext cx="619308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24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7381080" y="292752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Рисунок 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2">
            <a:extLst/>
          </a:blip>
          <a:stretch/>
        </p:blipFill>
        <p:spPr>
          <a:xfrm flipH="1">
            <a:off x="360" y="3371760"/>
            <a:ext cx="6197400" cy="34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59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260" name="nav">
            <a:hlinkClick action="ppaction://hlinksldjump" r:id="rId14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261" name="nav">
            <a:hlinkClick action="ppaction://hlinksldjump" r:id="rId6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РЕЗУЛЬТАТ</a:t>
            </a:r>
          </a:p>
        </p:txBody>
      </p:sp>
      <p:sp>
        <p:nvSpPr>
          <p:cNvPr id="262" name="nav">
            <a:hlinkClick action="ppaction://hlinksldjump" r:id="rId5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263" name="nav">
            <a:hlinkClick action="ppaction://hlinksldjump" r:id="rId4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264" name="nav">
            <a:hlinkClick action="ppaction://hlinksldjump" r:id="rId3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265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266" name="nav">
            <a:hlinkClick action="ppaction://hlinksldjump" r:id="rId11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Что получает заказчик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2258568" cy="11430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TextBox 543"/>
          <p:cNvSpPr txBox="1"/>
          <p:nvPr/>
        </p:nvSpPr>
        <p:spPr>
          <a:xfrm>
            <a:off x="777240" y="2121408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+mj-lt"/>
              </a:rPr>
              <a:t>Паспорт организации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777240" y="2724912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структура, направления, численность, стандарты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2990088" y="2011680"/>
            <a:ext cx="2258568" cy="11430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7" name="TextBox 546"/>
          <p:cNvSpPr txBox="1"/>
          <p:nvPr/>
        </p:nvSpPr>
        <p:spPr>
          <a:xfrm>
            <a:off x="3172968" y="2121408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+mj-lt"/>
              </a:rPr>
              <a:t>Карта текущего ИТ-ландшафта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3172968" y="2724912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ПО, серверы, форматы, связи и зависимости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5385816" y="2011680"/>
            <a:ext cx="2258568" cy="11430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0" name="TextBox 549"/>
          <p:cNvSpPr txBox="1"/>
          <p:nvPr/>
        </p:nvSpPr>
        <p:spPr>
          <a:xfrm>
            <a:off x="5568696" y="2121408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+mj-lt"/>
              </a:rPr>
              <a:t>Карта целевого ИТ-ландшафта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5568696" y="2724912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к чему идём и где границы каждого продукта</a:t>
            </a:r>
          </a:p>
        </p:txBody>
      </p:sp>
      <p:sp>
        <p:nvSpPr>
          <p:cNvPr id="552" name="Snip Single Corner Rectangle 551"/>
          <p:cNvSpPr/>
          <p:nvPr/>
        </p:nvSpPr>
        <p:spPr>
          <a:xfrm>
            <a:off x="594360" y="3291840"/>
            <a:ext cx="2258568" cy="11430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3" name="TextBox 552"/>
          <p:cNvSpPr txBox="1"/>
          <p:nvPr/>
        </p:nvSpPr>
        <p:spPr>
          <a:xfrm>
            <a:off x="777240" y="3401568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+mj-lt"/>
              </a:rPr>
              <a:t>Матрица импортозамещения ПО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777240" y="4005072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что и чем замещать по разделам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2990088" y="3291840"/>
            <a:ext cx="2258568" cy="11430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6" name="TextBox 555"/>
          <p:cNvSpPr txBox="1"/>
          <p:nvPr/>
        </p:nvSpPr>
        <p:spPr>
          <a:xfrm>
            <a:off x="3172968" y="3401568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+mj-lt"/>
              </a:rPr>
              <a:t>Стратегические требования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3172968" y="4005072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цели и ограничения руководства</a:t>
            </a:r>
          </a:p>
        </p:txBody>
      </p:sp>
      <p:sp>
        <p:nvSpPr>
          <p:cNvPr id="558" name="Snip Single Corner Rectangle 557"/>
          <p:cNvSpPr/>
          <p:nvPr/>
        </p:nvSpPr>
        <p:spPr>
          <a:xfrm>
            <a:off x="5385816" y="3291840"/>
            <a:ext cx="2258568" cy="11430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9" name="TextBox 558"/>
          <p:cNvSpPr txBox="1"/>
          <p:nvPr/>
        </p:nvSpPr>
        <p:spPr>
          <a:xfrm>
            <a:off x="5568696" y="3401568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+mj-lt"/>
              </a:rPr>
              <a:t>Производственные требования</a:t>
            </a:r>
          </a:p>
        </p:txBody>
      </p:sp>
      <p:sp>
        <p:nvSpPr>
          <p:cNvPr id="560" name="TextBox 559"/>
          <p:cNvSpPr txBox="1"/>
          <p:nvPr/>
        </p:nvSpPr>
        <p:spPr>
          <a:xfrm>
            <a:off x="5568696" y="4005072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разрывы процессов «как есть» по отделам</a:t>
            </a:r>
          </a:p>
        </p:txBody>
      </p:sp>
      <p:sp>
        <p:nvSpPr>
          <p:cNvPr id="561" name="Snip Single Corner Rectangle 560"/>
          <p:cNvSpPr/>
          <p:nvPr/>
        </p:nvSpPr>
        <p:spPr>
          <a:xfrm>
            <a:off x="594360" y="4572000"/>
            <a:ext cx="2258568" cy="11430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2" name="TextBox 561"/>
          <p:cNvSpPr txBox="1"/>
          <p:nvPr/>
        </p:nvSpPr>
        <p:spPr>
          <a:xfrm>
            <a:off x="777240" y="4681728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+mj-lt"/>
              </a:rPr>
              <a:t>Матрица компетенций</a:t>
            </a:r>
          </a:p>
        </p:txBody>
      </p:sp>
      <p:sp>
        <p:nvSpPr>
          <p:cNvPr id="563" name="TextBox 562"/>
          <p:cNvSpPr txBox="1"/>
          <p:nvPr/>
        </p:nvSpPr>
        <p:spPr>
          <a:xfrm>
            <a:off x="777240" y="5285232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кого и чему учить, кто может обучать</a:t>
            </a:r>
          </a:p>
        </p:txBody>
      </p:sp>
      <p:sp>
        <p:nvSpPr>
          <p:cNvPr id="564" name="Snip Single Corner Rectangle 563"/>
          <p:cNvSpPr/>
          <p:nvPr/>
        </p:nvSpPr>
        <p:spPr>
          <a:xfrm>
            <a:off x="2990088" y="4572000"/>
            <a:ext cx="2258568" cy="11430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5" name="TextBox 564"/>
          <p:cNvSpPr txBox="1"/>
          <p:nvPr/>
        </p:nvSpPr>
        <p:spPr>
          <a:xfrm>
            <a:off x="3172968" y="4681728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+mj-lt"/>
              </a:rPr>
              <a:t>Оценка ТИМ-зрелости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3172968" y="5285232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текущий и целевой уровень по 7 группам</a:t>
            </a:r>
          </a:p>
        </p:txBody>
      </p:sp>
      <p:sp>
        <p:nvSpPr>
          <p:cNvPr id="567" name="Snip Single Corner Rectangle 566"/>
          <p:cNvSpPr/>
          <p:nvPr/>
        </p:nvSpPr>
        <p:spPr>
          <a:xfrm>
            <a:off x="5385816" y="4572000"/>
            <a:ext cx="2258568" cy="11430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8" name="TextBox 567"/>
          <p:cNvSpPr txBox="1"/>
          <p:nvPr/>
        </p:nvSpPr>
        <p:spPr>
          <a:xfrm>
            <a:off x="5568696" y="4681728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+mj-lt"/>
              </a:rPr>
              <a:t>Дорожная карта</a:t>
            </a:r>
          </a:p>
        </p:txBody>
      </p:sp>
      <p:sp>
        <p:nvSpPr>
          <p:cNvPr id="569" name="TextBox 568"/>
          <p:cNvSpPr txBox="1"/>
          <p:nvPr/>
        </p:nvSpPr>
        <p:spPr>
          <a:xfrm>
            <a:off x="5568696" y="5285232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+mn-lt"/>
              </a:rPr>
              <a:t>последовательность, ресурсы, сроки</a:t>
            </a:r>
          </a:p>
        </p:txBody>
      </p:sp>
      <p:sp>
        <p:nvSpPr>
          <p:cNvPr id="570" name="Snip Single Corner Rectangle 569"/>
          <p:cNvSpPr/>
          <p:nvPr/>
        </p:nvSpPr>
        <p:spPr>
          <a:xfrm>
            <a:off x="7909560" y="2011680"/>
            <a:ext cx="3566160" cy="370332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1" name="TextBox 570"/>
          <p:cNvSpPr txBox="1"/>
          <p:nvPr/>
        </p:nvSpPr>
        <p:spPr>
          <a:xfrm>
            <a:off x="8138160" y="2194560"/>
            <a:ext cx="315468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280"/>
                </a:solidFill>
                <a:latin typeface="+mn-lt"/>
              </a:rPr>
              <a:t>Не отчёт о текущем состоянии,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а основа для управленческого решения: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+mn-lt"/>
              </a:rPr>
              <a:t>что менять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+mn-lt"/>
              </a:rPr>
              <a:t>что не менять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+mn-lt"/>
              </a:rPr>
              <a:t>что внедрять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+mn-lt"/>
              </a:rPr>
              <a:t>в какой последовательности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+mn-lt"/>
              </a:rPr>
              <a:t>какие ресурсы и компетенции потребуются</a:t>
            </a:r>
          </a:p>
        </p:txBody>
      </p:sp>
      <p:sp>
        <p:nvSpPr>
          <p:cNvPr id="572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73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74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РЕЗУЛЬТАТ</a:t>
            </a:r>
          </a:p>
        </p:txBody>
      </p:sp>
      <p:sp>
        <p:nvSpPr>
          <p:cNvPr id="575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76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77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78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79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Что аудит даёт каждому участнику решения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2560320" cy="3749039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TextBox 543"/>
          <p:cNvSpPr txBox="1"/>
          <p:nvPr/>
        </p:nvSpPr>
        <p:spPr>
          <a:xfrm>
            <a:off x="822960" y="2194560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386FC"/>
                </a:solidFill>
                <a:latin typeface="+mj-lt"/>
              </a:rPr>
              <a:t>Директору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822960" y="2971800"/>
            <a:ext cx="214884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Обоснование бюджета перехода</a:t>
            </a:r>
          </a:p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Понятные риски и сроки</a:t>
            </a:r>
          </a:p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Решения по приоритетам, а не по брендам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3364991" y="2011680"/>
            <a:ext cx="2560320" cy="3749039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7" name="TextBox 546"/>
          <p:cNvSpPr txBox="1"/>
          <p:nvPr/>
        </p:nvSpPr>
        <p:spPr>
          <a:xfrm>
            <a:off x="3593591" y="2194560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386FC"/>
                </a:solidFill>
                <a:latin typeface="+mj-lt"/>
              </a:rPr>
              <a:t>Менеджеру по развитию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3593591" y="2971800"/>
            <a:ext cx="214884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Где технология даст рост производительности</a:t>
            </a:r>
          </a:p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Какие компетенции развивать</a:t>
            </a:r>
          </a:p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Аргументы для заказчиков с требованиями к ТИМ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6135623" y="2011680"/>
            <a:ext cx="2560320" cy="3749039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0" name="TextBox 549"/>
          <p:cNvSpPr txBox="1"/>
          <p:nvPr/>
        </p:nvSpPr>
        <p:spPr>
          <a:xfrm>
            <a:off x="6364223" y="2194560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386FC"/>
                </a:solidFill>
                <a:latin typeface="+mj-lt"/>
              </a:rPr>
              <a:t>ИТ-службе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6364223" y="2971800"/>
            <a:ext cx="214884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Инвентаризация ПО, лицензий и серверов</a:t>
            </a:r>
          </a:p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Карта зависимостей и форматов</a:t>
            </a:r>
          </a:p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Целевая архитектура и план миграции</a:t>
            </a:r>
          </a:p>
        </p:txBody>
      </p:sp>
      <p:sp>
        <p:nvSpPr>
          <p:cNvPr id="552" name="Snip Single Corner Rectangle 551"/>
          <p:cNvSpPr/>
          <p:nvPr/>
        </p:nvSpPr>
        <p:spPr>
          <a:xfrm>
            <a:off x="8906255" y="2011680"/>
            <a:ext cx="2560320" cy="3749039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3" name="TextBox 552"/>
          <p:cNvSpPr txBox="1"/>
          <p:nvPr/>
        </p:nvSpPr>
        <p:spPr>
          <a:xfrm>
            <a:off x="9134855" y="2194560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386FC"/>
                </a:solidFill>
                <a:latin typeface="+mj-lt"/>
              </a:rPr>
              <a:t>Цифровой трансформации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9134855" y="2971800"/>
            <a:ext cx="214884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Оценка ТИМ-зрелости и разрывов</a:t>
            </a:r>
          </a:p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Требования подразделений в одном документе</a:t>
            </a:r>
          </a:p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Дорожная карта с этапами и ресурсами</a:t>
            </a:r>
          </a:p>
        </p:txBody>
      </p:sp>
      <p:sp>
        <p:nvSpPr>
          <p:cNvPr id="555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56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57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РЕЗУЛЬТАТ</a:t>
            </a:r>
          </a:p>
        </p:txBody>
      </p:sp>
      <p:sp>
        <p:nvSpPr>
          <p:cNvPr id="558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59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60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1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62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Пример: карта целевого ИТ-ландшафта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3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43" name="Picture 542" descr="landscap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4360" y="1920240"/>
            <a:ext cx="7202658" cy="4023360"/>
          </a:xfrm>
          <a:prstGeom prst="rect">
            <a:avLst/>
          </a:prstGeom>
        </p:spPr>
      </p:pic>
      <p:sp>
        <p:nvSpPr>
          <p:cNvPr id="544" name="TextBox 543"/>
          <p:cNvSpPr txBox="1"/>
          <p:nvPr/>
        </p:nvSpPr>
        <p:spPr>
          <a:xfrm>
            <a:off x="7909560" y="2011680"/>
            <a:ext cx="356616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Что показывает карта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Рабочие места подразделений и центр обработки данных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Классы ПО: САПР, ТИМ, СУИД, ОС, СУБД, ИБ, виртуализация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Связи и точки обмена данными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Отечественные решения разных разработчиков в одном контуре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Обезличенный пример из проектов Нормасофт.</a:t>
            </a:r>
          </a:p>
        </p:txBody>
      </p:sp>
      <p:sp>
        <p:nvSpPr>
          <p:cNvPr id="546" name="nav">
            <a:hlinkClick action="ppaction://hlinksldjump" r:id="rId5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47" name="nav">
            <a:hlinkClick action="ppaction://hlinksldjump" r:id="rId4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48" name="nav">
            <a:hlinkClick action="ppaction://hlinksldjump" r:id="rId16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РЕЗУЛЬТАТ</a:t>
            </a:r>
          </a:p>
        </p:txBody>
      </p:sp>
      <p:sp>
        <p:nvSpPr>
          <p:cNvPr id="549" name="nav">
            <a:hlinkClick action="ppaction://hlinksldjump" r:id="rId17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50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51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52" name="nav">
            <a:hlinkClick action="ppaction://hlinksldjump" r:id="rId18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53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Пример: матрица выбора ПО по разделам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3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43" name="Picture 542" descr="matr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4360" y="1920240"/>
            <a:ext cx="5877407" cy="3977639"/>
          </a:xfrm>
          <a:prstGeom prst="rect">
            <a:avLst/>
          </a:prstGeom>
        </p:spPr>
      </p:pic>
      <p:sp>
        <p:nvSpPr>
          <p:cNvPr id="544" name="TextBox 543"/>
          <p:cNvSpPr txBox="1"/>
          <p:nvPr/>
        </p:nvSpPr>
        <p:spPr>
          <a:xfrm>
            <a:off x="6720840" y="2011680"/>
            <a:ext cx="47548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Как выбираем решение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Оценка по 7 критериям: чертежи, специализация, расчёты, управление информацией, детализация, открытые форматы, совместная работа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Коэффициенты значимости — из требований заказчика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Итог по каждому разделу: рекомендуемое ПО и число рабочих мест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Сравниваем решения разных разработчиков, без привязки к бренду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Обезличенный пример из проектов Нормасофт.</a:t>
            </a:r>
          </a:p>
        </p:txBody>
      </p:sp>
      <p:sp>
        <p:nvSpPr>
          <p:cNvPr id="546" name="nav">
            <a:hlinkClick action="ppaction://hlinksldjump" r:id="rId5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47" name="nav">
            <a:hlinkClick action="ppaction://hlinksldjump" r:id="rId4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48" name="nav">
            <a:hlinkClick action="ppaction://hlinksldjump" r:id="rId16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РЕЗУЛЬТАТ</a:t>
            </a:r>
          </a:p>
        </p:txBody>
      </p:sp>
      <p:sp>
        <p:nvSpPr>
          <p:cNvPr id="549" name="nav">
            <a:hlinkClick action="ppaction://hlinksldjump" r:id="rId17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50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51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52" name="nav">
            <a:hlinkClick action="ppaction://hlinksldjump" r:id="rId18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53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Аудит — небольшая инвестиция перед большой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3474720" cy="173736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TextBox 543"/>
          <p:cNvSpPr txBox="1"/>
          <p:nvPr/>
        </p:nvSpPr>
        <p:spPr>
          <a:xfrm>
            <a:off x="868680" y="214884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0386FC"/>
                </a:solidFill>
                <a:latin typeface="+mj-lt"/>
              </a:rPr>
              <a:t>5 млн ₽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868680" y="292608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программа изменений: лицензии, обучение, доработки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4297680" y="2011680"/>
            <a:ext cx="3474720" cy="173736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7" name="TextBox 546"/>
          <p:cNvSpPr txBox="1"/>
          <p:nvPr/>
        </p:nvSpPr>
        <p:spPr>
          <a:xfrm>
            <a:off x="4572000" y="214884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0386FC"/>
                </a:solidFill>
                <a:latin typeface="+mj-lt"/>
              </a:rPr>
              <a:t>300 тыс. ₽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4572000" y="292608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стоимость аудита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8001000" y="2011680"/>
            <a:ext cx="3474720" cy="173736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0" name="TextBox 549"/>
          <p:cNvSpPr txBox="1"/>
          <p:nvPr/>
        </p:nvSpPr>
        <p:spPr>
          <a:xfrm>
            <a:off x="8275320" y="214884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+mj-lt"/>
              </a:rPr>
              <a:t>6%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8275320" y="292608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+mn-lt"/>
              </a:rPr>
              <a:t>неэффективных затрат достаточно предотвратить, чтобы аудит окупился</a:t>
            </a:r>
          </a:p>
        </p:txBody>
      </p:sp>
      <p:sp>
        <p:nvSpPr>
          <p:cNvPr id="552" name="Snip Single Corner Rectangle 551"/>
          <p:cNvSpPr/>
          <p:nvPr/>
        </p:nvSpPr>
        <p:spPr>
          <a:xfrm>
            <a:off x="594360" y="4023360"/>
            <a:ext cx="10881360" cy="169164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3" name="TextBox 552"/>
          <p:cNvSpPr txBox="1"/>
          <p:nvPr/>
        </p:nvSpPr>
        <p:spPr>
          <a:xfrm>
            <a:off x="868680" y="416052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Дальше задача аудита — не только сэкономить, </a:t>
            </a:r>
            <a:r>
              <a:rPr sz="1400" b="0">
                <a:solidFill>
                  <a:srgbClr val="1A1A1A"/>
                </a:solidFill>
                <a:latin typeface="+mn-lt"/>
              </a:rPr>
              <a:t>а определить, где технология создаст дополнительную производительность и пропускную способность отдела.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+mn-lt"/>
              </a:rPr>
              <a:t>Типичные неэффективные затраты: лицензии, которые не используются; ПО, не закрывающее требования разделов; переделки из-за несовместимых форматов; обучение не тех людей и не тому.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Пример расчёта; суммы — условные.</a:t>
            </a:r>
          </a:p>
        </p:txBody>
      </p:sp>
      <p:sp>
        <p:nvSpPr>
          <p:cNvPr id="555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56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57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РЕЗУЛЬТАТ</a:t>
            </a:r>
          </a:p>
        </p:txBody>
      </p:sp>
      <p:sp>
        <p:nvSpPr>
          <p:cNvPr id="558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59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60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1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62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Прямоугольник: скругленные углы 4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40" name="Google Shape;529;p41"/>
          <p:cNvSpPr/>
          <p:nvPr/>
        </p:nvSpPr>
        <p:spPr>
          <a:xfrm>
            <a:off x="10015920" y="1959120"/>
            <a:ext cx="1341720" cy="84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en" sz="4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04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1" name="Google Shape;529;p41"/>
          <p:cNvSpPr/>
          <p:nvPr/>
        </p:nvSpPr>
        <p:spPr>
          <a:xfrm>
            <a:off x="3840480" y="3558240"/>
            <a:ext cx="7516368" cy="131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КЕЙСЫ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2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43" name="Прямая со стрелкой 8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44" name="TextBox 9"/>
          <p:cNvSpPr/>
          <p:nvPr/>
        </p:nvSpPr>
        <p:spPr>
          <a:xfrm>
            <a:off x="4663440" y="5093280"/>
            <a:ext cx="6693408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Задача, выполненная работа и подтверждённый результат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5" name="Прямоугольник: скругленные углы 10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cxnSp>
        <p:nvCxnSpPr>
          <p:cNvPr id="246" name="Прямая со стрелкой 1"/>
          <p:cNvCxnSpPr/>
          <p:nvPr/>
        </p:nvCxnSpPr>
        <p:spPr>
          <a:xfrm>
            <a:off x="5074200" y="4999320"/>
            <a:ext cx="619308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24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7381080" y="292752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Рисунок 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2">
            <a:extLst/>
          </a:blip>
          <a:stretch/>
        </p:blipFill>
        <p:spPr>
          <a:xfrm flipH="1">
            <a:off x="360" y="3371760"/>
            <a:ext cx="6197400" cy="34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59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260" name="nav">
            <a:hlinkClick action="ppaction://hlinksldjump" r:id="rId14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261" name="nav">
            <a:hlinkClick action="ppaction://hlinksldjump" r:id="rId6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262" name="nav">
            <a:hlinkClick action="ppaction://hlinksldjump" r:id="rId5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КЕЙСЫ</a:t>
            </a:r>
          </a:p>
        </p:txBody>
      </p:sp>
      <p:sp>
        <p:nvSpPr>
          <p:cNvPr id="263" name="nav">
            <a:hlinkClick action="ppaction://hlinksldjump" r:id="rId4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264" name="nav">
            <a:hlinkClick action="ppaction://hlinksldjump" r:id="rId3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265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266" name="nav">
            <a:hlinkClick action="ppaction://hlinksldjump" r:id="rId11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Кейс 1: «БЭСК Инжиниринг» — ТИМ для энергообъектов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3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1965960"/>
            <a:ext cx="1783080" cy="603504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1">
                <a:solidFill>
                  <a:srgbClr val="1A1A1A"/>
                </a:solidFill>
                <a:latin typeface="+mj-lt"/>
              </a:rPr>
              <a:t>Контекст</a:t>
            </a:r>
          </a:p>
        </p:txBody>
      </p:sp>
      <p:sp>
        <p:nvSpPr>
          <p:cNvPr id="544" name="Snip Single Corner Rectangle 543"/>
          <p:cNvSpPr/>
          <p:nvPr/>
        </p:nvSpPr>
        <p:spPr>
          <a:xfrm>
            <a:off x="2450592" y="1965960"/>
            <a:ext cx="5230368" cy="603504"/>
          </a:xfrm>
          <a:prstGeom prst="snip1Rect">
            <a:avLst/>
          </a:prstGeom>
          <a:noFill/>
          <a:ln w="1270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5" name="TextBox 544"/>
          <p:cNvSpPr txBox="1"/>
          <p:nvPr/>
        </p:nvSpPr>
        <p:spPr>
          <a:xfrm>
            <a:off x="2560320" y="1965960"/>
            <a:ext cx="5029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+mn-lt"/>
              </a:rPr>
              <a:t>Проектирование и строительство объектов электросетевого хозяйства полного цикла; одна из первых компаний в России, внедряющих SmartGrid.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594360" y="2624328"/>
            <a:ext cx="1783080" cy="603504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1">
                <a:solidFill>
                  <a:srgbClr val="1A1A1A"/>
                </a:solidFill>
                <a:latin typeface="+mj-lt"/>
              </a:rPr>
              <a:t>Задача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2450592" y="2624328"/>
            <a:ext cx="5230368" cy="603504"/>
          </a:xfrm>
          <a:prstGeom prst="snip1Rect">
            <a:avLst/>
          </a:prstGeom>
          <a:noFill/>
          <a:ln w="1270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8" name="TextBox 547"/>
          <p:cNvSpPr txBox="1"/>
          <p:nvPr/>
        </p:nvSpPr>
        <p:spPr>
          <a:xfrm>
            <a:off x="2560320" y="2624328"/>
            <a:ext cx="5029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+mn-lt"/>
              </a:rPr>
              <a:t>Перейти на ТИМ: информационные модели с выпуском чертежей и спецификаций, корпоративный ТИМ-стандарт, эффективное проектирование ОРУ, кабельного хозяйства и молниезащиты.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594360" y="3282696"/>
            <a:ext cx="1783080" cy="603504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1">
                <a:solidFill>
                  <a:srgbClr val="1A1A1A"/>
                </a:solidFill>
                <a:latin typeface="+mj-lt"/>
              </a:rPr>
              <a:t>ИТ-ландшафт</a:t>
            </a:r>
          </a:p>
        </p:txBody>
      </p:sp>
      <p:sp>
        <p:nvSpPr>
          <p:cNvPr id="550" name="Snip Single Corner Rectangle 549"/>
          <p:cNvSpPr/>
          <p:nvPr/>
        </p:nvSpPr>
        <p:spPr>
          <a:xfrm>
            <a:off x="2450592" y="3282696"/>
            <a:ext cx="5230368" cy="603504"/>
          </a:xfrm>
          <a:prstGeom prst="snip1Rect">
            <a:avLst/>
          </a:prstGeom>
          <a:noFill/>
          <a:ln w="1270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1" name="TextBox 550"/>
          <p:cNvSpPr txBox="1"/>
          <p:nvPr/>
        </p:nvSpPr>
        <p:spPr>
          <a:xfrm>
            <a:off x="2560320" y="3282696"/>
            <a:ext cx="5029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+mn-lt"/>
              </a:rPr>
              <a:t>Связка решений разных разработчиков: nanoCAD BIM Строительство (КР, АР в DWG), Model Studio CS (ОРУ, кабельное хозяйство, молниезащита), CADLib Модель и Архив, IFC.</a:t>
            </a:r>
          </a:p>
        </p:txBody>
      </p:sp>
      <p:sp>
        <p:nvSpPr>
          <p:cNvPr id="552" name="Snip Single Corner Rectangle 551"/>
          <p:cNvSpPr/>
          <p:nvPr/>
        </p:nvSpPr>
        <p:spPr>
          <a:xfrm>
            <a:off x="594360" y="3941063"/>
            <a:ext cx="1783080" cy="603504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1">
                <a:solidFill>
                  <a:srgbClr val="1A1A1A"/>
                </a:solidFill>
                <a:latin typeface="+mj-lt"/>
              </a:rPr>
              <a:t>Роль Нормасофт</a:t>
            </a:r>
          </a:p>
        </p:txBody>
      </p:sp>
      <p:sp>
        <p:nvSpPr>
          <p:cNvPr id="553" name="Snip Single Corner Rectangle 552"/>
          <p:cNvSpPr/>
          <p:nvPr/>
        </p:nvSpPr>
        <p:spPr>
          <a:xfrm>
            <a:off x="2450592" y="3941063"/>
            <a:ext cx="5230368" cy="603504"/>
          </a:xfrm>
          <a:prstGeom prst="snip1Rect">
            <a:avLst/>
          </a:prstGeom>
          <a:noFill/>
          <a:ln w="1270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4" name="TextBox 553"/>
          <p:cNvSpPr txBox="1"/>
          <p:nvPr/>
        </p:nvSpPr>
        <p:spPr>
          <a:xfrm>
            <a:off x="2560320" y="3941063"/>
            <a:ext cx="5029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+mn-lt"/>
              </a:rPr>
              <a:t>Внедрение обеих связок, пилотный проект, корпоративный ТИМ-стандарт по итогам пилота, обучение сотрудников работе в новой среде.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594360" y="4599431"/>
            <a:ext cx="1783080" cy="603504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1">
                <a:solidFill>
                  <a:srgbClr val="FFFFFF"/>
                </a:solidFill>
                <a:latin typeface="+mj-lt"/>
              </a:rPr>
              <a:t>Результат</a:t>
            </a:r>
          </a:p>
        </p:txBody>
      </p:sp>
      <p:sp>
        <p:nvSpPr>
          <p:cNvPr id="556" name="Snip Single Corner Rectangle 555"/>
          <p:cNvSpPr/>
          <p:nvPr/>
        </p:nvSpPr>
        <p:spPr>
          <a:xfrm>
            <a:off x="2450592" y="4599431"/>
            <a:ext cx="5230368" cy="603504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7" name="TextBox 556"/>
          <p:cNvSpPr txBox="1"/>
          <p:nvPr/>
        </p:nvSpPr>
        <p:spPr>
          <a:xfrm>
            <a:off x="2560320" y="4599431"/>
            <a:ext cx="5029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+mn-lt"/>
              </a:rPr>
              <a:t>Единая среда ЦИМ для всех отделов; автоматический выпуск документации и спецификаций; выгрузка IFC в экспертизу; коллизии выявляются до стройки, согласования быстрее.</a:t>
            </a:r>
          </a:p>
        </p:txBody>
      </p:sp>
      <p:sp>
        <p:nvSpPr>
          <p:cNvPr id="558" name="Snip Single Corner Rectangle 557"/>
          <p:cNvSpPr/>
          <p:nvPr/>
        </p:nvSpPr>
        <p:spPr>
          <a:xfrm>
            <a:off x="594360" y="5257799"/>
            <a:ext cx="1783080" cy="603504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1">
                <a:solidFill>
                  <a:srgbClr val="1A1A1A"/>
                </a:solidFill>
                <a:latin typeface="+mj-lt"/>
              </a:rPr>
              <a:t>Применимость</a:t>
            </a:r>
          </a:p>
        </p:txBody>
      </p:sp>
      <p:sp>
        <p:nvSpPr>
          <p:cNvPr id="559" name="Snip Single Corner Rectangle 558"/>
          <p:cNvSpPr/>
          <p:nvPr/>
        </p:nvSpPr>
        <p:spPr>
          <a:xfrm>
            <a:off x="2450592" y="5257799"/>
            <a:ext cx="5230368" cy="603504"/>
          </a:xfrm>
          <a:prstGeom prst="snip1Rect">
            <a:avLst/>
          </a:prstGeom>
          <a:noFill/>
          <a:ln w="1270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0" name="TextBox 559"/>
          <p:cNvSpPr txBox="1"/>
          <p:nvPr/>
        </p:nvSpPr>
        <p:spPr>
          <a:xfrm>
            <a:off x="2560320" y="5257799"/>
            <a:ext cx="5029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+mn-lt"/>
              </a:rPr>
              <a:t>Межвендорная архитектура под задачи разделов и стандарт из пилота — то, что аудит закладывает в целевой ИТ-ландшафт и дорожную карту.</a:t>
            </a:r>
          </a:p>
        </p:txBody>
      </p:sp>
      <p:pic>
        <p:nvPicPr>
          <p:cNvPr id="561" name="Picture 560" descr="besk_mode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63840" y="1965960"/>
            <a:ext cx="3611880" cy="3039594"/>
          </a:xfrm>
          <a:prstGeom prst="rect">
            <a:avLst/>
          </a:prstGeom>
        </p:spPr>
      </p:pic>
      <p:sp>
        <p:nvSpPr>
          <p:cNvPr id="562" name="TextBox 561"/>
          <p:cNvSpPr txBox="1"/>
          <p:nvPr/>
        </p:nvSpPr>
        <p:spPr>
          <a:xfrm>
            <a:off x="7863840" y="557784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Информационная модель объекта</a:t>
            </a:r>
          </a:p>
        </p:txBody>
      </p:sp>
      <p:sp>
        <p:nvSpPr>
          <p:cNvPr id="563" name="nav">
            <a:hlinkClick action="ppaction://hlinksldjump" r:id="rId5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64" name="nav">
            <a:hlinkClick action="ppaction://hlinksldjump" r:id="rId4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65" name="nav">
            <a:hlinkClick action="ppaction://hlinksldjump" r:id="rId16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66" name="nav">
            <a:hlinkClick action="ppaction://hlinksldjump" r:id="rId17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КЕЙСЫ</a:t>
            </a:r>
          </a:p>
        </p:txBody>
      </p:sp>
      <p:sp>
        <p:nvSpPr>
          <p:cNvPr id="567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68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9" name="nav">
            <a:hlinkClick action="ppaction://hlinksldjump" r:id="rId18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70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Кейс 2: «Т Плюс» — единая САПР-платформа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1965960"/>
            <a:ext cx="1783080" cy="603504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1">
                <a:solidFill>
                  <a:srgbClr val="1A1A1A"/>
                </a:solidFill>
                <a:latin typeface="+mj-lt"/>
              </a:rPr>
              <a:t>Контекст</a:t>
            </a:r>
          </a:p>
        </p:txBody>
      </p:sp>
      <p:sp>
        <p:nvSpPr>
          <p:cNvPr id="544" name="Snip Single Corner Rectangle 543"/>
          <p:cNvSpPr/>
          <p:nvPr/>
        </p:nvSpPr>
        <p:spPr>
          <a:xfrm>
            <a:off x="2450592" y="1965960"/>
            <a:ext cx="5230368" cy="603504"/>
          </a:xfrm>
          <a:prstGeom prst="snip1Rect">
            <a:avLst/>
          </a:prstGeom>
          <a:noFill/>
          <a:ln w="1270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5" name="TextBox 544"/>
          <p:cNvSpPr txBox="1"/>
          <p:nvPr/>
        </p:nvSpPr>
        <p:spPr>
          <a:xfrm>
            <a:off x="2560320" y="1965960"/>
            <a:ext cx="5029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+mn-lt"/>
              </a:rPr>
              <a:t>Одна из крупнейших энергокомпаний России: 53 электростанции в 16 регионах. САПР используется для проектирования и модернизации энергообъектов.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594360" y="2624328"/>
            <a:ext cx="1783080" cy="603504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1">
                <a:solidFill>
                  <a:srgbClr val="1A1A1A"/>
                </a:solidFill>
                <a:latin typeface="+mj-lt"/>
              </a:rPr>
              <a:t>Задача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2450592" y="2624328"/>
            <a:ext cx="5230368" cy="603504"/>
          </a:xfrm>
          <a:prstGeom prst="snip1Rect">
            <a:avLst/>
          </a:prstGeom>
          <a:noFill/>
          <a:ln w="1270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8" name="TextBox 547"/>
          <p:cNvSpPr txBox="1"/>
          <p:nvPr/>
        </p:nvSpPr>
        <p:spPr>
          <a:xfrm>
            <a:off x="2560320" y="2624328"/>
            <a:ext cx="5029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+mn-lt"/>
              </a:rPr>
              <a:t>Заменить AutoCAD после ухода с рынка, унифицировать разрозненные САПР, автоматизировать развёртывание и обновление ПО, получить единую систему управления лицензиями.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594360" y="3282696"/>
            <a:ext cx="1783080" cy="603504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1">
                <a:solidFill>
                  <a:srgbClr val="1A1A1A"/>
                </a:solidFill>
                <a:latin typeface="+mj-lt"/>
              </a:rPr>
              <a:t>ИТ-ландшафт</a:t>
            </a:r>
          </a:p>
        </p:txBody>
      </p:sp>
      <p:sp>
        <p:nvSpPr>
          <p:cNvPr id="550" name="Snip Single Corner Rectangle 549"/>
          <p:cNvSpPr/>
          <p:nvPr/>
        </p:nvSpPr>
        <p:spPr>
          <a:xfrm>
            <a:off x="2450592" y="3282696"/>
            <a:ext cx="5230368" cy="603504"/>
          </a:xfrm>
          <a:prstGeom prst="snip1Rect">
            <a:avLst/>
          </a:prstGeom>
          <a:noFill/>
          <a:ln w="1270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1" name="TextBox 550"/>
          <p:cNvSpPr txBox="1"/>
          <p:nvPr/>
        </p:nvSpPr>
        <p:spPr>
          <a:xfrm>
            <a:off x="2560320" y="3282696"/>
            <a:ext cx="5029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+mn-lt"/>
              </a:rPr>
              <a:t>Было: AutoCAD, Компас-3D и nanoCAD параллельно. Стало: Платформа nanoCAD с модулями и специализированными решениями «Стройплощадка» и «Металлоконструкции».</a:t>
            </a:r>
          </a:p>
        </p:txBody>
      </p:sp>
      <p:sp>
        <p:nvSpPr>
          <p:cNvPr id="552" name="Snip Single Corner Rectangle 551"/>
          <p:cNvSpPr/>
          <p:nvPr/>
        </p:nvSpPr>
        <p:spPr>
          <a:xfrm>
            <a:off x="594360" y="3941063"/>
            <a:ext cx="1783080" cy="603504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1">
                <a:solidFill>
                  <a:srgbClr val="1A1A1A"/>
                </a:solidFill>
                <a:latin typeface="+mj-lt"/>
              </a:rPr>
              <a:t>Роль Нормасофт</a:t>
            </a:r>
          </a:p>
        </p:txBody>
      </p:sp>
      <p:sp>
        <p:nvSpPr>
          <p:cNvPr id="553" name="Snip Single Corner Rectangle 552"/>
          <p:cNvSpPr/>
          <p:nvPr/>
        </p:nvSpPr>
        <p:spPr>
          <a:xfrm>
            <a:off x="2450592" y="3941063"/>
            <a:ext cx="5230368" cy="603504"/>
          </a:xfrm>
          <a:prstGeom prst="snip1Rect">
            <a:avLst/>
          </a:prstGeom>
          <a:noFill/>
          <a:ln w="1270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4" name="TextBox 553"/>
          <p:cNvSpPr txBox="1"/>
          <p:nvPr/>
        </p:nvSpPr>
        <p:spPr>
          <a:xfrm>
            <a:off x="2560320" y="3941063"/>
            <a:ext cx="5029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+mn-lt"/>
              </a:rPr>
              <a:t>Внедрение единой платформы, развёртывание сетевых лицензий, настройка централизованного управления лицензиями и обновлениями.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594360" y="4599431"/>
            <a:ext cx="1783080" cy="603504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1">
                <a:solidFill>
                  <a:srgbClr val="FFFFFF"/>
                </a:solidFill>
                <a:latin typeface="+mj-lt"/>
              </a:rPr>
              <a:t>Результат</a:t>
            </a:r>
          </a:p>
        </p:txBody>
      </p:sp>
      <p:sp>
        <p:nvSpPr>
          <p:cNvPr id="556" name="Snip Single Corner Rectangle 555"/>
          <p:cNvSpPr/>
          <p:nvPr/>
        </p:nvSpPr>
        <p:spPr>
          <a:xfrm>
            <a:off x="2450592" y="4599431"/>
            <a:ext cx="5230368" cy="603504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7" name="TextBox 556"/>
          <p:cNvSpPr txBox="1"/>
          <p:nvPr/>
        </p:nvSpPr>
        <p:spPr>
          <a:xfrm>
            <a:off x="2560320" y="4599431"/>
            <a:ext cx="5029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+mn-lt"/>
              </a:rPr>
              <a:t>Более 1 000 рабочих мест на одной платформе; ~245 сетевых лицензий с оптимизацией затрат; ниже издержки на управление ПО; безопасность данных и импортозамещение.</a:t>
            </a:r>
          </a:p>
        </p:txBody>
      </p:sp>
      <p:sp>
        <p:nvSpPr>
          <p:cNvPr id="558" name="Snip Single Corner Rectangle 557"/>
          <p:cNvSpPr/>
          <p:nvPr/>
        </p:nvSpPr>
        <p:spPr>
          <a:xfrm>
            <a:off x="594360" y="5257799"/>
            <a:ext cx="1783080" cy="603504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1">
                <a:solidFill>
                  <a:srgbClr val="1A1A1A"/>
                </a:solidFill>
                <a:latin typeface="+mj-lt"/>
              </a:rPr>
              <a:t>Применимость</a:t>
            </a:r>
          </a:p>
        </p:txBody>
      </p:sp>
      <p:sp>
        <p:nvSpPr>
          <p:cNvPr id="559" name="Snip Single Corner Rectangle 558"/>
          <p:cNvSpPr/>
          <p:nvPr/>
        </p:nvSpPr>
        <p:spPr>
          <a:xfrm>
            <a:off x="2450592" y="5257799"/>
            <a:ext cx="5230368" cy="603504"/>
          </a:xfrm>
          <a:prstGeom prst="snip1Rect">
            <a:avLst/>
          </a:prstGeom>
          <a:noFill/>
          <a:ln w="1270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0" name="TextBox 559"/>
          <p:cNvSpPr txBox="1"/>
          <p:nvPr/>
        </p:nvSpPr>
        <p:spPr>
          <a:xfrm>
            <a:off x="2560320" y="5257799"/>
            <a:ext cx="5029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+mn-lt"/>
              </a:rPr>
              <a:t>Инвентаризация и унификация ПО, переход на сетевое лицензирование — прямые выводы технического аудита ПО и матрицы импортозамещения.</a:t>
            </a:r>
          </a:p>
        </p:txBody>
      </p:sp>
      <p:sp>
        <p:nvSpPr>
          <p:cNvPr id="561" name="Snip Single Corner Rectangle 560"/>
          <p:cNvSpPr/>
          <p:nvPr/>
        </p:nvSpPr>
        <p:spPr>
          <a:xfrm>
            <a:off x="7863840" y="1965960"/>
            <a:ext cx="3611880" cy="11887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2" name="TextBox 561"/>
          <p:cNvSpPr txBox="1"/>
          <p:nvPr/>
        </p:nvSpPr>
        <p:spPr>
          <a:xfrm>
            <a:off x="8092440" y="2075688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386FC"/>
                </a:solidFill>
                <a:latin typeface="+mj-lt"/>
              </a:rPr>
              <a:t>1 000+</a:t>
            </a:r>
          </a:p>
        </p:txBody>
      </p:sp>
      <p:sp>
        <p:nvSpPr>
          <p:cNvPr id="563" name="TextBox 562"/>
          <p:cNvSpPr txBox="1"/>
          <p:nvPr/>
        </p:nvSpPr>
        <p:spPr>
          <a:xfrm>
            <a:off x="8092440" y="2679191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рабочих мест на единой платформе</a:t>
            </a:r>
          </a:p>
        </p:txBody>
      </p:sp>
      <p:sp>
        <p:nvSpPr>
          <p:cNvPr id="564" name="Snip Single Corner Rectangle 563"/>
          <p:cNvSpPr/>
          <p:nvPr/>
        </p:nvSpPr>
        <p:spPr>
          <a:xfrm>
            <a:off x="7863840" y="3282696"/>
            <a:ext cx="3611880" cy="11887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5" name="TextBox 564"/>
          <p:cNvSpPr txBox="1"/>
          <p:nvPr/>
        </p:nvSpPr>
        <p:spPr>
          <a:xfrm>
            <a:off x="8092440" y="3392424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386FC"/>
                </a:solidFill>
                <a:latin typeface="+mj-lt"/>
              </a:rPr>
              <a:t>~245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8092440" y="3995928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сетевых лицензий</a:t>
            </a:r>
          </a:p>
        </p:txBody>
      </p:sp>
      <p:sp>
        <p:nvSpPr>
          <p:cNvPr id="567" name="Snip Single Corner Rectangle 566"/>
          <p:cNvSpPr/>
          <p:nvPr/>
        </p:nvSpPr>
        <p:spPr>
          <a:xfrm>
            <a:off x="7863840" y="4599431"/>
            <a:ext cx="3611880" cy="11887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8" name="TextBox 567"/>
          <p:cNvSpPr txBox="1"/>
          <p:nvPr/>
        </p:nvSpPr>
        <p:spPr>
          <a:xfrm>
            <a:off x="8092440" y="4709159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386FC"/>
                </a:solidFill>
                <a:latin typeface="+mj-lt"/>
              </a:rPr>
              <a:t>53</a:t>
            </a:r>
          </a:p>
        </p:txBody>
      </p:sp>
      <p:sp>
        <p:nvSpPr>
          <p:cNvPr id="569" name="TextBox 568"/>
          <p:cNvSpPr txBox="1"/>
          <p:nvPr/>
        </p:nvSpPr>
        <p:spPr>
          <a:xfrm>
            <a:off x="8092440" y="531266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электростанции в 16 регионах</a:t>
            </a:r>
          </a:p>
        </p:txBody>
      </p:sp>
      <p:sp>
        <p:nvSpPr>
          <p:cNvPr id="570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71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72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73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КЕЙСЫ</a:t>
            </a:r>
          </a:p>
        </p:txBody>
      </p:sp>
      <p:sp>
        <p:nvSpPr>
          <p:cNvPr id="574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75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76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77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Кейс 3: СМК «Генезис» — контроль монтажа фасадов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3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1965960"/>
            <a:ext cx="1783080" cy="603504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1">
                <a:solidFill>
                  <a:srgbClr val="1A1A1A"/>
                </a:solidFill>
                <a:latin typeface="+mj-lt"/>
              </a:rPr>
              <a:t>Контекст</a:t>
            </a:r>
          </a:p>
        </p:txBody>
      </p:sp>
      <p:sp>
        <p:nvSpPr>
          <p:cNvPr id="544" name="Snip Single Corner Rectangle 543"/>
          <p:cNvSpPr/>
          <p:nvPr/>
        </p:nvSpPr>
        <p:spPr>
          <a:xfrm>
            <a:off x="2450592" y="1965960"/>
            <a:ext cx="5230368" cy="603504"/>
          </a:xfrm>
          <a:prstGeom prst="snip1Rect">
            <a:avLst/>
          </a:prstGeom>
          <a:noFill/>
          <a:ln w="1270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5" name="TextBox 544"/>
          <p:cNvSpPr txBox="1"/>
          <p:nvPr/>
        </p:nvSpPr>
        <p:spPr>
          <a:xfrm>
            <a:off x="2560320" y="1965960"/>
            <a:ext cx="5029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+mn-lt"/>
              </a:rPr>
              <a:t>Лидер в производстве и монтаже модульных навесных фасадов: производство 22 000 м², фасады высотой до 200 м, более 170 000 м² заказов в год.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594360" y="2624328"/>
            <a:ext cx="1783080" cy="603504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1">
                <a:solidFill>
                  <a:srgbClr val="1A1A1A"/>
                </a:solidFill>
                <a:latin typeface="+mj-lt"/>
              </a:rPr>
              <a:t>Задача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2450592" y="2624328"/>
            <a:ext cx="5230368" cy="603504"/>
          </a:xfrm>
          <a:prstGeom prst="snip1Rect">
            <a:avLst/>
          </a:prstGeom>
          <a:noFill/>
          <a:ln w="1270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8" name="TextBox 547"/>
          <p:cNvSpPr txBox="1"/>
          <p:nvPr/>
        </p:nvSpPr>
        <p:spPr>
          <a:xfrm>
            <a:off x="2560320" y="2624328"/>
            <a:ext cx="5029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+mn-lt"/>
              </a:rPr>
              <a:t>Обрабатывать данные лазерного сканирования и анализировать облака точек, не уходя из привычной CAD-среды; контролировать монтаж и выявлять отклонения.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594360" y="3282696"/>
            <a:ext cx="1783080" cy="603504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1">
                <a:solidFill>
                  <a:srgbClr val="1A1A1A"/>
                </a:solidFill>
                <a:latin typeface="+mj-lt"/>
              </a:rPr>
              <a:t>ИТ-ландшафт</a:t>
            </a:r>
          </a:p>
        </p:txBody>
      </p:sp>
      <p:sp>
        <p:nvSpPr>
          <p:cNvPr id="550" name="Snip Single Corner Rectangle 549"/>
          <p:cNvSpPr/>
          <p:nvPr/>
        </p:nvSpPr>
        <p:spPr>
          <a:xfrm>
            <a:off x="2450592" y="3282696"/>
            <a:ext cx="5230368" cy="603504"/>
          </a:xfrm>
          <a:prstGeom prst="snip1Rect">
            <a:avLst/>
          </a:prstGeom>
          <a:noFill/>
          <a:ln w="1270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1" name="TextBox 550"/>
          <p:cNvSpPr txBox="1"/>
          <p:nvPr/>
        </p:nvSpPr>
        <p:spPr>
          <a:xfrm>
            <a:off x="2560320" y="3282696"/>
            <a:ext cx="5029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+mn-lt"/>
              </a:rPr>
              <a:t>Проекты в DWG из AutoCAD. Решение — Платформа nanoCAD, «Облака точек», конфигурация «Метрология»: полная совместимость с DWG.</a:t>
            </a:r>
          </a:p>
        </p:txBody>
      </p:sp>
      <p:sp>
        <p:nvSpPr>
          <p:cNvPr id="552" name="Snip Single Corner Rectangle 551"/>
          <p:cNvSpPr/>
          <p:nvPr/>
        </p:nvSpPr>
        <p:spPr>
          <a:xfrm>
            <a:off x="594360" y="3941063"/>
            <a:ext cx="1783080" cy="603504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1">
                <a:solidFill>
                  <a:srgbClr val="1A1A1A"/>
                </a:solidFill>
                <a:latin typeface="+mj-lt"/>
              </a:rPr>
              <a:t>Роль Нормасофт</a:t>
            </a:r>
          </a:p>
        </p:txBody>
      </p:sp>
      <p:sp>
        <p:nvSpPr>
          <p:cNvPr id="553" name="Snip Single Corner Rectangle 552"/>
          <p:cNvSpPr/>
          <p:nvPr/>
        </p:nvSpPr>
        <p:spPr>
          <a:xfrm>
            <a:off x="2450592" y="3941063"/>
            <a:ext cx="5230368" cy="603504"/>
          </a:xfrm>
          <a:prstGeom prst="snip1Rect">
            <a:avLst/>
          </a:prstGeom>
          <a:noFill/>
          <a:ln w="1270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4" name="TextBox 553"/>
          <p:cNvSpPr txBox="1"/>
          <p:nvPr/>
        </p:nvSpPr>
        <p:spPr>
          <a:xfrm>
            <a:off x="2560320" y="3941063"/>
            <a:ext cx="5029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+mn-lt"/>
              </a:rPr>
              <a:t>Пилот на реальном объекте с 01.02.2025 в формате фокус-группы: технический директор, руководители проектного департамента и КБ, проектировщики, геодезисты.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594360" y="4599431"/>
            <a:ext cx="1783080" cy="603504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1">
                <a:solidFill>
                  <a:srgbClr val="FFFFFF"/>
                </a:solidFill>
                <a:latin typeface="+mj-lt"/>
              </a:rPr>
              <a:t>Результат</a:t>
            </a:r>
          </a:p>
        </p:txBody>
      </p:sp>
      <p:sp>
        <p:nvSpPr>
          <p:cNvPr id="556" name="Snip Single Corner Rectangle 555"/>
          <p:cNvSpPr/>
          <p:nvPr/>
        </p:nvSpPr>
        <p:spPr>
          <a:xfrm>
            <a:off x="2450592" y="4599431"/>
            <a:ext cx="5230368" cy="603504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7" name="TextBox 556"/>
          <p:cNvSpPr txBox="1"/>
          <p:nvPr/>
        </p:nvSpPr>
        <p:spPr>
          <a:xfrm>
            <a:off x="2560320" y="4599431"/>
            <a:ext cx="5029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+mn-lt"/>
              </a:rPr>
              <a:t>«Событие-4»: контроль монтажа мостовых конструкций на высоте 170 м, точность до 3 мм, время контроля −30%. Заказчик планирует полную версию и другие решения nanoCAD.</a:t>
            </a:r>
          </a:p>
        </p:txBody>
      </p:sp>
      <p:sp>
        <p:nvSpPr>
          <p:cNvPr id="558" name="Snip Single Corner Rectangle 557"/>
          <p:cNvSpPr/>
          <p:nvPr/>
        </p:nvSpPr>
        <p:spPr>
          <a:xfrm>
            <a:off x="594360" y="5257799"/>
            <a:ext cx="1783080" cy="603504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1">
                <a:solidFill>
                  <a:srgbClr val="1A1A1A"/>
                </a:solidFill>
                <a:latin typeface="+mj-lt"/>
              </a:rPr>
              <a:t>Применимость</a:t>
            </a:r>
          </a:p>
        </p:txBody>
      </p:sp>
      <p:sp>
        <p:nvSpPr>
          <p:cNvPr id="559" name="Snip Single Corner Rectangle 558"/>
          <p:cNvSpPr/>
          <p:nvPr/>
        </p:nvSpPr>
        <p:spPr>
          <a:xfrm>
            <a:off x="2450592" y="5257799"/>
            <a:ext cx="5230368" cy="603504"/>
          </a:xfrm>
          <a:prstGeom prst="snip1Rect">
            <a:avLst/>
          </a:prstGeom>
          <a:noFill/>
          <a:ln w="1270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0" name="TextBox 559"/>
          <p:cNvSpPr txBox="1"/>
          <p:nvPr/>
        </p:nvSpPr>
        <p:spPr>
          <a:xfrm>
            <a:off x="2560320" y="5257799"/>
            <a:ext cx="5029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+mn-lt"/>
              </a:rPr>
              <a:t>Фокус-группа из руководителей и исполнителей и пилот на реальном объекте — тот же подход, что в интервью и пилоте после аудита.</a:t>
            </a:r>
          </a:p>
        </p:txBody>
      </p:sp>
      <p:pic>
        <p:nvPicPr>
          <p:cNvPr id="561" name="Picture 560" descr="genezis_sobytie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24614" y="1965960"/>
            <a:ext cx="2490331" cy="3520440"/>
          </a:xfrm>
          <a:prstGeom prst="rect">
            <a:avLst/>
          </a:prstGeom>
        </p:spPr>
      </p:pic>
      <p:sp>
        <p:nvSpPr>
          <p:cNvPr id="562" name="TextBox 561"/>
          <p:cNvSpPr txBox="1"/>
          <p:nvPr/>
        </p:nvSpPr>
        <p:spPr>
          <a:xfrm>
            <a:off x="7863840" y="557784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Объект «Событие-4»</a:t>
            </a:r>
          </a:p>
        </p:txBody>
      </p:sp>
      <p:sp>
        <p:nvSpPr>
          <p:cNvPr id="563" name="nav">
            <a:hlinkClick action="ppaction://hlinksldjump" r:id="rId5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64" name="nav">
            <a:hlinkClick action="ppaction://hlinksldjump" r:id="rId4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65" name="nav">
            <a:hlinkClick action="ppaction://hlinksldjump" r:id="rId16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66" name="nav">
            <a:hlinkClick action="ppaction://hlinksldjump" r:id="rId17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КЕЙСЫ</a:t>
            </a:r>
          </a:p>
        </p:txBody>
      </p:sp>
      <p:sp>
        <p:nvSpPr>
          <p:cNvPr id="567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68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9" name="nav">
            <a:hlinkClick action="ppaction://hlinksldjump" r:id="rId18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70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Прямоугольник: скругленные углы 4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40" name="Google Shape;529;p41"/>
          <p:cNvSpPr/>
          <p:nvPr/>
        </p:nvSpPr>
        <p:spPr>
          <a:xfrm>
            <a:off x="10015920" y="1959120"/>
            <a:ext cx="1341720" cy="84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en" sz="4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05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1" name="Google Shape;529;p41"/>
          <p:cNvSpPr/>
          <p:nvPr/>
        </p:nvSpPr>
        <p:spPr>
          <a:xfrm>
            <a:off x="3840480" y="3558240"/>
            <a:ext cx="7516368" cy="131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ВНЕДРЕНИЕ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2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43" name="Прямая со стрелкой 8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44" name="TextBox 9"/>
          <p:cNvSpPr/>
          <p:nvPr/>
        </p:nvSpPr>
        <p:spPr>
          <a:xfrm>
            <a:off x="4663440" y="5093280"/>
            <a:ext cx="6693408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Аудит — первый шаг. Почему важно довести решения до результата и почему лучше с нами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5" name="Прямоугольник: скругленные углы 10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cxnSp>
        <p:nvCxnSpPr>
          <p:cNvPr id="246" name="Прямая со стрелкой 1"/>
          <p:cNvCxnSpPr/>
          <p:nvPr/>
        </p:nvCxnSpPr>
        <p:spPr>
          <a:xfrm>
            <a:off x="5074200" y="4999320"/>
            <a:ext cx="619308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24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7381080" y="292752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Рисунок 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2">
            <a:extLst/>
          </a:blip>
          <a:stretch/>
        </p:blipFill>
        <p:spPr>
          <a:xfrm flipH="1">
            <a:off x="360" y="3371760"/>
            <a:ext cx="6197400" cy="34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59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260" name="nav">
            <a:hlinkClick action="ppaction://hlinksldjump" r:id="rId14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261" name="nav">
            <a:hlinkClick action="ppaction://hlinksldjump" r:id="rId6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262" name="nav">
            <a:hlinkClick action="ppaction://hlinksldjump" r:id="rId5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263" name="nav">
            <a:hlinkClick action="ppaction://hlinksldjump" r:id="rId4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ВНЕДРЕНИЕ</a:t>
            </a:r>
          </a:p>
        </p:txBody>
      </p:sp>
      <p:sp>
        <p:nvSpPr>
          <p:cNvPr id="264" name="nav">
            <a:hlinkClick action="ppaction://hlinksldjump" r:id="rId3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265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266" name="nav">
            <a:hlinkClick action="ppaction://hlinksldjump" r:id="rId11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После аудита: путь к результату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1444752" cy="1600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TextBox 543"/>
          <p:cNvSpPr txBox="1"/>
          <p:nvPr/>
        </p:nvSpPr>
        <p:spPr>
          <a:xfrm>
            <a:off x="685800" y="2121408"/>
            <a:ext cx="131673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+mj-lt"/>
              </a:rPr>
              <a:t>Аудит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731520" y="3200400"/>
            <a:ext cx="1216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FFFFFF"/>
                </a:solidFill>
                <a:latin typeface="+mn-lt"/>
              </a:rPr>
              <a:t>1–2 мес.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2167128" y="2011680"/>
            <a:ext cx="1444752" cy="16002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7" name="TextBox 546"/>
          <p:cNvSpPr txBox="1"/>
          <p:nvPr/>
        </p:nvSpPr>
        <p:spPr>
          <a:xfrm>
            <a:off x="2258568" y="2121408"/>
            <a:ext cx="131673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Выбор стека и тестирование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2304288" y="3200400"/>
            <a:ext cx="1216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386FC"/>
                </a:solidFill>
                <a:latin typeface="+mn-lt"/>
              </a:rPr>
              <a:t>2–4 мес.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3739896" y="2011680"/>
            <a:ext cx="1444752" cy="16002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0" name="TextBox 549"/>
          <p:cNvSpPr txBox="1"/>
          <p:nvPr/>
        </p:nvSpPr>
        <p:spPr>
          <a:xfrm>
            <a:off x="3831335" y="2121408"/>
            <a:ext cx="131673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Инфраструктура и стандарты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3877056" y="3200400"/>
            <a:ext cx="1216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386FC"/>
                </a:solidFill>
                <a:latin typeface="+mn-lt"/>
              </a:rPr>
              <a:t>2–3 мес.</a:t>
            </a:r>
          </a:p>
        </p:txBody>
      </p:sp>
      <p:sp>
        <p:nvSpPr>
          <p:cNvPr id="552" name="Snip Single Corner Rectangle 551"/>
          <p:cNvSpPr/>
          <p:nvPr/>
        </p:nvSpPr>
        <p:spPr>
          <a:xfrm>
            <a:off x="5312664" y="2011680"/>
            <a:ext cx="1444752" cy="16002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3" name="TextBox 552"/>
          <p:cNvSpPr txBox="1"/>
          <p:nvPr/>
        </p:nvSpPr>
        <p:spPr>
          <a:xfrm>
            <a:off x="5404104" y="2121408"/>
            <a:ext cx="131673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Обучение и управление изменениями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5449824" y="3200400"/>
            <a:ext cx="1216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386FC"/>
                </a:solidFill>
                <a:latin typeface="+mn-lt"/>
              </a:rPr>
              <a:t>3–6 мес.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6885432" y="2011680"/>
            <a:ext cx="1444752" cy="16002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6" name="TextBox 555"/>
          <p:cNvSpPr txBox="1"/>
          <p:nvPr/>
        </p:nvSpPr>
        <p:spPr>
          <a:xfrm>
            <a:off x="6976872" y="2121408"/>
            <a:ext cx="131673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Пилотный проект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7022592" y="3200400"/>
            <a:ext cx="1216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386FC"/>
                </a:solidFill>
                <a:latin typeface="+mn-lt"/>
              </a:rPr>
              <a:t>6–12 мес.</a:t>
            </a:r>
          </a:p>
        </p:txBody>
      </p:sp>
      <p:sp>
        <p:nvSpPr>
          <p:cNvPr id="558" name="Snip Single Corner Rectangle 557"/>
          <p:cNvSpPr/>
          <p:nvPr/>
        </p:nvSpPr>
        <p:spPr>
          <a:xfrm>
            <a:off x="8458200" y="2011680"/>
            <a:ext cx="1444752" cy="16002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9" name="TextBox 558"/>
          <p:cNvSpPr txBox="1"/>
          <p:nvPr/>
        </p:nvSpPr>
        <p:spPr>
          <a:xfrm>
            <a:off x="8549640" y="2121408"/>
            <a:ext cx="131673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Масштабирование и миграция данных</a:t>
            </a:r>
          </a:p>
        </p:txBody>
      </p:sp>
      <p:sp>
        <p:nvSpPr>
          <p:cNvPr id="560" name="TextBox 559"/>
          <p:cNvSpPr txBox="1"/>
          <p:nvPr/>
        </p:nvSpPr>
        <p:spPr>
          <a:xfrm>
            <a:off x="8595360" y="3200400"/>
            <a:ext cx="1216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386FC"/>
                </a:solidFill>
                <a:latin typeface="+mn-lt"/>
              </a:rPr>
              <a:t>12–24 мес.</a:t>
            </a:r>
          </a:p>
        </p:txBody>
      </p:sp>
      <p:sp>
        <p:nvSpPr>
          <p:cNvPr id="561" name="Snip Single Corner Rectangle 560"/>
          <p:cNvSpPr/>
          <p:nvPr/>
        </p:nvSpPr>
        <p:spPr>
          <a:xfrm>
            <a:off x="10030968" y="2011680"/>
            <a:ext cx="1444752" cy="16002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2" name="TextBox 561"/>
          <p:cNvSpPr txBox="1"/>
          <p:nvPr/>
        </p:nvSpPr>
        <p:spPr>
          <a:xfrm>
            <a:off x="10122408" y="2121408"/>
            <a:ext cx="131673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Развитие экосистемы</a:t>
            </a:r>
          </a:p>
        </p:txBody>
      </p:sp>
      <p:sp>
        <p:nvSpPr>
          <p:cNvPr id="563" name="TextBox 562"/>
          <p:cNvSpPr txBox="1"/>
          <p:nvPr/>
        </p:nvSpPr>
        <p:spPr>
          <a:xfrm>
            <a:off x="10168128" y="3200400"/>
            <a:ext cx="1216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386FC"/>
                </a:solidFill>
                <a:latin typeface="+mn-lt"/>
              </a:rPr>
              <a:t>постоянно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594360" y="3840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Почему важно довести решения аудита до результата</a:t>
            </a:r>
          </a:p>
        </p:txBody>
      </p:sp>
      <p:sp>
        <p:nvSpPr>
          <p:cNvPr id="565" name="Snip Single Corner Rectangle 564"/>
          <p:cNvSpPr/>
          <p:nvPr/>
        </p:nvSpPr>
        <p:spPr>
          <a:xfrm>
            <a:off x="594360" y="4297680"/>
            <a:ext cx="3474720" cy="146304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6" name="TextBox 565"/>
          <p:cNvSpPr txBox="1"/>
          <p:nvPr/>
        </p:nvSpPr>
        <p:spPr>
          <a:xfrm>
            <a:off x="822960" y="44348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386FC"/>
                </a:solidFill>
                <a:latin typeface="+mj-lt"/>
              </a:rPr>
              <a:t>Отчёт на полке</a:t>
            </a:r>
          </a:p>
        </p:txBody>
      </p:sp>
      <p:sp>
        <p:nvSpPr>
          <p:cNvPr id="567" name="TextBox 566"/>
          <p:cNvSpPr txBox="1"/>
          <p:nvPr/>
        </p:nvSpPr>
        <p:spPr>
          <a:xfrm>
            <a:off x="822960" y="4828032"/>
            <a:ext cx="3017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+mn-lt"/>
              </a:rPr>
              <a:t>Без внедрения дорожная карта остаётся документом, а бюджет — неиспользованным.</a:t>
            </a:r>
          </a:p>
        </p:txBody>
      </p:sp>
      <p:sp>
        <p:nvSpPr>
          <p:cNvPr id="568" name="Snip Single Corner Rectangle 567"/>
          <p:cNvSpPr/>
          <p:nvPr/>
        </p:nvSpPr>
        <p:spPr>
          <a:xfrm>
            <a:off x="4297680" y="4297680"/>
            <a:ext cx="3474720" cy="146304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9" name="TextBox 568"/>
          <p:cNvSpPr txBox="1"/>
          <p:nvPr/>
        </p:nvSpPr>
        <p:spPr>
          <a:xfrm>
            <a:off x="4526280" y="44348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386FC"/>
                </a:solidFill>
                <a:latin typeface="+mj-lt"/>
              </a:rPr>
              <a:t>Потеря данных и темпа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4526280" y="4828032"/>
            <a:ext cx="3017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+mn-lt"/>
              </a:rPr>
              <a:t>Миграция без пилота и стандартов ломает выпуск документации.</a:t>
            </a:r>
          </a:p>
        </p:txBody>
      </p:sp>
      <p:sp>
        <p:nvSpPr>
          <p:cNvPr id="571" name="Snip Single Corner Rectangle 570"/>
          <p:cNvSpPr/>
          <p:nvPr/>
        </p:nvSpPr>
        <p:spPr>
          <a:xfrm>
            <a:off x="8001000" y="4297680"/>
            <a:ext cx="3474720" cy="146304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2" name="TextBox 571"/>
          <p:cNvSpPr txBox="1"/>
          <p:nvPr/>
        </p:nvSpPr>
        <p:spPr>
          <a:xfrm>
            <a:off x="8229600" y="44348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386FC"/>
                </a:solidFill>
                <a:latin typeface="+mj-lt"/>
              </a:rPr>
              <a:t>Сопротивление изменениям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8229600" y="4828032"/>
            <a:ext cx="3017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+mn-lt"/>
              </a:rPr>
              <a:t>Без обучения и сопровождения сотрудники возвращаются к старым инструментам.</a:t>
            </a:r>
          </a:p>
        </p:txBody>
      </p:sp>
      <p:sp>
        <p:nvSpPr>
          <p:cNvPr id="574" name="TextBox 573"/>
          <p:cNvSpPr txBox="1"/>
          <p:nvPr/>
        </p:nvSpPr>
        <p:spPr>
          <a:xfrm>
            <a:off x="594360" y="5897880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Сроки — ориентиры для средней проектной организации; уточняются дорожной картой.</a:t>
            </a:r>
          </a:p>
        </p:txBody>
      </p:sp>
      <p:sp>
        <p:nvSpPr>
          <p:cNvPr id="575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76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77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78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79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ВНЕДРЕНИЕ</a:t>
            </a:r>
          </a:p>
        </p:txBody>
      </p:sp>
      <p:sp>
        <p:nvSpPr>
          <p:cNvPr id="580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81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82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Почему внедрять вместе с Нормасофт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57400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+mj-lt"/>
              </a:rPr>
              <a:t>01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234440" y="20116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Одна команда от аудита до пилота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1234440" y="2340864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+mn-lt"/>
              </a:rPr>
              <a:t>Выводы аудита не теряются при передаче подрядчику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594360" y="2862072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+mj-lt"/>
              </a:rPr>
              <a:t>02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1234440" y="28163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Объективный выбор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1234440" y="3145536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+mn-lt"/>
              </a:rPr>
              <a:t>Работаем с решениями разных разработчиков и отвечаем за стыки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594360" y="3666744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+mj-lt"/>
              </a:rPr>
              <a:t>03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1234440" y="3621024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Быстрее и с меньшими рисками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1234440" y="3950208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+mn-lt"/>
              </a:rPr>
              <a:t>Пилот на реальном объекте, стандарты — до масштабирования</a:t>
            </a:r>
          </a:p>
        </p:txBody>
      </p:sp>
      <p:sp>
        <p:nvSpPr>
          <p:cNvPr id="552" name="Snip Single Corner Rectangle 551"/>
          <p:cNvSpPr/>
          <p:nvPr/>
        </p:nvSpPr>
        <p:spPr>
          <a:xfrm>
            <a:off x="594360" y="4471416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+mj-lt"/>
              </a:rPr>
              <a:t>04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1234440" y="4425696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Свой учебный центр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1234440" y="475488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+mn-lt"/>
              </a:rPr>
              <a:t>Короткие курсы по матрице компетенций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594360" y="5276088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+mj-lt"/>
              </a:rPr>
              <a:t>05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1234440" y="523036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Связь с разработчиками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1234440" y="5559552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+mn-lt"/>
              </a:rPr>
              <a:t>Передаём запросы на доработку и добиваемся их выполнения</a:t>
            </a:r>
          </a:p>
        </p:txBody>
      </p:sp>
      <p:sp>
        <p:nvSpPr>
          <p:cNvPr id="558" name="Snip Single Corner Rectangle 557"/>
          <p:cNvSpPr/>
          <p:nvPr/>
        </p:nvSpPr>
        <p:spPr>
          <a:xfrm>
            <a:off x="7086600" y="2011680"/>
            <a:ext cx="4389120" cy="3749039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9" name="TextBox 558"/>
          <p:cNvSpPr txBox="1"/>
          <p:nvPr/>
        </p:nvSpPr>
        <p:spPr>
          <a:xfrm>
            <a:off x="7360920" y="2194560"/>
            <a:ext cx="384048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1">
                <a:solidFill>
                  <a:srgbClr val="FFFFFF"/>
                </a:solidFill>
                <a:latin typeface="+mj-lt"/>
              </a:rPr>
              <a:t>Интегратор не должен делать переход за вас.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FFFFFF"/>
                </a:solidFill>
                <a:latin typeface="+mn-lt"/>
              </a:rPr>
              <a:t>Его роль — дать инструменты, знания и уверенность, чтобы организация самостоятельно и устойчиво управляла цифровой трансформацией.</a:t>
            </a:r>
          </a:p>
        </p:txBody>
      </p:sp>
      <p:sp>
        <p:nvSpPr>
          <p:cNvPr id="560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61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62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63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64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ВНЕДРЕНИЕ</a:t>
            </a:r>
          </a:p>
        </p:txBody>
      </p:sp>
      <p:sp>
        <p:nvSpPr>
          <p:cNvPr id="565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6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67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>
            <a:lumMod val="95000"/>
          </a:scheme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98" name="Google Shape;321;p35"/>
          <p:cNvSpPr/>
          <p:nvPr/>
        </p:nvSpPr>
        <p:spPr>
          <a:xfrm>
            <a:off x="595440" y="1672200"/>
            <a:ext cx="143928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20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Миссия:</a:t>
            </a:r>
            <a:endParaRPr lang="ru-RU" sz="20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99" name="TextBox 2"/>
          <p:cNvSpPr/>
          <p:nvPr/>
        </p:nvSpPr>
        <p:spPr>
          <a:xfrm>
            <a:off x="2091960" y="1704600"/>
            <a:ext cx="8496720" cy="38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9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Обеспечение технологического суверенитета российских компаний</a:t>
            </a:r>
            <a:endParaRPr lang="ru-RU" sz="19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0" name="Google Shape;321;p35"/>
          <p:cNvSpPr/>
          <p:nvPr/>
        </p:nvSpPr>
        <p:spPr>
          <a:xfrm>
            <a:off x="595440" y="2615400"/>
            <a:ext cx="233892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20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Направления:</a:t>
            </a:r>
            <a:endParaRPr lang="ru-RU" sz="20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101" name="Google Shape;321;p35"/>
          <p:cNvSpPr/>
          <p:nvPr/>
        </p:nvSpPr>
        <p:spPr>
          <a:xfrm>
            <a:off x="3157920" y="2615400"/>
            <a:ext cx="4278240" cy="8096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Поставляем и внедряем инфраструктурное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и инженерное программное обеспечение, программы для учета и управления оборудованием, приборами,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IT</a:t>
            </a: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-активами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2" name="Google Shape;321;p35"/>
          <p:cNvSpPr/>
          <p:nvPr/>
        </p:nvSpPr>
        <p:spPr>
          <a:xfrm>
            <a:off x="6453000" y="3660840"/>
            <a:ext cx="2849760" cy="8096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Развиваем  направление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«Цифровые двойники производства»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3" name="Google Shape;321;p35"/>
          <p:cNvSpPr/>
          <p:nvPr/>
        </p:nvSpPr>
        <p:spPr>
          <a:xfrm>
            <a:off x="3157920" y="3654720"/>
            <a:ext cx="3125520" cy="8096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Разрабатываем типовые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и индивидуальные плагины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и утилиты для работы ПО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4" name="Google Shape;321;p35"/>
          <p:cNvSpPr/>
          <p:nvPr/>
        </p:nvSpPr>
        <p:spPr>
          <a:xfrm>
            <a:off x="7567560" y="2615400"/>
            <a:ext cx="3834000" cy="8096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Обучаем работе  с отечественным инженерным ПО в Авторизованном учебном центре «Нормасофт»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5" name="Google Shape;321;p35"/>
          <p:cNvSpPr/>
          <p:nvPr/>
        </p:nvSpPr>
        <p:spPr>
          <a:xfrm>
            <a:off x="9472320" y="3654720"/>
            <a:ext cx="1929600" cy="8096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Развиваем направление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BIM VR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6" name="Google Shape;321;p35"/>
          <p:cNvSpPr/>
          <p:nvPr/>
        </p:nvSpPr>
        <p:spPr>
          <a:xfrm>
            <a:off x="595440" y="5185800"/>
            <a:ext cx="134604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20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Опыт:</a:t>
            </a:r>
            <a:endParaRPr lang="ru-RU" sz="20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107" name="Google Shape;171;p29"/>
          <p:cNvSpPr/>
          <p:nvPr/>
        </p:nvSpPr>
        <p:spPr>
          <a:xfrm>
            <a:off x="2502720" y="5031360"/>
            <a:ext cx="213264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defTabSz="914400">
              <a:lnSpc>
                <a:spcPct val="90000"/>
              </a:lnSpc>
            </a:pPr>
            <a:r>
              <a:rPr lang="ru-RU" sz="4400" b="1" u="none" strike="noStrike">
                <a:solidFill>
                  <a:srgbClr val="0386FC"/>
                </a:solidFill>
                <a:effectLst/>
                <a:uFillTx/>
                <a:latin typeface="+mj-lt"/>
              </a:rPr>
              <a:t>3 000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8" name="TextBox 28"/>
          <p:cNvSpPr/>
          <p:nvPr/>
        </p:nvSpPr>
        <p:spPr>
          <a:xfrm>
            <a:off x="2202480" y="5708160"/>
            <a:ext cx="350712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Инженеров, специалистов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и преподавателей, прошедших обучение работе с отечественным инженерным ПО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9" name="Google Shape;171;p29"/>
          <p:cNvSpPr/>
          <p:nvPr/>
        </p:nvSpPr>
        <p:spPr>
          <a:xfrm>
            <a:off x="6207120" y="5031360"/>
            <a:ext cx="213264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defTabSz="914400">
              <a:lnSpc>
                <a:spcPct val="90000"/>
              </a:lnSpc>
            </a:pPr>
            <a:r>
              <a:rPr lang="ru-RU" sz="4400" b="1" u="none" strike="noStrike">
                <a:solidFill>
                  <a:srgbClr val="0386FC"/>
                </a:solidFill>
                <a:effectLst/>
                <a:uFillTx/>
                <a:latin typeface="+mj-lt"/>
              </a:rPr>
              <a:t>500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10" name="TextBox 30"/>
          <p:cNvSpPr/>
          <p:nvPr/>
        </p:nvSpPr>
        <p:spPr>
          <a:xfrm>
            <a:off x="5861160" y="5689800"/>
            <a:ext cx="309096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Клиентов, включая предприятия корпораций «РОСАТОМ», «РОСТЕХ» и «РОССЕТИ»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11" name="Google Shape;171;p29"/>
          <p:cNvSpPr/>
          <p:nvPr/>
        </p:nvSpPr>
        <p:spPr>
          <a:xfrm>
            <a:off x="9546840" y="5031360"/>
            <a:ext cx="213264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defTabSz="914400">
              <a:lnSpc>
                <a:spcPct val="90000"/>
              </a:lnSpc>
            </a:pPr>
            <a:r>
              <a:rPr lang="ru-RU" sz="4400" b="1" u="none" strike="noStrike">
                <a:solidFill>
                  <a:srgbClr val="0386FC"/>
                </a:solidFill>
                <a:effectLst/>
                <a:uFillTx/>
                <a:latin typeface="+mj-lt"/>
              </a:rPr>
              <a:t>14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12" name="TextBox 32"/>
          <p:cNvSpPr/>
          <p:nvPr/>
        </p:nvSpPr>
        <p:spPr>
          <a:xfrm>
            <a:off x="9204120" y="5689800"/>
            <a:ext cx="226980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Лет успешного внедрения и импортозамещения отечественного ПО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13" name="TextBox 35"/>
          <p:cNvSpPr/>
          <p:nvPr/>
        </p:nvSpPr>
        <p:spPr>
          <a:xfrm>
            <a:off x="2122560" y="5060160"/>
            <a:ext cx="36036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3200" b="0" u="none" strike="noStrike">
                <a:solidFill>
                  <a:srgbClr val="0088FE"/>
                </a:solidFill>
                <a:effectLst/>
                <a:uFillTx/>
                <a:latin typeface="Manrope ExtraBold"/>
              </a:rPr>
              <a:t>~ 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14" name="TextBox 36"/>
          <p:cNvSpPr/>
          <p:nvPr/>
        </p:nvSpPr>
        <p:spPr>
          <a:xfrm>
            <a:off x="5805000" y="5060160"/>
            <a:ext cx="36036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3200" b="0" u="none" strike="noStrike">
                <a:solidFill>
                  <a:srgbClr val="0088FE"/>
                </a:solidFill>
                <a:effectLst/>
                <a:uFillTx/>
                <a:latin typeface="Manrope ExtraBold"/>
              </a:rPr>
              <a:t>~ 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15" name="TextBox 37"/>
          <p:cNvSpPr/>
          <p:nvPr/>
        </p:nvSpPr>
        <p:spPr>
          <a:xfrm>
            <a:off x="9144360" y="5060160"/>
            <a:ext cx="36036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3200" b="0" u="none" strike="noStrike">
                <a:solidFill>
                  <a:srgbClr val="0088FE"/>
                </a:solidFill>
                <a:effectLst/>
                <a:uFillTx/>
                <a:latin typeface="Manrope ExtraBold"/>
              </a:rPr>
              <a:t>~ 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pic>
        <p:nvPicPr>
          <p:cNvPr id="116" name="Рисунок 15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 rot="5400000">
            <a:off x="10039680" y="338328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118" name="Прямая со стрелкой 17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128" name="Google Shape;269;p32">
            <a:hlinkClick action="ppaction://hlinksldjump" r:id="rId11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129" name="nav">
            <a:hlinkClick action="ppaction://hlinksldjump" r:id="rId12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130" name="nav">
            <a:hlinkClick action="ppaction://hlinksldjump" r:id="rId13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131" name="nav">
            <a:hlinkClick action="ppaction://hlinksldjump" r:id="rId5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132" name="nav">
            <a:hlinkClick action="ppaction://hlinksldjump" r:id="rId4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133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134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НОРМАСОФТ</a:t>
            </a:r>
          </a:p>
        </p:txBody>
      </p:sp>
      <p:sp>
        <p:nvSpPr>
          <p:cNvPr id="135" name="nav">
            <a:hlinkClick action="ppaction://hlinksldjump" r:id="rId16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136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Прямоугольник: скругленные углы 9"/>
          <p:cNvSpPr/>
          <p:nvPr/>
        </p:nvSpPr>
        <p:spPr>
          <a:xfrm>
            <a:off x="4511520" y="1582200"/>
            <a:ext cx="3414240" cy="258048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63" name="TextBox 14"/>
          <p:cNvSpPr/>
          <p:nvPr/>
        </p:nvSpPr>
        <p:spPr>
          <a:xfrm>
            <a:off x="5046120" y="2893320"/>
            <a:ext cx="2420280" cy="73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 группах в нашем учебном центре онлайн по общему графику.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64" name="Google Shape;321;p35"/>
          <p:cNvSpPr/>
          <p:nvPr/>
        </p:nvSpPr>
        <p:spPr>
          <a:xfrm>
            <a:off x="10347120" y="5406480"/>
            <a:ext cx="810000" cy="829440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200" b="0" u="none" strike="noStrike">
              <a:solidFill>
                <a:schemeClr val="dk1"/>
              </a:solidFill>
              <a:effectLst/>
              <a:uFillTx/>
              <a:latin typeface="Manrope"/>
            </a:endParaRPr>
          </a:p>
        </p:txBody>
      </p:sp>
      <p:cxnSp>
        <p:nvCxnSpPr>
          <p:cNvPr id="265" name="Прямая соединительная линия 26"/>
          <p:cNvCxnSpPr>
            <a:stCxn id="266" idx="0"/>
            <a:endCxn id="267" idx="2"/>
          </p:cNvCxnSpPr>
          <p:nvPr/>
        </p:nvCxnSpPr>
        <p:spPr>
          <a:xfrm>
            <a:off x="3024000" y="4910400"/>
            <a:ext cx="5820840" cy="360"/>
          </a:xfrm>
          <a:prstGeom prst="straightConnector1">
            <a:avLst/>
          </a:prstGeom>
          <a:ln w="9525">
            <a:solidFill>
              <a:srgbClr val="0386FC"/>
            </a:solidFill>
          </a:ln>
        </p:spPr>
      </p:cxnSp>
      <p:sp>
        <p:nvSpPr>
          <p:cNvPr id="268" name="Google Shape;321;p35"/>
          <p:cNvSpPr/>
          <p:nvPr/>
        </p:nvSpPr>
        <p:spPr>
          <a:xfrm>
            <a:off x="6400080" y="5641200"/>
            <a:ext cx="72324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Manrope ExtraBold"/>
              </a:rPr>
              <a:t>Linux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269" name="Google Shape;321;p35"/>
          <p:cNvSpPr/>
          <p:nvPr/>
        </p:nvSpPr>
        <p:spPr>
          <a:xfrm>
            <a:off x="7282800" y="5641200"/>
            <a:ext cx="117540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АСМОграф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270" name="Google Shape;321;p35"/>
          <p:cNvSpPr/>
          <p:nvPr/>
        </p:nvSpPr>
        <p:spPr>
          <a:xfrm>
            <a:off x="3326040" y="5641200"/>
            <a:ext cx="108072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nanoCAD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271" name="Google Shape;321;p35"/>
          <p:cNvSpPr/>
          <p:nvPr/>
        </p:nvSpPr>
        <p:spPr>
          <a:xfrm>
            <a:off x="4566240" y="5641200"/>
            <a:ext cx="167472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Model Studio CS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272" name="Прямоугольник: скругленные углы 8"/>
          <p:cNvSpPr/>
          <p:nvPr/>
        </p:nvSpPr>
        <p:spPr>
          <a:xfrm>
            <a:off x="675000" y="1599480"/>
            <a:ext cx="3414240" cy="258048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73" name="Прямоугольник: скругленные углы 10"/>
          <p:cNvSpPr/>
          <p:nvPr/>
        </p:nvSpPr>
        <p:spPr>
          <a:xfrm>
            <a:off x="8335080" y="1599480"/>
            <a:ext cx="3414240" cy="258048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74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75" name="Прямая со стрелкой 12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76" name="TextBox 13"/>
          <p:cNvSpPr/>
          <p:nvPr/>
        </p:nvSpPr>
        <p:spPr>
          <a:xfrm>
            <a:off x="696960" y="2855520"/>
            <a:ext cx="3369960" cy="95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 нашем учебном центре,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на вашей территории или онлайн,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с учетом специфики проектов и технологий компании.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77" name="TextBox 15"/>
          <p:cNvSpPr/>
          <p:nvPr/>
        </p:nvSpPr>
        <p:spPr>
          <a:xfrm>
            <a:off x="8384040" y="2844360"/>
            <a:ext cx="3316320" cy="11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Доступ к видеоурокам и тестам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для самостоятельного изучения,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что помогает быстро обучать сотрудников и оптимизировать затраты.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78" name="TextBox 16"/>
          <p:cNvSpPr/>
          <p:nvPr/>
        </p:nvSpPr>
        <p:spPr>
          <a:xfrm>
            <a:off x="891720" y="1919520"/>
            <a:ext cx="299448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Корпоративное обучение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79" name="TextBox 17"/>
          <p:cNvSpPr/>
          <p:nvPr/>
        </p:nvSpPr>
        <p:spPr>
          <a:xfrm>
            <a:off x="4527360" y="1932840"/>
            <a:ext cx="336996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Потоковое обучение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80" name="TextBox 18"/>
          <p:cNvSpPr/>
          <p:nvPr/>
        </p:nvSpPr>
        <p:spPr>
          <a:xfrm>
            <a:off x="8903520" y="1932840"/>
            <a:ext cx="22777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Онлайн-обучение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66" name="Google Shape;321;p35"/>
          <p:cNvSpPr/>
          <p:nvPr/>
        </p:nvSpPr>
        <p:spPr>
          <a:xfrm>
            <a:off x="696960" y="4685760"/>
            <a:ext cx="2327040" cy="449280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Запишитесь на обучение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81" name="Google Shape;321;p35"/>
          <p:cNvSpPr/>
          <p:nvPr/>
        </p:nvSpPr>
        <p:spPr>
          <a:xfrm>
            <a:off x="3711960" y="4685760"/>
            <a:ext cx="1721520" cy="449280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Получите доступ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82" name="Google Shape;321;p35"/>
          <p:cNvSpPr/>
          <p:nvPr/>
        </p:nvSpPr>
        <p:spPr>
          <a:xfrm>
            <a:off x="6121080" y="4685760"/>
            <a:ext cx="2035440" cy="449280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Пройдите обучение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67" name="Google Shape;321;p35"/>
          <p:cNvSpPr/>
          <p:nvPr/>
        </p:nvSpPr>
        <p:spPr>
          <a:xfrm>
            <a:off x="8844480" y="4685760"/>
            <a:ext cx="2856240" cy="449280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Применяйте знания на практике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83" name="Прямоугольник: скругленные углы 27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84" name="Google Shape;321;p35"/>
          <p:cNvSpPr/>
          <p:nvPr/>
        </p:nvSpPr>
        <p:spPr>
          <a:xfrm>
            <a:off x="696960" y="5641200"/>
            <a:ext cx="246960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Обучаем работе в ПО: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285" name="Google Shape;126;p27"/>
          <p:cNvSpPr/>
          <p:nvPr/>
        </p:nvSpPr>
        <p:spPr>
          <a:xfrm>
            <a:off x="10168200" y="6337800"/>
            <a:ext cx="117396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200" b="0" u="sng" strike="noStrike">
                <a:solidFill>
                  <a:srgbClr val="0088FE"/>
                </a:solidFill>
                <a:effectLst/>
                <a:uFillTx/>
                <a:latin typeface="+mn-lt"/>
                <a:ea typeface="Manrope"/>
                <a:hlinkClick r:id="rId1"/>
              </a:rPr>
              <a:t>Записаться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200" b="0" u="sng" strike="noStrike">
                <a:solidFill>
                  <a:srgbClr val="0088FE"/>
                </a:solidFill>
                <a:effectLst/>
                <a:uFillTx/>
                <a:latin typeface="+mn-lt"/>
                <a:ea typeface="Manrope"/>
                <a:hlinkClick r:id="rId2"/>
              </a:rPr>
              <a:t>на обучение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86" name="Рисунок 42"/>
          <p:cNvSpPr/>
          <p:nvPr/>
        </p:nvSpPr>
        <p:spPr>
          <a:xfrm>
            <a:off x="10400760" y="5517000"/>
            <a:ext cx="682560" cy="680400"/>
          </a:xfrm>
          <a:prstGeom prst="roundRect">
            <a:avLst>
              <a:gd name="adj" fmla="val 9971"/>
            </a:avLst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ru-RU" sz="18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pic>
        <p:nvPicPr>
          <p:cNvPr id="28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4">
            <a:alphaModFix amt="70000"/>
          </a:blip>
          <a:srcRect l="0" t="70797" r="0" b="0"/>
          <a:stretch/>
        </p:blipFill>
        <p:spPr>
          <a:xfrm rot="5400000">
            <a:off x="-1804680" y="3560040"/>
            <a:ext cx="3885840" cy="275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8" name="Google Shape;9193;p66"/>
          <p:cNvSpPr/>
          <p:nvPr/>
        </p:nvSpPr>
        <p:spPr>
          <a:xfrm>
            <a:off x="9862200" y="2363040"/>
            <a:ext cx="360000" cy="358560"/>
          </a:xfrm>
          <a:custGeom>
            <a:avLst/>
            <a:gdLst>
              <a:gd name="textAreaLeft" fmla="*/ 0 w 360000"/>
              <a:gd name="textAreaRight" fmla="*/ 360360 w 360000"/>
              <a:gd name="textAreaTop" fmla="*/ 0 h 358560"/>
              <a:gd name="textAreaBottom" fmla="*/ 358920 h 358560"/>
            </a:gdLst>
            <a:ahLst/>
            <a:cxnLst/>
            <a:rect l="textAreaLeft" t="textAreaTop" r="textAreaRight" b="textAreaBottom"/>
            <a:pathLst>
              <a:path w="11348" h="11300">
                <a:moveTo>
                  <a:pt x="7752" y="846"/>
                </a:moveTo>
                <a:cubicBezTo>
                  <a:pt x="7978" y="846"/>
                  <a:pt x="8133" y="1025"/>
                  <a:pt x="8133" y="1239"/>
                </a:cubicBezTo>
                <a:lnTo>
                  <a:pt x="8133" y="4001"/>
                </a:lnTo>
                <a:lnTo>
                  <a:pt x="4252" y="4001"/>
                </a:lnTo>
                <a:cubicBezTo>
                  <a:pt x="3763" y="4001"/>
                  <a:pt x="3359" y="4406"/>
                  <a:pt x="3359" y="4894"/>
                </a:cubicBezTo>
                <a:lnTo>
                  <a:pt x="3359" y="4990"/>
                </a:lnTo>
                <a:lnTo>
                  <a:pt x="1168" y="4990"/>
                </a:lnTo>
                <a:lnTo>
                  <a:pt x="1168" y="5001"/>
                </a:lnTo>
                <a:cubicBezTo>
                  <a:pt x="942" y="5001"/>
                  <a:pt x="787" y="4823"/>
                  <a:pt x="787" y="4609"/>
                </a:cubicBezTo>
                <a:lnTo>
                  <a:pt x="787" y="1239"/>
                </a:lnTo>
                <a:cubicBezTo>
                  <a:pt x="787" y="1013"/>
                  <a:pt x="965" y="846"/>
                  <a:pt x="1168" y="846"/>
                </a:cubicBezTo>
                <a:close/>
                <a:moveTo>
                  <a:pt x="3370" y="6621"/>
                </a:moveTo>
                <a:lnTo>
                  <a:pt x="3370" y="6978"/>
                </a:lnTo>
                <a:lnTo>
                  <a:pt x="3180" y="6978"/>
                </a:lnTo>
                <a:lnTo>
                  <a:pt x="3370" y="6621"/>
                </a:lnTo>
                <a:close/>
                <a:moveTo>
                  <a:pt x="3382" y="7335"/>
                </a:moveTo>
                <a:lnTo>
                  <a:pt x="3382" y="7490"/>
                </a:lnTo>
                <a:lnTo>
                  <a:pt x="2644" y="7490"/>
                </a:lnTo>
                <a:cubicBezTo>
                  <a:pt x="2597" y="7490"/>
                  <a:pt x="2573" y="7454"/>
                  <a:pt x="2573" y="7407"/>
                </a:cubicBezTo>
                <a:cubicBezTo>
                  <a:pt x="2573" y="7383"/>
                  <a:pt x="2585" y="7371"/>
                  <a:pt x="2597" y="7347"/>
                </a:cubicBezTo>
                <a:cubicBezTo>
                  <a:pt x="2620" y="7335"/>
                  <a:pt x="2632" y="7335"/>
                  <a:pt x="2656" y="7335"/>
                </a:cubicBezTo>
                <a:close/>
                <a:moveTo>
                  <a:pt x="8966" y="8276"/>
                </a:moveTo>
                <a:cubicBezTo>
                  <a:pt x="9062" y="8276"/>
                  <a:pt x="9133" y="8347"/>
                  <a:pt x="9133" y="8442"/>
                </a:cubicBezTo>
                <a:lnTo>
                  <a:pt x="9133" y="8573"/>
                </a:lnTo>
                <a:cubicBezTo>
                  <a:pt x="9109" y="8573"/>
                  <a:pt x="9074" y="8561"/>
                  <a:pt x="9038" y="8561"/>
                </a:cubicBezTo>
                <a:lnTo>
                  <a:pt x="7454" y="8561"/>
                </a:lnTo>
                <a:cubicBezTo>
                  <a:pt x="7419" y="8561"/>
                  <a:pt x="7395" y="8561"/>
                  <a:pt x="7359" y="8573"/>
                </a:cubicBezTo>
                <a:lnTo>
                  <a:pt x="7359" y="8442"/>
                </a:lnTo>
                <a:cubicBezTo>
                  <a:pt x="7359" y="8347"/>
                  <a:pt x="7430" y="8276"/>
                  <a:pt x="7526" y="8276"/>
                </a:cubicBezTo>
                <a:close/>
                <a:moveTo>
                  <a:pt x="9883" y="4347"/>
                </a:moveTo>
                <a:cubicBezTo>
                  <a:pt x="10193" y="4347"/>
                  <a:pt x="10443" y="4597"/>
                  <a:pt x="10443" y="4906"/>
                </a:cubicBezTo>
                <a:lnTo>
                  <a:pt x="10443" y="9276"/>
                </a:lnTo>
                <a:lnTo>
                  <a:pt x="9478" y="9276"/>
                </a:lnTo>
                <a:lnTo>
                  <a:pt x="9478" y="9109"/>
                </a:lnTo>
                <a:lnTo>
                  <a:pt x="9764" y="9109"/>
                </a:lnTo>
                <a:cubicBezTo>
                  <a:pt x="10038" y="9109"/>
                  <a:pt x="10264" y="8883"/>
                  <a:pt x="10264" y="8597"/>
                </a:cubicBezTo>
                <a:lnTo>
                  <a:pt x="10264" y="5942"/>
                </a:lnTo>
                <a:cubicBezTo>
                  <a:pt x="10264" y="5847"/>
                  <a:pt x="10193" y="5775"/>
                  <a:pt x="10097" y="5775"/>
                </a:cubicBezTo>
                <a:cubicBezTo>
                  <a:pt x="10014" y="5775"/>
                  <a:pt x="9931" y="5847"/>
                  <a:pt x="9931" y="5942"/>
                </a:cubicBezTo>
                <a:lnTo>
                  <a:pt x="9931" y="8585"/>
                </a:lnTo>
                <a:cubicBezTo>
                  <a:pt x="9931" y="8680"/>
                  <a:pt x="9859" y="8752"/>
                  <a:pt x="9764" y="8752"/>
                </a:cubicBezTo>
                <a:lnTo>
                  <a:pt x="9478" y="8752"/>
                </a:lnTo>
                <a:lnTo>
                  <a:pt x="9478" y="8419"/>
                </a:lnTo>
                <a:cubicBezTo>
                  <a:pt x="9478" y="8157"/>
                  <a:pt x="9252" y="7918"/>
                  <a:pt x="8966" y="7918"/>
                </a:cubicBezTo>
                <a:lnTo>
                  <a:pt x="7526" y="7918"/>
                </a:lnTo>
                <a:cubicBezTo>
                  <a:pt x="7264" y="7918"/>
                  <a:pt x="7026" y="8145"/>
                  <a:pt x="7026" y="8419"/>
                </a:cubicBezTo>
                <a:lnTo>
                  <a:pt x="7026" y="8752"/>
                </a:lnTo>
                <a:lnTo>
                  <a:pt x="4382" y="8752"/>
                </a:lnTo>
                <a:cubicBezTo>
                  <a:pt x="4299" y="8752"/>
                  <a:pt x="4204" y="8680"/>
                  <a:pt x="4204" y="8585"/>
                </a:cubicBezTo>
                <a:lnTo>
                  <a:pt x="4204" y="5121"/>
                </a:lnTo>
                <a:cubicBezTo>
                  <a:pt x="4204" y="5025"/>
                  <a:pt x="4287" y="4942"/>
                  <a:pt x="4382" y="4942"/>
                </a:cubicBezTo>
                <a:lnTo>
                  <a:pt x="9740" y="4942"/>
                </a:lnTo>
                <a:cubicBezTo>
                  <a:pt x="9836" y="4942"/>
                  <a:pt x="9919" y="5013"/>
                  <a:pt x="9919" y="5121"/>
                </a:cubicBezTo>
                <a:lnTo>
                  <a:pt x="9919" y="5251"/>
                </a:lnTo>
                <a:cubicBezTo>
                  <a:pt x="9919" y="5347"/>
                  <a:pt x="10002" y="5418"/>
                  <a:pt x="10086" y="5418"/>
                </a:cubicBezTo>
                <a:cubicBezTo>
                  <a:pt x="10181" y="5418"/>
                  <a:pt x="10252" y="5347"/>
                  <a:pt x="10252" y="5251"/>
                </a:cubicBezTo>
                <a:lnTo>
                  <a:pt x="10252" y="5121"/>
                </a:lnTo>
                <a:cubicBezTo>
                  <a:pt x="10252" y="4835"/>
                  <a:pt x="10026" y="4609"/>
                  <a:pt x="9740" y="4609"/>
                </a:cubicBezTo>
                <a:lnTo>
                  <a:pt x="4382" y="4609"/>
                </a:lnTo>
                <a:cubicBezTo>
                  <a:pt x="4109" y="4609"/>
                  <a:pt x="3882" y="4835"/>
                  <a:pt x="3882" y="5121"/>
                </a:cubicBezTo>
                <a:lnTo>
                  <a:pt x="3882" y="8585"/>
                </a:lnTo>
                <a:cubicBezTo>
                  <a:pt x="3882" y="8871"/>
                  <a:pt x="4109" y="9097"/>
                  <a:pt x="4382" y="9097"/>
                </a:cubicBezTo>
                <a:lnTo>
                  <a:pt x="7026" y="9097"/>
                </a:lnTo>
                <a:lnTo>
                  <a:pt x="7026" y="9252"/>
                </a:lnTo>
                <a:lnTo>
                  <a:pt x="3716" y="9252"/>
                </a:lnTo>
                <a:lnTo>
                  <a:pt x="3716" y="4906"/>
                </a:lnTo>
                <a:cubicBezTo>
                  <a:pt x="3716" y="4597"/>
                  <a:pt x="3966" y="4347"/>
                  <a:pt x="4287" y="4347"/>
                </a:cubicBezTo>
                <a:close/>
                <a:moveTo>
                  <a:pt x="7038" y="9597"/>
                </a:moveTo>
                <a:lnTo>
                  <a:pt x="7038" y="10002"/>
                </a:lnTo>
                <a:lnTo>
                  <a:pt x="3549" y="10002"/>
                </a:lnTo>
                <a:cubicBezTo>
                  <a:pt x="3539" y="10003"/>
                  <a:pt x="3529" y="10004"/>
                  <a:pt x="3520" y="10004"/>
                </a:cubicBezTo>
                <a:cubicBezTo>
                  <a:pt x="3434" y="10004"/>
                  <a:pt x="3351" y="9959"/>
                  <a:pt x="3287" y="9895"/>
                </a:cubicBezTo>
                <a:cubicBezTo>
                  <a:pt x="3216" y="9823"/>
                  <a:pt x="3168" y="9716"/>
                  <a:pt x="3168" y="9609"/>
                </a:cubicBezTo>
                <a:cubicBezTo>
                  <a:pt x="3168" y="9597"/>
                  <a:pt x="3168" y="9597"/>
                  <a:pt x="3180" y="9597"/>
                </a:cubicBezTo>
                <a:close/>
                <a:moveTo>
                  <a:pt x="10990" y="9609"/>
                </a:moveTo>
                <a:lnTo>
                  <a:pt x="10990" y="9633"/>
                </a:lnTo>
                <a:cubicBezTo>
                  <a:pt x="10979" y="9835"/>
                  <a:pt x="10812" y="10014"/>
                  <a:pt x="10598" y="10014"/>
                </a:cubicBezTo>
                <a:lnTo>
                  <a:pt x="9478" y="10014"/>
                </a:lnTo>
                <a:lnTo>
                  <a:pt x="9478" y="9609"/>
                </a:lnTo>
                <a:close/>
                <a:moveTo>
                  <a:pt x="9050" y="8883"/>
                </a:moveTo>
                <a:cubicBezTo>
                  <a:pt x="9085" y="8883"/>
                  <a:pt x="9133" y="8931"/>
                  <a:pt x="9133" y="8978"/>
                </a:cubicBezTo>
                <a:lnTo>
                  <a:pt x="9133" y="10240"/>
                </a:lnTo>
                <a:cubicBezTo>
                  <a:pt x="9133" y="10288"/>
                  <a:pt x="9085" y="10324"/>
                  <a:pt x="9050" y="10324"/>
                </a:cubicBezTo>
                <a:lnTo>
                  <a:pt x="7454" y="10324"/>
                </a:lnTo>
                <a:cubicBezTo>
                  <a:pt x="7407" y="10324"/>
                  <a:pt x="7359" y="10288"/>
                  <a:pt x="7359" y="10240"/>
                </a:cubicBezTo>
                <a:lnTo>
                  <a:pt x="7359" y="10181"/>
                </a:lnTo>
                <a:lnTo>
                  <a:pt x="7359" y="8978"/>
                </a:lnTo>
                <a:cubicBezTo>
                  <a:pt x="7359" y="8931"/>
                  <a:pt x="7407" y="8883"/>
                  <a:pt x="7454" y="8883"/>
                </a:cubicBezTo>
                <a:close/>
                <a:moveTo>
                  <a:pt x="9133" y="10645"/>
                </a:moveTo>
                <a:lnTo>
                  <a:pt x="9133" y="10776"/>
                </a:lnTo>
                <a:cubicBezTo>
                  <a:pt x="9133" y="10859"/>
                  <a:pt x="9062" y="10943"/>
                  <a:pt x="8966" y="10943"/>
                </a:cubicBezTo>
                <a:lnTo>
                  <a:pt x="7526" y="10943"/>
                </a:lnTo>
                <a:cubicBezTo>
                  <a:pt x="7442" y="10943"/>
                  <a:pt x="7359" y="10859"/>
                  <a:pt x="7359" y="10776"/>
                </a:cubicBezTo>
                <a:lnTo>
                  <a:pt x="7359" y="10645"/>
                </a:lnTo>
                <a:cubicBezTo>
                  <a:pt x="7395" y="10645"/>
                  <a:pt x="7419" y="10657"/>
                  <a:pt x="7454" y="10657"/>
                </a:cubicBezTo>
                <a:lnTo>
                  <a:pt x="9050" y="10657"/>
                </a:lnTo>
                <a:cubicBezTo>
                  <a:pt x="9074" y="10657"/>
                  <a:pt x="9109" y="10657"/>
                  <a:pt x="9133" y="10645"/>
                </a:cubicBezTo>
                <a:close/>
                <a:moveTo>
                  <a:pt x="858" y="1"/>
                </a:moveTo>
                <a:cubicBezTo>
                  <a:pt x="382" y="1"/>
                  <a:pt x="1" y="382"/>
                  <a:pt x="1" y="858"/>
                </a:cubicBezTo>
                <a:lnTo>
                  <a:pt x="1" y="5561"/>
                </a:lnTo>
                <a:cubicBezTo>
                  <a:pt x="1" y="6037"/>
                  <a:pt x="382" y="6430"/>
                  <a:pt x="858" y="6430"/>
                </a:cubicBezTo>
                <a:lnTo>
                  <a:pt x="1334" y="6430"/>
                </a:lnTo>
                <a:cubicBezTo>
                  <a:pt x="1430" y="6430"/>
                  <a:pt x="1501" y="6359"/>
                  <a:pt x="1501" y="6264"/>
                </a:cubicBezTo>
                <a:cubicBezTo>
                  <a:pt x="1501" y="6180"/>
                  <a:pt x="1430" y="6097"/>
                  <a:pt x="1334" y="6097"/>
                </a:cubicBezTo>
                <a:lnTo>
                  <a:pt x="858" y="6097"/>
                </a:lnTo>
                <a:cubicBezTo>
                  <a:pt x="572" y="6097"/>
                  <a:pt x="334" y="5859"/>
                  <a:pt x="334" y="5585"/>
                </a:cubicBezTo>
                <a:lnTo>
                  <a:pt x="334" y="882"/>
                </a:lnTo>
                <a:cubicBezTo>
                  <a:pt x="334" y="596"/>
                  <a:pt x="572" y="358"/>
                  <a:pt x="858" y="358"/>
                </a:cubicBezTo>
                <a:lnTo>
                  <a:pt x="8062" y="358"/>
                </a:lnTo>
                <a:cubicBezTo>
                  <a:pt x="8347" y="358"/>
                  <a:pt x="8585" y="596"/>
                  <a:pt x="8585" y="882"/>
                </a:cubicBezTo>
                <a:lnTo>
                  <a:pt x="8585" y="4001"/>
                </a:lnTo>
                <a:lnTo>
                  <a:pt x="8478" y="4001"/>
                </a:lnTo>
                <a:lnTo>
                  <a:pt x="8478" y="1215"/>
                </a:lnTo>
                <a:cubicBezTo>
                  <a:pt x="8478" y="822"/>
                  <a:pt x="8157" y="489"/>
                  <a:pt x="7752" y="489"/>
                </a:cubicBezTo>
                <a:lnTo>
                  <a:pt x="1168" y="489"/>
                </a:lnTo>
                <a:cubicBezTo>
                  <a:pt x="775" y="489"/>
                  <a:pt x="442" y="822"/>
                  <a:pt x="442" y="1215"/>
                </a:cubicBezTo>
                <a:lnTo>
                  <a:pt x="442" y="4597"/>
                </a:lnTo>
                <a:cubicBezTo>
                  <a:pt x="442" y="5001"/>
                  <a:pt x="775" y="5323"/>
                  <a:pt x="1168" y="5323"/>
                </a:cubicBezTo>
                <a:lnTo>
                  <a:pt x="3370" y="5323"/>
                </a:lnTo>
                <a:lnTo>
                  <a:pt x="3370" y="6085"/>
                </a:lnTo>
                <a:lnTo>
                  <a:pt x="2001" y="6085"/>
                </a:lnTo>
                <a:cubicBezTo>
                  <a:pt x="1918" y="6085"/>
                  <a:pt x="1846" y="6156"/>
                  <a:pt x="1846" y="6252"/>
                </a:cubicBezTo>
                <a:cubicBezTo>
                  <a:pt x="1846" y="6335"/>
                  <a:pt x="1918" y="6418"/>
                  <a:pt x="2001" y="6418"/>
                </a:cubicBezTo>
                <a:lnTo>
                  <a:pt x="3109" y="6418"/>
                </a:lnTo>
                <a:lnTo>
                  <a:pt x="2811" y="6978"/>
                </a:lnTo>
                <a:lnTo>
                  <a:pt x="2656" y="6978"/>
                </a:lnTo>
                <a:cubicBezTo>
                  <a:pt x="2561" y="6978"/>
                  <a:pt x="2454" y="7026"/>
                  <a:pt x="2358" y="7097"/>
                </a:cubicBezTo>
                <a:cubicBezTo>
                  <a:pt x="2287" y="7168"/>
                  <a:pt x="2239" y="7276"/>
                  <a:pt x="2239" y="7395"/>
                </a:cubicBezTo>
                <a:cubicBezTo>
                  <a:pt x="2239" y="7621"/>
                  <a:pt x="2418" y="7811"/>
                  <a:pt x="2656" y="7811"/>
                </a:cubicBezTo>
                <a:lnTo>
                  <a:pt x="3394" y="7811"/>
                </a:lnTo>
                <a:lnTo>
                  <a:pt x="3394" y="9276"/>
                </a:lnTo>
                <a:lnTo>
                  <a:pt x="3192" y="9276"/>
                </a:lnTo>
                <a:cubicBezTo>
                  <a:pt x="3001" y="9276"/>
                  <a:pt x="2835" y="9431"/>
                  <a:pt x="2835" y="9633"/>
                </a:cubicBezTo>
                <a:cubicBezTo>
                  <a:pt x="2835" y="9823"/>
                  <a:pt x="2918" y="10002"/>
                  <a:pt x="3049" y="10145"/>
                </a:cubicBezTo>
                <a:cubicBezTo>
                  <a:pt x="3180" y="10288"/>
                  <a:pt x="3370" y="10359"/>
                  <a:pt x="3573" y="10359"/>
                </a:cubicBezTo>
                <a:lnTo>
                  <a:pt x="7049" y="10359"/>
                </a:lnTo>
                <a:lnTo>
                  <a:pt x="7049" y="10788"/>
                </a:lnTo>
                <a:cubicBezTo>
                  <a:pt x="7049" y="11062"/>
                  <a:pt x="7276" y="11300"/>
                  <a:pt x="7550" y="11300"/>
                </a:cubicBezTo>
                <a:lnTo>
                  <a:pt x="9002" y="11300"/>
                </a:lnTo>
                <a:cubicBezTo>
                  <a:pt x="9264" y="11300"/>
                  <a:pt x="9502" y="11074"/>
                  <a:pt x="9502" y="10788"/>
                </a:cubicBezTo>
                <a:lnTo>
                  <a:pt x="9502" y="10359"/>
                </a:lnTo>
                <a:lnTo>
                  <a:pt x="10621" y="10359"/>
                </a:lnTo>
                <a:cubicBezTo>
                  <a:pt x="11026" y="10359"/>
                  <a:pt x="11348" y="10026"/>
                  <a:pt x="11348" y="9633"/>
                </a:cubicBezTo>
                <a:cubicBezTo>
                  <a:pt x="11324" y="9526"/>
                  <a:pt x="11276" y="9431"/>
                  <a:pt x="11217" y="9371"/>
                </a:cubicBezTo>
                <a:cubicBezTo>
                  <a:pt x="11157" y="9312"/>
                  <a:pt x="11074" y="9276"/>
                  <a:pt x="10967" y="9276"/>
                </a:cubicBezTo>
                <a:lnTo>
                  <a:pt x="10776" y="9276"/>
                </a:lnTo>
                <a:lnTo>
                  <a:pt x="10776" y="4906"/>
                </a:lnTo>
                <a:cubicBezTo>
                  <a:pt x="10776" y="4418"/>
                  <a:pt x="10371" y="4013"/>
                  <a:pt x="9883" y="4013"/>
                </a:cubicBezTo>
                <a:lnTo>
                  <a:pt x="8931" y="4013"/>
                </a:lnTo>
                <a:lnTo>
                  <a:pt x="8931" y="858"/>
                </a:lnTo>
                <a:cubicBezTo>
                  <a:pt x="8931" y="382"/>
                  <a:pt x="8538" y="1"/>
                  <a:pt x="8062" y="1"/>
                </a:cubicBezTo>
                <a:close/>
              </a:path>
            </a:pathLst>
          </a:cu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289" name="Google Shape;9317;p66"/>
          <p:cNvSpPr/>
          <p:nvPr/>
        </p:nvSpPr>
        <p:spPr>
          <a:xfrm>
            <a:off x="2210760" y="2378520"/>
            <a:ext cx="343080" cy="343080"/>
          </a:xfrm>
          <a:custGeom>
            <a:avLst/>
            <a:gdLst>
              <a:gd name="textAreaLeft" fmla="*/ 0 w 343080"/>
              <a:gd name="textAreaRight" fmla="*/ 343440 w 343080"/>
              <a:gd name="textAreaTop" fmla="*/ 0 h 343080"/>
              <a:gd name="textAreaBottom" fmla="*/ 343440 h 343080"/>
            </a:gdLst>
            <a:ahLst/>
            <a:cxnLst/>
            <a:rect l="textAreaLeft" t="textAreaTop" r="textAreaRight" b="textAreaBottom"/>
            <a:pathLst>
              <a:path w="10812" h="10811">
                <a:moveTo>
                  <a:pt x="2769" y="2858"/>
                </a:moveTo>
                <a:cubicBezTo>
                  <a:pt x="2830" y="2858"/>
                  <a:pt x="2892" y="2866"/>
                  <a:pt x="2954" y="2881"/>
                </a:cubicBezTo>
                <a:cubicBezTo>
                  <a:pt x="3251" y="2941"/>
                  <a:pt x="3489" y="3191"/>
                  <a:pt x="3549" y="3489"/>
                </a:cubicBezTo>
                <a:cubicBezTo>
                  <a:pt x="3608" y="3774"/>
                  <a:pt x="3501" y="4036"/>
                  <a:pt x="3275" y="4227"/>
                </a:cubicBezTo>
                <a:cubicBezTo>
                  <a:pt x="3132" y="4346"/>
                  <a:pt x="3037" y="4548"/>
                  <a:pt x="3037" y="4739"/>
                </a:cubicBezTo>
                <a:lnTo>
                  <a:pt x="3037" y="5084"/>
                </a:lnTo>
                <a:cubicBezTo>
                  <a:pt x="3037" y="5346"/>
                  <a:pt x="3263" y="5572"/>
                  <a:pt x="3525" y="5572"/>
                </a:cubicBezTo>
                <a:lnTo>
                  <a:pt x="5228" y="5572"/>
                </a:lnTo>
                <a:lnTo>
                  <a:pt x="5228" y="7263"/>
                </a:lnTo>
                <a:cubicBezTo>
                  <a:pt x="5228" y="7370"/>
                  <a:pt x="5156" y="7441"/>
                  <a:pt x="5049" y="7441"/>
                </a:cubicBezTo>
                <a:lnTo>
                  <a:pt x="4704" y="7441"/>
                </a:lnTo>
                <a:cubicBezTo>
                  <a:pt x="4597" y="7441"/>
                  <a:pt x="4513" y="7406"/>
                  <a:pt x="4442" y="7322"/>
                </a:cubicBezTo>
                <a:cubicBezTo>
                  <a:pt x="4225" y="7076"/>
                  <a:pt x="3925" y="6935"/>
                  <a:pt x="3599" y="6935"/>
                </a:cubicBezTo>
                <a:cubicBezTo>
                  <a:pt x="3532" y="6935"/>
                  <a:pt x="3463" y="6941"/>
                  <a:pt x="3394" y="6953"/>
                </a:cubicBezTo>
                <a:cubicBezTo>
                  <a:pt x="2965" y="7025"/>
                  <a:pt x="2620" y="7370"/>
                  <a:pt x="2537" y="7787"/>
                </a:cubicBezTo>
                <a:cubicBezTo>
                  <a:pt x="2453" y="8120"/>
                  <a:pt x="2549" y="8454"/>
                  <a:pt x="2751" y="8715"/>
                </a:cubicBezTo>
                <a:cubicBezTo>
                  <a:pt x="2965" y="8965"/>
                  <a:pt x="3275" y="9108"/>
                  <a:pt x="3608" y="9108"/>
                </a:cubicBezTo>
                <a:cubicBezTo>
                  <a:pt x="3930" y="9108"/>
                  <a:pt x="4227" y="8965"/>
                  <a:pt x="4442" y="8715"/>
                </a:cubicBezTo>
                <a:cubicBezTo>
                  <a:pt x="4501" y="8632"/>
                  <a:pt x="4585" y="8608"/>
                  <a:pt x="4692" y="8608"/>
                </a:cubicBezTo>
                <a:lnTo>
                  <a:pt x="5037" y="8608"/>
                </a:lnTo>
                <a:cubicBezTo>
                  <a:pt x="5132" y="8608"/>
                  <a:pt x="5216" y="8680"/>
                  <a:pt x="5216" y="8787"/>
                </a:cubicBezTo>
                <a:lnTo>
                  <a:pt x="5216" y="10501"/>
                </a:lnTo>
                <a:lnTo>
                  <a:pt x="846" y="10501"/>
                </a:lnTo>
                <a:cubicBezTo>
                  <a:pt x="572" y="10501"/>
                  <a:pt x="334" y="10263"/>
                  <a:pt x="334" y="9977"/>
                </a:cubicBezTo>
                <a:lnTo>
                  <a:pt x="334" y="5572"/>
                </a:lnTo>
                <a:lnTo>
                  <a:pt x="2025" y="5572"/>
                </a:lnTo>
                <a:cubicBezTo>
                  <a:pt x="2299" y="5572"/>
                  <a:pt x="2513" y="5346"/>
                  <a:pt x="2513" y="5084"/>
                </a:cubicBezTo>
                <a:lnTo>
                  <a:pt x="2513" y="4727"/>
                </a:lnTo>
                <a:cubicBezTo>
                  <a:pt x="2513" y="4513"/>
                  <a:pt x="2430" y="4334"/>
                  <a:pt x="2299" y="4215"/>
                </a:cubicBezTo>
                <a:cubicBezTo>
                  <a:pt x="2120" y="4072"/>
                  <a:pt x="2013" y="3858"/>
                  <a:pt x="2013" y="3620"/>
                </a:cubicBezTo>
                <a:cubicBezTo>
                  <a:pt x="2013" y="3381"/>
                  <a:pt x="2120" y="3179"/>
                  <a:pt x="2299" y="3024"/>
                </a:cubicBezTo>
                <a:cubicBezTo>
                  <a:pt x="2431" y="2919"/>
                  <a:pt x="2596" y="2858"/>
                  <a:pt x="2769" y="2858"/>
                </a:cubicBezTo>
                <a:close/>
                <a:moveTo>
                  <a:pt x="10014" y="298"/>
                </a:moveTo>
                <a:cubicBezTo>
                  <a:pt x="10300" y="298"/>
                  <a:pt x="10538" y="536"/>
                  <a:pt x="10538" y="822"/>
                </a:cubicBezTo>
                <a:lnTo>
                  <a:pt x="10538" y="5239"/>
                </a:lnTo>
                <a:lnTo>
                  <a:pt x="10312" y="5239"/>
                </a:lnTo>
                <a:cubicBezTo>
                  <a:pt x="10228" y="5239"/>
                  <a:pt x="10157" y="5322"/>
                  <a:pt x="10157" y="5406"/>
                </a:cubicBezTo>
                <a:cubicBezTo>
                  <a:pt x="10157" y="5501"/>
                  <a:pt x="10228" y="5572"/>
                  <a:pt x="10312" y="5572"/>
                </a:cubicBezTo>
                <a:lnTo>
                  <a:pt x="10490" y="5572"/>
                </a:lnTo>
                <a:lnTo>
                  <a:pt x="10490" y="9977"/>
                </a:lnTo>
                <a:cubicBezTo>
                  <a:pt x="10490" y="10263"/>
                  <a:pt x="10252" y="10501"/>
                  <a:pt x="9978" y="10501"/>
                </a:cubicBezTo>
                <a:lnTo>
                  <a:pt x="5573" y="10501"/>
                </a:lnTo>
                <a:lnTo>
                  <a:pt x="5573" y="8799"/>
                </a:lnTo>
                <a:cubicBezTo>
                  <a:pt x="5573" y="8537"/>
                  <a:pt x="5347" y="8311"/>
                  <a:pt x="5073" y="8311"/>
                </a:cubicBezTo>
                <a:lnTo>
                  <a:pt x="4739" y="8311"/>
                </a:lnTo>
                <a:cubicBezTo>
                  <a:pt x="4525" y="8311"/>
                  <a:pt x="4347" y="8394"/>
                  <a:pt x="4227" y="8537"/>
                </a:cubicBezTo>
                <a:cubicBezTo>
                  <a:pt x="4085" y="8715"/>
                  <a:pt x="3870" y="8811"/>
                  <a:pt x="3632" y="8811"/>
                </a:cubicBezTo>
                <a:cubicBezTo>
                  <a:pt x="3394" y="8811"/>
                  <a:pt x="3192" y="8715"/>
                  <a:pt x="3037" y="8537"/>
                </a:cubicBezTo>
                <a:cubicBezTo>
                  <a:pt x="2894" y="8358"/>
                  <a:pt x="2834" y="8120"/>
                  <a:pt x="2894" y="7882"/>
                </a:cubicBezTo>
                <a:cubicBezTo>
                  <a:pt x="2954" y="7584"/>
                  <a:pt x="3204" y="7346"/>
                  <a:pt x="3501" y="7287"/>
                </a:cubicBezTo>
                <a:cubicBezTo>
                  <a:pt x="3557" y="7275"/>
                  <a:pt x="3612" y="7269"/>
                  <a:pt x="3665" y="7269"/>
                </a:cubicBezTo>
                <a:cubicBezTo>
                  <a:pt x="3887" y="7269"/>
                  <a:pt x="4086" y="7367"/>
                  <a:pt x="4239" y="7549"/>
                </a:cubicBezTo>
                <a:cubicBezTo>
                  <a:pt x="4358" y="7703"/>
                  <a:pt x="4561" y="7787"/>
                  <a:pt x="4751" y="7787"/>
                </a:cubicBezTo>
                <a:lnTo>
                  <a:pt x="5097" y="7787"/>
                </a:lnTo>
                <a:cubicBezTo>
                  <a:pt x="5359" y="7787"/>
                  <a:pt x="5585" y="7561"/>
                  <a:pt x="5585" y="7299"/>
                </a:cubicBezTo>
                <a:lnTo>
                  <a:pt x="5585" y="5596"/>
                </a:lnTo>
                <a:lnTo>
                  <a:pt x="7275" y="5596"/>
                </a:lnTo>
                <a:cubicBezTo>
                  <a:pt x="7383" y="5596"/>
                  <a:pt x="7454" y="5679"/>
                  <a:pt x="7454" y="5775"/>
                </a:cubicBezTo>
                <a:lnTo>
                  <a:pt x="7454" y="6120"/>
                </a:lnTo>
                <a:cubicBezTo>
                  <a:pt x="7454" y="6227"/>
                  <a:pt x="7418" y="6310"/>
                  <a:pt x="7335" y="6394"/>
                </a:cubicBezTo>
                <a:cubicBezTo>
                  <a:pt x="7037" y="6644"/>
                  <a:pt x="6894" y="7025"/>
                  <a:pt x="6966" y="7430"/>
                </a:cubicBezTo>
                <a:cubicBezTo>
                  <a:pt x="7037" y="7858"/>
                  <a:pt x="7383" y="8203"/>
                  <a:pt x="7799" y="8299"/>
                </a:cubicBezTo>
                <a:cubicBezTo>
                  <a:pt x="7871" y="8311"/>
                  <a:pt x="7954" y="8323"/>
                  <a:pt x="8037" y="8323"/>
                </a:cubicBezTo>
                <a:cubicBezTo>
                  <a:pt x="8288" y="8323"/>
                  <a:pt x="8526" y="8239"/>
                  <a:pt x="8728" y="8084"/>
                </a:cubicBezTo>
                <a:cubicBezTo>
                  <a:pt x="8978" y="7882"/>
                  <a:pt x="9121" y="7561"/>
                  <a:pt x="9121" y="7239"/>
                </a:cubicBezTo>
                <a:cubicBezTo>
                  <a:pt x="9121" y="6906"/>
                  <a:pt x="8978" y="6608"/>
                  <a:pt x="8728" y="6406"/>
                </a:cubicBezTo>
                <a:cubicBezTo>
                  <a:pt x="8645" y="6346"/>
                  <a:pt x="8621" y="6251"/>
                  <a:pt x="8621" y="6132"/>
                </a:cubicBezTo>
                <a:lnTo>
                  <a:pt x="8621" y="5798"/>
                </a:lnTo>
                <a:cubicBezTo>
                  <a:pt x="8621" y="5691"/>
                  <a:pt x="8692" y="5620"/>
                  <a:pt x="8799" y="5620"/>
                </a:cubicBezTo>
                <a:lnTo>
                  <a:pt x="9645" y="5620"/>
                </a:lnTo>
                <a:cubicBezTo>
                  <a:pt x="9740" y="5620"/>
                  <a:pt x="9812" y="5536"/>
                  <a:pt x="9812" y="5453"/>
                </a:cubicBezTo>
                <a:cubicBezTo>
                  <a:pt x="9812" y="5358"/>
                  <a:pt x="9740" y="5286"/>
                  <a:pt x="9645" y="5286"/>
                </a:cubicBezTo>
                <a:lnTo>
                  <a:pt x="8799" y="5286"/>
                </a:lnTo>
                <a:cubicBezTo>
                  <a:pt x="8526" y="5286"/>
                  <a:pt x="8311" y="5513"/>
                  <a:pt x="8311" y="5775"/>
                </a:cubicBezTo>
                <a:lnTo>
                  <a:pt x="8311" y="6120"/>
                </a:lnTo>
                <a:cubicBezTo>
                  <a:pt x="8311" y="6334"/>
                  <a:pt x="8395" y="6513"/>
                  <a:pt x="8526" y="6632"/>
                </a:cubicBezTo>
                <a:cubicBezTo>
                  <a:pt x="8704" y="6775"/>
                  <a:pt x="8811" y="6989"/>
                  <a:pt x="8811" y="7227"/>
                </a:cubicBezTo>
                <a:cubicBezTo>
                  <a:pt x="8811" y="7465"/>
                  <a:pt x="8704" y="7668"/>
                  <a:pt x="8526" y="7822"/>
                </a:cubicBezTo>
                <a:cubicBezTo>
                  <a:pt x="8394" y="7928"/>
                  <a:pt x="8229" y="7988"/>
                  <a:pt x="8056" y="7988"/>
                </a:cubicBezTo>
                <a:cubicBezTo>
                  <a:pt x="7995" y="7988"/>
                  <a:pt x="7933" y="7981"/>
                  <a:pt x="7871" y="7965"/>
                </a:cubicBezTo>
                <a:cubicBezTo>
                  <a:pt x="7573" y="7906"/>
                  <a:pt x="7335" y="7656"/>
                  <a:pt x="7275" y="7358"/>
                </a:cubicBezTo>
                <a:cubicBezTo>
                  <a:pt x="7216" y="7072"/>
                  <a:pt x="7323" y="6810"/>
                  <a:pt x="7549" y="6608"/>
                </a:cubicBezTo>
                <a:cubicBezTo>
                  <a:pt x="7692" y="6489"/>
                  <a:pt x="7787" y="6298"/>
                  <a:pt x="7787" y="6108"/>
                </a:cubicBezTo>
                <a:lnTo>
                  <a:pt x="7787" y="5763"/>
                </a:lnTo>
                <a:cubicBezTo>
                  <a:pt x="7787" y="5501"/>
                  <a:pt x="7561" y="5275"/>
                  <a:pt x="7287" y="5275"/>
                </a:cubicBezTo>
                <a:lnTo>
                  <a:pt x="5597" y="5275"/>
                </a:lnTo>
                <a:lnTo>
                  <a:pt x="5597" y="3572"/>
                </a:lnTo>
                <a:cubicBezTo>
                  <a:pt x="5597" y="3477"/>
                  <a:pt x="5668" y="3393"/>
                  <a:pt x="5775" y="3393"/>
                </a:cubicBezTo>
                <a:lnTo>
                  <a:pt x="6121" y="3393"/>
                </a:lnTo>
                <a:cubicBezTo>
                  <a:pt x="6216" y="3393"/>
                  <a:pt x="6311" y="3441"/>
                  <a:pt x="6383" y="3512"/>
                </a:cubicBezTo>
                <a:cubicBezTo>
                  <a:pt x="6592" y="3762"/>
                  <a:pt x="6901" y="3911"/>
                  <a:pt x="7234" y="3911"/>
                </a:cubicBezTo>
                <a:cubicBezTo>
                  <a:pt x="7299" y="3911"/>
                  <a:pt x="7364" y="3905"/>
                  <a:pt x="7430" y="3893"/>
                </a:cubicBezTo>
                <a:cubicBezTo>
                  <a:pt x="7859" y="3810"/>
                  <a:pt x="8204" y="3477"/>
                  <a:pt x="8288" y="3060"/>
                </a:cubicBezTo>
                <a:cubicBezTo>
                  <a:pt x="8359" y="2727"/>
                  <a:pt x="8276" y="2381"/>
                  <a:pt x="8061" y="2131"/>
                </a:cubicBezTo>
                <a:cubicBezTo>
                  <a:pt x="7859" y="1881"/>
                  <a:pt x="7549" y="1726"/>
                  <a:pt x="7216" y="1726"/>
                </a:cubicBezTo>
                <a:cubicBezTo>
                  <a:pt x="6894" y="1726"/>
                  <a:pt x="6597" y="1881"/>
                  <a:pt x="6383" y="2131"/>
                </a:cubicBezTo>
                <a:cubicBezTo>
                  <a:pt x="6323" y="2203"/>
                  <a:pt x="6240" y="2238"/>
                  <a:pt x="6132" y="2238"/>
                </a:cubicBezTo>
                <a:lnTo>
                  <a:pt x="5787" y="2238"/>
                </a:lnTo>
                <a:cubicBezTo>
                  <a:pt x="5680" y="2238"/>
                  <a:pt x="5609" y="2167"/>
                  <a:pt x="5609" y="2060"/>
                </a:cubicBezTo>
                <a:lnTo>
                  <a:pt x="5609" y="1215"/>
                </a:lnTo>
                <a:cubicBezTo>
                  <a:pt x="5609" y="1119"/>
                  <a:pt x="5537" y="1048"/>
                  <a:pt x="5442" y="1048"/>
                </a:cubicBezTo>
                <a:cubicBezTo>
                  <a:pt x="5359" y="1048"/>
                  <a:pt x="5287" y="1119"/>
                  <a:pt x="5287" y="1215"/>
                </a:cubicBezTo>
                <a:lnTo>
                  <a:pt x="5287" y="2060"/>
                </a:lnTo>
                <a:cubicBezTo>
                  <a:pt x="5287" y="2322"/>
                  <a:pt x="5501" y="2548"/>
                  <a:pt x="5775" y="2548"/>
                </a:cubicBezTo>
                <a:lnTo>
                  <a:pt x="6121" y="2548"/>
                </a:lnTo>
                <a:cubicBezTo>
                  <a:pt x="6323" y="2548"/>
                  <a:pt x="6502" y="2465"/>
                  <a:pt x="6621" y="2322"/>
                </a:cubicBezTo>
                <a:cubicBezTo>
                  <a:pt x="6775" y="2143"/>
                  <a:pt x="6978" y="2048"/>
                  <a:pt x="7216" y="2048"/>
                </a:cubicBezTo>
                <a:cubicBezTo>
                  <a:pt x="7454" y="2048"/>
                  <a:pt x="7668" y="2143"/>
                  <a:pt x="7811" y="2322"/>
                </a:cubicBezTo>
                <a:cubicBezTo>
                  <a:pt x="7966" y="2500"/>
                  <a:pt x="8026" y="2739"/>
                  <a:pt x="7966" y="2977"/>
                </a:cubicBezTo>
                <a:cubicBezTo>
                  <a:pt x="7907" y="3274"/>
                  <a:pt x="7656" y="3512"/>
                  <a:pt x="7359" y="3572"/>
                </a:cubicBezTo>
                <a:cubicBezTo>
                  <a:pt x="7303" y="3584"/>
                  <a:pt x="7248" y="3589"/>
                  <a:pt x="7193" y="3589"/>
                </a:cubicBezTo>
                <a:cubicBezTo>
                  <a:pt x="6969" y="3589"/>
                  <a:pt x="6762" y="3492"/>
                  <a:pt x="6609" y="3310"/>
                </a:cubicBezTo>
                <a:cubicBezTo>
                  <a:pt x="6490" y="3155"/>
                  <a:pt x="6299" y="3072"/>
                  <a:pt x="6097" y="3072"/>
                </a:cubicBezTo>
                <a:lnTo>
                  <a:pt x="5763" y="3072"/>
                </a:lnTo>
                <a:cubicBezTo>
                  <a:pt x="5490" y="3072"/>
                  <a:pt x="5275" y="3298"/>
                  <a:pt x="5275" y="3560"/>
                </a:cubicBezTo>
                <a:lnTo>
                  <a:pt x="5275" y="5263"/>
                </a:lnTo>
                <a:lnTo>
                  <a:pt x="3573" y="5263"/>
                </a:lnTo>
                <a:cubicBezTo>
                  <a:pt x="3465" y="5263"/>
                  <a:pt x="3394" y="5179"/>
                  <a:pt x="3394" y="5084"/>
                </a:cubicBezTo>
                <a:lnTo>
                  <a:pt x="3394" y="4727"/>
                </a:lnTo>
                <a:cubicBezTo>
                  <a:pt x="3394" y="4620"/>
                  <a:pt x="3442" y="4524"/>
                  <a:pt x="3513" y="4453"/>
                </a:cubicBezTo>
                <a:cubicBezTo>
                  <a:pt x="3811" y="4203"/>
                  <a:pt x="3954" y="3810"/>
                  <a:pt x="3882" y="3417"/>
                </a:cubicBezTo>
                <a:cubicBezTo>
                  <a:pt x="3811" y="2977"/>
                  <a:pt x="3465" y="2643"/>
                  <a:pt x="3049" y="2548"/>
                </a:cubicBezTo>
                <a:cubicBezTo>
                  <a:pt x="2973" y="2531"/>
                  <a:pt x="2896" y="2523"/>
                  <a:pt x="2820" y="2523"/>
                </a:cubicBezTo>
                <a:cubicBezTo>
                  <a:pt x="2570" y="2523"/>
                  <a:pt x="2323" y="2610"/>
                  <a:pt x="2132" y="2774"/>
                </a:cubicBezTo>
                <a:cubicBezTo>
                  <a:pt x="1870" y="2977"/>
                  <a:pt x="1727" y="3298"/>
                  <a:pt x="1727" y="3620"/>
                </a:cubicBezTo>
                <a:cubicBezTo>
                  <a:pt x="1727" y="3941"/>
                  <a:pt x="1870" y="4239"/>
                  <a:pt x="2132" y="4453"/>
                </a:cubicBezTo>
                <a:cubicBezTo>
                  <a:pt x="2203" y="4513"/>
                  <a:pt x="2227" y="4608"/>
                  <a:pt x="2227" y="4703"/>
                </a:cubicBezTo>
                <a:lnTo>
                  <a:pt x="2227" y="5048"/>
                </a:lnTo>
                <a:cubicBezTo>
                  <a:pt x="2227" y="5155"/>
                  <a:pt x="2156" y="5227"/>
                  <a:pt x="2049" y="5227"/>
                </a:cubicBezTo>
                <a:lnTo>
                  <a:pt x="358" y="5227"/>
                </a:lnTo>
                <a:lnTo>
                  <a:pt x="358" y="822"/>
                </a:lnTo>
                <a:cubicBezTo>
                  <a:pt x="358" y="536"/>
                  <a:pt x="596" y="298"/>
                  <a:pt x="882" y="298"/>
                </a:cubicBezTo>
                <a:lnTo>
                  <a:pt x="5287" y="298"/>
                </a:lnTo>
                <a:lnTo>
                  <a:pt x="5287" y="476"/>
                </a:lnTo>
                <a:cubicBezTo>
                  <a:pt x="5287" y="572"/>
                  <a:pt x="5359" y="643"/>
                  <a:pt x="5442" y="643"/>
                </a:cubicBezTo>
                <a:cubicBezTo>
                  <a:pt x="5537" y="643"/>
                  <a:pt x="5609" y="572"/>
                  <a:pt x="5609" y="476"/>
                </a:cubicBezTo>
                <a:lnTo>
                  <a:pt x="5609" y="298"/>
                </a:lnTo>
                <a:close/>
                <a:moveTo>
                  <a:pt x="834" y="0"/>
                </a:moveTo>
                <a:cubicBezTo>
                  <a:pt x="370" y="0"/>
                  <a:pt x="1" y="381"/>
                  <a:pt x="1" y="834"/>
                </a:cubicBezTo>
                <a:lnTo>
                  <a:pt x="1" y="9977"/>
                </a:lnTo>
                <a:cubicBezTo>
                  <a:pt x="1" y="10442"/>
                  <a:pt x="370" y="10811"/>
                  <a:pt x="834" y="10811"/>
                </a:cubicBezTo>
                <a:lnTo>
                  <a:pt x="9978" y="10811"/>
                </a:lnTo>
                <a:cubicBezTo>
                  <a:pt x="10431" y="10811"/>
                  <a:pt x="10812" y="10442"/>
                  <a:pt x="10812" y="9977"/>
                </a:cubicBezTo>
                <a:lnTo>
                  <a:pt x="10812" y="834"/>
                </a:lnTo>
                <a:cubicBezTo>
                  <a:pt x="10812" y="381"/>
                  <a:pt x="10431" y="0"/>
                  <a:pt x="9978" y="0"/>
                </a:cubicBezTo>
                <a:close/>
              </a:path>
            </a:pathLst>
          </a:cu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290" name="Google Shape;10677;p68"/>
          <p:cNvSpPr/>
          <p:nvPr/>
        </p:nvSpPr>
        <p:spPr>
          <a:xfrm>
            <a:off x="5963400" y="2387160"/>
            <a:ext cx="488880" cy="407880"/>
          </a:xfrm>
          <a:custGeom>
            <a:avLst/>
            <a:gdLst>
              <a:gd name="textAreaLeft" fmla="*/ 0 w 488880"/>
              <a:gd name="textAreaRight" fmla="*/ 489240 w 488880"/>
              <a:gd name="textAreaTop" fmla="*/ 0 h 407880"/>
              <a:gd name="textAreaBottom" fmla="*/ 408240 h 407880"/>
            </a:gdLst>
            <a:ahLst/>
            <a:cxnLst/>
            <a:rect l="textAreaLeft" t="textAreaTop" r="textAreaRight" b="textAreaBottom"/>
            <a:pathLst>
              <a:path w="10919" h="9109">
                <a:moveTo>
                  <a:pt x="2917" y="310"/>
                </a:moveTo>
                <a:cubicBezTo>
                  <a:pt x="3119" y="310"/>
                  <a:pt x="3286" y="476"/>
                  <a:pt x="3286" y="679"/>
                </a:cubicBezTo>
                <a:lnTo>
                  <a:pt x="3286" y="1036"/>
                </a:lnTo>
                <a:cubicBezTo>
                  <a:pt x="3250" y="1322"/>
                  <a:pt x="3012" y="1560"/>
                  <a:pt x="2715" y="1560"/>
                </a:cubicBezTo>
                <a:cubicBezTo>
                  <a:pt x="2417" y="1560"/>
                  <a:pt x="2179" y="1322"/>
                  <a:pt x="2179" y="1024"/>
                </a:cubicBezTo>
                <a:lnTo>
                  <a:pt x="2179" y="679"/>
                </a:lnTo>
                <a:cubicBezTo>
                  <a:pt x="2179" y="476"/>
                  <a:pt x="2346" y="310"/>
                  <a:pt x="2560" y="310"/>
                </a:cubicBezTo>
                <a:close/>
                <a:moveTo>
                  <a:pt x="5715" y="310"/>
                </a:moveTo>
                <a:cubicBezTo>
                  <a:pt x="5917" y="310"/>
                  <a:pt x="6084" y="476"/>
                  <a:pt x="6084" y="679"/>
                </a:cubicBezTo>
                <a:lnTo>
                  <a:pt x="6084" y="1036"/>
                </a:lnTo>
                <a:cubicBezTo>
                  <a:pt x="6048" y="1322"/>
                  <a:pt x="5810" y="1560"/>
                  <a:pt x="5513" y="1560"/>
                </a:cubicBezTo>
                <a:cubicBezTo>
                  <a:pt x="5215" y="1560"/>
                  <a:pt x="4977" y="1322"/>
                  <a:pt x="4977" y="1024"/>
                </a:cubicBezTo>
                <a:lnTo>
                  <a:pt x="4977" y="679"/>
                </a:lnTo>
                <a:cubicBezTo>
                  <a:pt x="4977" y="476"/>
                  <a:pt x="5144" y="310"/>
                  <a:pt x="5358" y="310"/>
                </a:cubicBezTo>
                <a:close/>
                <a:moveTo>
                  <a:pt x="8513" y="310"/>
                </a:moveTo>
                <a:cubicBezTo>
                  <a:pt x="8715" y="310"/>
                  <a:pt x="8882" y="476"/>
                  <a:pt x="8882" y="679"/>
                </a:cubicBezTo>
                <a:lnTo>
                  <a:pt x="8882" y="1036"/>
                </a:lnTo>
                <a:cubicBezTo>
                  <a:pt x="8846" y="1322"/>
                  <a:pt x="8608" y="1560"/>
                  <a:pt x="8311" y="1560"/>
                </a:cubicBezTo>
                <a:cubicBezTo>
                  <a:pt x="8013" y="1560"/>
                  <a:pt x="7775" y="1322"/>
                  <a:pt x="7775" y="1024"/>
                </a:cubicBezTo>
                <a:lnTo>
                  <a:pt x="7775" y="679"/>
                </a:lnTo>
                <a:cubicBezTo>
                  <a:pt x="7775" y="476"/>
                  <a:pt x="7941" y="310"/>
                  <a:pt x="8156" y="310"/>
                </a:cubicBezTo>
                <a:close/>
                <a:moveTo>
                  <a:pt x="2893" y="1881"/>
                </a:moveTo>
                <a:lnTo>
                  <a:pt x="2893" y="1977"/>
                </a:lnTo>
                <a:cubicBezTo>
                  <a:pt x="2893" y="2036"/>
                  <a:pt x="2905" y="2096"/>
                  <a:pt x="2941" y="2143"/>
                </a:cubicBezTo>
                <a:lnTo>
                  <a:pt x="2715" y="2358"/>
                </a:lnTo>
                <a:lnTo>
                  <a:pt x="2691" y="2358"/>
                </a:lnTo>
                <a:lnTo>
                  <a:pt x="2465" y="2143"/>
                </a:lnTo>
                <a:cubicBezTo>
                  <a:pt x="2500" y="2096"/>
                  <a:pt x="2512" y="2036"/>
                  <a:pt x="2512" y="1977"/>
                </a:cubicBezTo>
                <a:lnTo>
                  <a:pt x="2512" y="1881"/>
                </a:lnTo>
                <a:close/>
                <a:moveTo>
                  <a:pt x="5715" y="1881"/>
                </a:moveTo>
                <a:lnTo>
                  <a:pt x="5715" y="1977"/>
                </a:lnTo>
                <a:cubicBezTo>
                  <a:pt x="5715" y="2036"/>
                  <a:pt x="5727" y="2096"/>
                  <a:pt x="5751" y="2143"/>
                </a:cubicBezTo>
                <a:lnTo>
                  <a:pt x="5536" y="2358"/>
                </a:lnTo>
                <a:lnTo>
                  <a:pt x="5501" y="2358"/>
                </a:lnTo>
                <a:lnTo>
                  <a:pt x="5274" y="2143"/>
                </a:lnTo>
                <a:cubicBezTo>
                  <a:pt x="5310" y="2096"/>
                  <a:pt x="5322" y="2036"/>
                  <a:pt x="5322" y="1977"/>
                </a:cubicBezTo>
                <a:lnTo>
                  <a:pt x="5322" y="1881"/>
                </a:lnTo>
                <a:close/>
                <a:moveTo>
                  <a:pt x="8501" y="1881"/>
                </a:moveTo>
                <a:lnTo>
                  <a:pt x="8501" y="1977"/>
                </a:lnTo>
                <a:cubicBezTo>
                  <a:pt x="8501" y="2036"/>
                  <a:pt x="8525" y="2096"/>
                  <a:pt x="8549" y="2143"/>
                </a:cubicBezTo>
                <a:lnTo>
                  <a:pt x="8334" y="2358"/>
                </a:lnTo>
                <a:lnTo>
                  <a:pt x="8299" y="2358"/>
                </a:lnTo>
                <a:lnTo>
                  <a:pt x="8072" y="2143"/>
                </a:lnTo>
                <a:cubicBezTo>
                  <a:pt x="8108" y="2096"/>
                  <a:pt x="8120" y="2036"/>
                  <a:pt x="8120" y="1977"/>
                </a:cubicBezTo>
                <a:lnTo>
                  <a:pt x="8120" y="1881"/>
                </a:lnTo>
                <a:close/>
                <a:moveTo>
                  <a:pt x="9906" y="3286"/>
                </a:moveTo>
                <a:cubicBezTo>
                  <a:pt x="10120" y="3286"/>
                  <a:pt x="10275" y="3453"/>
                  <a:pt x="10275" y="3655"/>
                </a:cubicBezTo>
                <a:lnTo>
                  <a:pt x="10275" y="4012"/>
                </a:lnTo>
                <a:cubicBezTo>
                  <a:pt x="10263" y="4298"/>
                  <a:pt x="10013" y="4536"/>
                  <a:pt x="9716" y="4536"/>
                </a:cubicBezTo>
                <a:cubicBezTo>
                  <a:pt x="9418" y="4536"/>
                  <a:pt x="9180" y="4298"/>
                  <a:pt x="9180" y="4001"/>
                </a:cubicBezTo>
                <a:lnTo>
                  <a:pt x="9180" y="3655"/>
                </a:lnTo>
                <a:cubicBezTo>
                  <a:pt x="9180" y="3453"/>
                  <a:pt x="9346" y="3286"/>
                  <a:pt x="9549" y="3286"/>
                </a:cubicBezTo>
                <a:close/>
                <a:moveTo>
                  <a:pt x="1512" y="3286"/>
                </a:moveTo>
                <a:cubicBezTo>
                  <a:pt x="1691" y="3286"/>
                  <a:pt x="1857" y="3453"/>
                  <a:pt x="1857" y="3655"/>
                </a:cubicBezTo>
                <a:lnTo>
                  <a:pt x="1857" y="4012"/>
                </a:lnTo>
                <a:cubicBezTo>
                  <a:pt x="1857" y="4310"/>
                  <a:pt x="1619" y="4548"/>
                  <a:pt x="1322" y="4548"/>
                </a:cubicBezTo>
                <a:cubicBezTo>
                  <a:pt x="1024" y="4548"/>
                  <a:pt x="786" y="4310"/>
                  <a:pt x="786" y="4012"/>
                </a:cubicBezTo>
                <a:lnTo>
                  <a:pt x="786" y="3655"/>
                </a:lnTo>
                <a:cubicBezTo>
                  <a:pt x="786" y="3453"/>
                  <a:pt x="953" y="3286"/>
                  <a:pt x="1155" y="3286"/>
                </a:cubicBezTo>
                <a:close/>
                <a:moveTo>
                  <a:pt x="4310" y="3286"/>
                </a:moveTo>
                <a:cubicBezTo>
                  <a:pt x="4489" y="3286"/>
                  <a:pt x="4655" y="3453"/>
                  <a:pt x="4655" y="3655"/>
                </a:cubicBezTo>
                <a:lnTo>
                  <a:pt x="4655" y="4012"/>
                </a:lnTo>
                <a:cubicBezTo>
                  <a:pt x="4655" y="4310"/>
                  <a:pt x="4417" y="4548"/>
                  <a:pt x="4120" y="4548"/>
                </a:cubicBezTo>
                <a:cubicBezTo>
                  <a:pt x="3822" y="4548"/>
                  <a:pt x="3584" y="4310"/>
                  <a:pt x="3584" y="4012"/>
                </a:cubicBezTo>
                <a:lnTo>
                  <a:pt x="3584" y="3655"/>
                </a:lnTo>
                <a:cubicBezTo>
                  <a:pt x="3584" y="3453"/>
                  <a:pt x="3750" y="3286"/>
                  <a:pt x="3953" y="3286"/>
                </a:cubicBezTo>
                <a:close/>
                <a:moveTo>
                  <a:pt x="7108" y="3286"/>
                </a:moveTo>
                <a:cubicBezTo>
                  <a:pt x="7287" y="3286"/>
                  <a:pt x="7453" y="3453"/>
                  <a:pt x="7453" y="3655"/>
                </a:cubicBezTo>
                <a:lnTo>
                  <a:pt x="7453" y="4012"/>
                </a:lnTo>
                <a:cubicBezTo>
                  <a:pt x="7453" y="4310"/>
                  <a:pt x="7215" y="4548"/>
                  <a:pt x="6918" y="4548"/>
                </a:cubicBezTo>
                <a:cubicBezTo>
                  <a:pt x="6620" y="4548"/>
                  <a:pt x="6382" y="4310"/>
                  <a:pt x="6382" y="4012"/>
                </a:cubicBezTo>
                <a:lnTo>
                  <a:pt x="6382" y="3655"/>
                </a:lnTo>
                <a:cubicBezTo>
                  <a:pt x="6382" y="3453"/>
                  <a:pt x="6548" y="3286"/>
                  <a:pt x="6751" y="3286"/>
                </a:cubicBezTo>
                <a:close/>
                <a:moveTo>
                  <a:pt x="1500" y="4858"/>
                </a:moveTo>
                <a:lnTo>
                  <a:pt x="1500" y="4953"/>
                </a:lnTo>
                <a:cubicBezTo>
                  <a:pt x="1500" y="5013"/>
                  <a:pt x="1512" y="5072"/>
                  <a:pt x="1548" y="5120"/>
                </a:cubicBezTo>
                <a:lnTo>
                  <a:pt x="1322" y="5334"/>
                </a:lnTo>
                <a:lnTo>
                  <a:pt x="1286" y="5334"/>
                </a:lnTo>
                <a:lnTo>
                  <a:pt x="1072" y="5120"/>
                </a:lnTo>
                <a:cubicBezTo>
                  <a:pt x="1095" y="5072"/>
                  <a:pt x="1107" y="5013"/>
                  <a:pt x="1107" y="4953"/>
                </a:cubicBezTo>
                <a:lnTo>
                  <a:pt x="1107" y="4858"/>
                </a:lnTo>
                <a:close/>
                <a:moveTo>
                  <a:pt x="4298" y="4858"/>
                </a:moveTo>
                <a:lnTo>
                  <a:pt x="4298" y="4953"/>
                </a:lnTo>
                <a:cubicBezTo>
                  <a:pt x="4298" y="5013"/>
                  <a:pt x="4310" y="5072"/>
                  <a:pt x="4334" y="5120"/>
                </a:cubicBezTo>
                <a:lnTo>
                  <a:pt x="4120" y="5334"/>
                </a:lnTo>
                <a:lnTo>
                  <a:pt x="4084" y="5334"/>
                </a:lnTo>
                <a:lnTo>
                  <a:pt x="3870" y="5120"/>
                </a:lnTo>
                <a:cubicBezTo>
                  <a:pt x="3893" y="5072"/>
                  <a:pt x="3905" y="5013"/>
                  <a:pt x="3905" y="4953"/>
                </a:cubicBezTo>
                <a:lnTo>
                  <a:pt x="3905" y="4858"/>
                </a:lnTo>
                <a:close/>
                <a:moveTo>
                  <a:pt x="7108" y="4858"/>
                </a:moveTo>
                <a:lnTo>
                  <a:pt x="7108" y="4953"/>
                </a:lnTo>
                <a:cubicBezTo>
                  <a:pt x="7108" y="5013"/>
                  <a:pt x="7120" y="5072"/>
                  <a:pt x="7156" y="5120"/>
                </a:cubicBezTo>
                <a:lnTo>
                  <a:pt x="6929" y="5334"/>
                </a:lnTo>
                <a:lnTo>
                  <a:pt x="6906" y="5334"/>
                </a:lnTo>
                <a:lnTo>
                  <a:pt x="6679" y="5120"/>
                </a:lnTo>
                <a:cubicBezTo>
                  <a:pt x="6703" y="5072"/>
                  <a:pt x="6715" y="5013"/>
                  <a:pt x="6715" y="4953"/>
                </a:cubicBezTo>
                <a:lnTo>
                  <a:pt x="6715" y="4858"/>
                </a:lnTo>
                <a:close/>
                <a:moveTo>
                  <a:pt x="9906" y="4858"/>
                </a:moveTo>
                <a:lnTo>
                  <a:pt x="9906" y="4953"/>
                </a:lnTo>
                <a:cubicBezTo>
                  <a:pt x="9906" y="5013"/>
                  <a:pt x="9918" y="5072"/>
                  <a:pt x="9954" y="5120"/>
                </a:cubicBezTo>
                <a:lnTo>
                  <a:pt x="9727" y="5334"/>
                </a:lnTo>
                <a:lnTo>
                  <a:pt x="9704" y="5334"/>
                </a:lnTo>
                <a:lnTo>
                  <a:pt x="9477" y="5120"/>
                </a:lnTo>
                <a:cubicBezTo>
                  <a:pt x="9501" y="5072"/>
                  <a:pt x="9525" y="5013"/>
                  <a:pt x="9525" y="4953"/>
                </a:cubicBezTo>
                <a:lnTo>
                  <a:pt x="9525" y="4858"/>
                </a:lnTo>
                <a:close/>
                <a:moveTo>
                  <a:pt x="2453" y="0"/>
                </a:moveTo>
                <a:cubicBezTo>
                  <a:pt x="2084" y="0"/>
                  <a:pt x="1762" y="310"/>
                  <a:pt x="1762" y="679"/>
                </a:cubicBezTo>
                <a:lnTo>
                  <a:pt x="1762" y="1036"/>
                </a:lnTo>
                <a:cubicBezTo>
                  <a:pt x="1762" y="1322"/>
                  <a:pt x="1905" y="1572"/>
                  <a:pt x="2119" y="1726"/>
                </a:cubicBezTo>
                <a:lnTo>
                  <a:pt x="2119" y="1977"/>
                </a:lnTo>
                <a:cubicBezTo>
                  <a:pt x="2119" y="1977"/>
                  <a:pt x="2119" y="1988"/>
                  <a:pt x="2107" y="1988"/>
                </a:cubicBezTo>
                <a:lnTo>
                  <a:pt x="1691" y="2203"/>
                </a:lnTo>
                <a:cubicBezTo>
                  <a:pt x="1512" y="2286"/>
                  <a:pt x="1405" y="2465"/>
                  <a:pt x="1405" y="2655"/>
                </a:cubicBezTo>
                <a:lnTo>
                  <a:pt x="1405" y="2989"/>
                </a:lnTo>
                <a:lnTo>
                  <a:pt x="1036" y="2989"/>
                </a:lnTo>
                <a:cubicBezTo>
                  <a:pt x="667" y="2989"/>
                  <a:pt x="357" y="3298"/>
                  <a:pt x="357" y="3667"/>
                </a:cubicBezTo>
                <a:lnTo>
                  <a:pt x="357" y="4024"/>
                </a:lnTo>
                <a:cubicBezTo>
                  <a:pt x="357" y="4310"/>
                  <a:pt x="488" y="4560"/>
                  <a:pt x="714" y="4715"/>
                </a:cubicBezTo>
                <a:lnTo>
                  <a:pt x="714" y="4965"/>
                </a:lnTo>
                <a:cubicBezTo>
                  <a:pt x="714" y="4965"/>
                  <a:pt x="714" y="4977"/>
                  <a:pt x="691" y="4977"/>
                </a:cubicBezTo>
                <a:lnTo>
                  <a:pt x="274" y="5191"/>
                </a:lnTo>
                <a:cubicBezTo>
                  <a:pt x="95" y="5275"/>
                  <a:pt x="0" y="5453"/>
                  <a:pt x="0" y="5656"/>
                </a:cubicBezTo>
                <a:lnTo>
                  <a:pt x="0" y="7382"/>
                </a:lnTo>
                <a:cubicBezTo>
                  <a:pt x="0" y="7513"/>
                  <a:pt x="36" y="7644"/>
                  <a:pt x="119" y="7751"/>
                </a:cubicBezTo>
                <a:lnTo>
                  <a:pt x="298" y="8013"/>
                </a:lnTo>
                <a:cubicBezTo>
                  <a:pt x="333" y="8073"/>
                  <a:pt x="357" y="8156"/>
                  <a:pt x="357" y="8227"/>
                </a:cubicBezTo>
                <a:lnTo>
                  <a:pt x="357" y="8942"/>
                </a:lnTo>
                <a:cubicBezTo>
                  <a:pt x="357" y="9025"/>
                  <a:pt x="429" y="9108"/>
                  <a:pt x="512" y="9108"/>
                </a:cubicBezTo>
                <a:cubicBezTo>
                  <a:pt x="607" y="9108"/>
                  <a:pt x="679" y="9025"/>
                  <a:pt x="679" y="8942"/>
                </a:cubicBezTo>
                <a:lnTo>
                  <a:pt x="679" y="8227"/>
                </a:lnTo>
                <a:cubicBezTo>
                  <a:pt x="679" y="8096"/>
                  <a:pt x="631" y="7953"/>
                  <a:pt x="560" y="7858"/>
                </a:cubicBezTo>
                <a:lnTo>
                  <a:pt x="381" y="7584"/>
                </a:lnTo>
                <a:cubicBezTo>
                  <a:pt x="333" y="7525"/>
                  <a:pt x="321" y="7453"/>
                  <a:pt x="321" y="7382"/>
                </a:cubicBezTo>
                <a:lnTo>
                  <a:pt x="321" y="5656"/>
                </a:lnTo>
                <a:cubicBezTo>
                  <a:pt x="321" y="5572"/>
                  <a:pt x="369" y="5513"/>
                  <a:pt x="429" y="5477"/>
                </a:cubicBezTo>
                <a:lnTo>
                  <a:pt x="714" y="5322"/>
                </a:lnTo>
                <a:lnTo>
                  <a:pt x="976" y="5596"/>
                </a:lnTo>
                <a:cubicBezTo>
                  <a:pt x="1036" y="5656"/>
                  <a:pt x="1131" y="5691"/>
                  <a:pt x="1214" y="5691"/>
                </a:cubicBezTo>
                <a:cubicBezTo>
                  <a:pt x="1310" y="5691"/>
                  <a:pt x="1381" y="5667"/>
                  <a:pt x="1453" y="5596"/>
                </a:cubicBezTo>
                <a:lnTo>
                  <a:pt x="1726" y="5322"/>
                </a:lnTo>
                <a:lnTo>
                  <a:pt x="2000" y="5477"/>
                </a:lnTo>
                <a:cubicBezTo>
                  <a:pt x="2060" y="5501"/>
                  <a:pt x="2107" y="5572"/>
                  <a:pt x="2107" y="5656"/>
                </a:cubicBezTo>
                <a:lnTo>
                  <a:pt x="2107" y="7382"/>
                </a:lnTo>
                <a:cubicBezTo>
                  <a:pt x="2107" y="7453"/>
                  <a:pt x="2096" y="7525"/>
                  <a:pt x="2048" y="7584"/>
                </a:cubicBezTo>
                <a:lnTo>
                  <a:pt x="1869" y="7858"/>
                </a:lnTo>
                <a:cubicBezTo>
                  <a:pt x="1798" y="7977"/>
                  <a:pt x="1750" y="8096"/>
                  <a:pt x="1750" y="8227"/>
                </a:cubicBezTo>
                <a:lnTo>
                  <a:pt x="1750" y="8942"/>
                </a:lnTo>
                <a:cubicBezTo>
                  <a:pt x="1750" y="9025"/>
                  <a:pt x="1822" y="9108"/>
                  <a:pt x="1917" y="9108"/>
                </a:cubicBezTo>
                <a:cubicBezTo>
                  <a:pt x="2000" y="9108"/>
                  <a:pt x="2084" y="9025"/>
                  <a:pt x="2084" y="8942"/>
                </a:cubicBezTo>
                <a:lnTo>
                  <a:pt x="2084" y="8227"/>
                </a:lnTo>
                <a:cubicBezTo>
                  <a:pt x="2084" y="8156"/>
                  <a:pt x="2096" y="8073"/>
                  <a:pt x="2143" y="8013"/>
                </a:cubicBezTo>
                <a:lnTo>
                  <a:pt x="2322" y="7751"/>
                </a:lnTo>
                <a:cubicBezTo>
                  <a:pt x="2393" y="7632"/>
                  <a:pt x="2441" y="7513"/>
                  <a:pt x="2441" y="7382"/>
                </a:cubicBezTo>
                <a:lnTo>
                  <a:pt x="2441" y="5656"/>
                </a:lnTo>
                <a:cubicBezTo>
                  <a:pt x="2441" y="5453"/>
                  <a:pt x="2334" y="5275"/>
                  <a:pt x="2155" y="5191"/>
                </a:cubicBezTo>
                <a:lnTo>
                  <a:pt x="1738" y="4977"/>
                </a:lnTo>
                <a:lnTo>
                  <a:pt x="1726" y="4965"/>
                </a:lnTo>
                <a:lnTo>
                  <a:pt x="1726" y="4703"/>
                </a:lnTo>
                <a:cubicBezTo>
                  <a:pt x="1929" y="4536"/>
                  <a:pt x="2084" y="4298"/>
                  <a:pt x="2084" y="4012"/>
                </a:cubicBezTo>
                <a:lnTo>
                  <a:pt x="2084" y="3655"/>
                </a:lnTo>
                <a:cubicBezTo>
                  <a:pt x="2084" y="3405"/>
                  <a:pt x="1929" y="3179"/>
                  <a:pt x="1726" y="3060"/>
                </a:cubicBezTo>
                <a:lnTo>
                  <a:pt x="1726" y="2643"/>
                </a:lnTo>
                <a:cubicBezTo>
                  <a:pt x="1726" y="2572"/>
                  <a:pt x="1762" y="2512"/>
                  <a:pt x="1822" y="2465"/>
                </a:cubicBezTo>
                <a:lnTo>
                  <a:pt x="2107" y="2322"/>
                </a:lnTo>
                <a:lnTo>
                  <a:pt x="2381" y="2584"/>
                </a:lnTo>
                <a:cubicBezTo>
                  <a:pt x="2441" y="2643"/>
                  <a:pt x="2524" y="2691"/>
                  <a:pt x="2619" y="2691"/>
                </a:cubicBezTo>
                <a:cubicBezTo>
                  <a:pt x="2703" y="2691"/>
                  <a:pt x="2774" y="2655"/>
                  <a:pt x="2858" y="2584"/>
                </a:cubicBezTo>
                <a:lnTo>
                  <a:pt x="3119" y="2322"/>
                </a:lnTo>
                <a:lnTo>
                  <a:pt x="3405" y="2465"/>
                </a:lnTo>
                <a:cubicBezTo>
                  <a:pt x="3465" y="2500"/>
                  <a:pt x="3512" y="2572"/>
                  <a:pt x="3512" y="2643"/>
                </a:cubicBezTo>
                <a:lnTo>
                  <a:pt x="3512" y="3060"/>
                </a:lnTo>
                <a:cubicBezTo>
                  <a:pt x="3298" y="3179"/>
                  <a:pt x="3155" y="3405"/>
                  <a:pt x="3155" y="3655"/>
                </a:cubicBezTo>
                <a:lnTo>
                  <a:pt x="3155" y="4012"/>
                </a:lnTo>
                <a:cubicBezTo>
                  <a:pt x="3155" y="4298"/>
                  <a:pt x="3286" y="4548"/>
                  <a:pt x="3512" y="4703"/>
                </a:cubicBezTo>
                <a:lnTo>
                  <a:pt x="3512" y="4953"/>
                </a:lnTo>
                <a:cubicBezTo>
                  <a:pt x="3512" y="4953"/>
                  <a:pt x="3512" y="4965"/>
                  <a:pt x="3489" y="4965"/>
                </a:cubicBezTo>
                <a:lnTo>
                  <a:pt x="3072" y="5179"/>
                </a:lnTo>
                <a:cubicBezTo>
                  <a:pt x="2893" y="5263"/>
                  <a:pt x="2798" y="5441"/>
                  <a:pt x="2798" y="5632"/>
                </a:cubicBezTo>
                <a:lnTo>
                  <a:pt x="2798" y="7358"/>
                </a:lnTo>
                <a:cubicBezTo>
                  <a:pt x="2798" y="7501"/>
                  <a:pt x="2834" y="7632"/>
                  <a:pt x="2917" y="7739"/>
                </a:cubicBezTo>
                <a:lnTo>
                  <a:pt x="3096" y="8001"/>
                </a:lnTo>
                <a:cubicBezTo>
                  <a:pt x="3131" y="8061"/>
                  <a:pt x="3155" y="8132"/>
                  <a:pt x="3155" y="8215"/>
                </a:cubicBezTo>
                <a:lnTo>
                  <a:pt x="3155" y="8930"/>
                </a:lnTo>
                <a:cubicBezTo>
                  <a:pt x="3155" y="9013"/>
                  <a:pt x="3227" y="9085"/>
                  <a:pt x="3310" y="9085"/>
                </a:cubicBezTo>
                <a:cubicBezTo>
                  <a:pt x="3405" y="9085"/>
                  <a:pt x="3477" y="9013"/>
                  <a:pt x="3477" y="8930"/>
                </a:cubicBezTo>
                <a:lnTo>
                  <a:pt x="3477" y="8215"/>
                </a:lnTo>
                <a:cubicBezTo>
                  <a:pt x="3477" y="8073"/>
                  <a:pt x="3429" y="7942"/>
                  <a:pt x="3358" y="7834"/>
                </a:cubicBezTo>
                <a:lnTo>
                  <a:pt x="3179" y="7572"/>
                </a:lnTo>
                <a:cubicBezTo>
                  <a:pt x="3131" y="7513"/>
                  <a:pt x="3119" y="7441"/>
                  <a:pt x="3119" y="7358"/>
                </a:cubicBezTo>
                <a:lnTo>
                  <a:pt x="3119" y="5632"/>
                </a:lnTo>
                <a:cubicBezTo>
                  <a:pt x="3119" y="5560"/>
                  <a:pt x="3167" y="5501"/>
                  <a:pt x="3227" y="5453"/>
                </a:cubicBezTo>
                <a:lnTo>
                  <a:pt x="3512" y="5310"/>
                </a:lnTo>
                <a:lnTo>
                  <a:pt x="3774" y="5572"/>
                </a:lnTo>
                <a:cubicBezTo>
                  <a:pt x="3834" y="5632"/>
                  <a:pt x="3929" y="5679"/>
                  <a:pt x="4012" y="5679"/>
                </a:cubicBezTo>
                <a:cubicBezTo>
                  <a:pt x="4108" y="5679"/>
                  <a:pt x="4179" y="5656"/>
                  <a:pt x="4251" y="5572"/>
                </a:cubicBezTo>
                <a:lnTo>
                  <a:pt x="4524" y="5310"/>
                </a:lnTo>
                <a:lnTo>
                  <a:pt x="4798" y="5453"/>
                </a:lnTo>
                <a:cubicBezTo>
                  <a:pt x="4858" y="5489"/>
                  <a:pt x="4905" y="5560"/>
                  <a:pt x="4905" y="5632"/>
                </a:cubicBezTo>
                <a:lnTo>
                  <a:pt x="4905" y="7358"/>
                </a:lnTo>
                <a:cubicBezTo>
                  <a:pt x="4905" y="7441"/>
                  <a:pt x="4893" y="7513"/>
                  <a:pt x="4846" y="7572"/>
                </a:cubicBezTo>
                <a:lnTo>
                  <a:pt x="4667" y="7834"/>
                </a:lnTo>
                <a:cubicBezTo>
                  <a:pt x="4596" y="7953"/>
                  <a:pt x="4548" y="8073"/>
                  <a:pt x="4548" y="8215"/>
                </a:cubicBezTo>
                <a:lnTo>
                  <a:pt x="4548" y="8930"/>
                </a:lnTo>
                <a:cubicBezTo>
                  <a:pt x="4548" y="9013"/>
                  <a:pt x="4620" y="9085"/>
                  <a:pt x="4715" y="9085"/>
                </a:cubicBezTo>
                <a:cubicBezTo>
                  <a:pt x="4798" y="9085"/>
                  <a:pt x="4882" y="9013"/>
                  <a:pt x="4882" y="8930"/>
                </a:cubicBezTo>
                <a:lnTo>
                  <a:pt x="4882" y="8215"/>
                </a:lnTo>
                <a:cubicBezTo>
                  <a:pt x="4882" y="8132"/>
                  <a:pt x="4893" y="8061"/>
                  <a:pt x="4941" y="8001"/>
                </a:cubicBezTo>
                <a:lnTo>
                  <a:pt x="5120" y="7739"/>
                </a:lnTo>
                <a:cubicBezTo>
                  <a:pt x="5191" y="7620"/>
                  <a:pt x="5239" y="7501"/>
                  <a:pt x="5239" y="7358"/>
                </a:cubicBezTo>
                <a:lnTo>
                  <a:pt x="5239" y="5632"/>
                </a:lnTo>
                <a:cubicBezTo>
                  <a:pt x="5239" y="5441"/>
                  <a:pt x="5132" y="5263"/>
                  <a:pt x="4953" y="5179"/>
                </a:cubicBezTo>
                <a:lnTo>
                  <a:pt x="4536" y="4965"/>
                </a:lnTo>
                <a:lnTo>
                  <a:pt x="4524" y="4953"/>
                </a:lnTo>
                <a:lnTo>
                  <a:pt x="4524" y="4703"/>
                </a:lnTo>
                <a:cubicBezTo>
                  <a:pt x="4727" y="4536"/>
                  <a:pt x="4882" y="4298"/>
                  <a:pt x="4882" y="4012"/>
                </a:cubicBezTo>
                <a:lnTo>
                  <a:pt x="4882" y="3655"/>
                </a:lnTo>
                <a:cubicBezTo>
                  <a:pt x="4882" y="3405"/>
                  <a:pt x="4727" y="3179"/>
                  <a:pt x="4524" y="3060"/>
                </a:cubicBezTo>
                <a:lnTo>
                  <a:pt x="4524" y="2643"/>
                </a:lnTo>
                <a:cubicBezTo>
                  <a:pt x="4524" y="2572"/>
                  <a:pt x="4560" y="2512"/>
                  <a:pt x="4620" y="2465"/>
                </a:cubicBezTo>
                <a:lnTo>
                  <a:pt x="4905" y="2322"/>
                </a:lnTo>
                <a:lnTo>
                  <a:pt x="5179" y="2584"/>
                </a:lnTo>
                <a:cubicBezTo>
                  <a:pt x="5239" y="2643"/>
                  <a:pt x="5322" y="2691"/>
                  <a:pt x="5417" y="2691"/>
                </a:cubicBezTo>
                <a:cubicBezTo>
                  <a:pt x="5501" y="2691"/>
                  <a:pt x="5572" y="2655"/>
                  <a:pt x="5655" y="2584"/>
                </a:cubicBezTo>
                <a:lnTo>
                  <a:pt x="5917" y="2322"/>
                </a:lnTo>
                <a:lnTo>
                  <a:pt x="6203" y="2465"/>
                </a:lnTo>
                <a:cubicBezTo>
                  <a:pt x="6263" y="2500"/>
                  <a:pt x="6310" y="2572"/>
                  <a:pt x="6310" y="2643"/>
                </a:cubicBezTo>
                <a:lnTo>
                  <a:pt x="6310" y="3060"/>
                </a:lnTo>
                <a:cubicBezTo>
                  <a:pt x="6096" y="3179"/>
                  <a:pt x="5953" y="3405"/>
                  <a:pt x="5953" y="3655"/>
                </a:cubicBezTo>
                <a:lnTo>
                  <a:pt x="5953" y="4012"/>
                </a:lnTo>
                <a:cubicBezTo>
                  <a:pt x="5953" y="4298"/>
                  <a:pt x="6084" y="4548"/>
                  <a:pt x="6310" y="4703"/>
                </a:cubicBezTo>
                <a:lnTo>
                  <a:pt x="6310" y="4953"/>
                </a:lnTo>
                <a:cubicBezTo>
                  <a:pt x="6310" y="4953"/>
                  <a:pt x="6310" y="4965"/>
                  <a:pt x="6287" y="4965"/>
                </a:cubicBezTo>
                <a:lnTo>
                  <a:pt x="5870" y="5179"/>
                </a:lnTo>
                <a:cubicBezTo>
                  <a:pt x="5691" y="5263"/>
                  <a:pt x="5596" y="5441"/>
                  <a:pt x="5596" y="5632"/>
                </a:cubicBezTo>
                <a:lnTo>
                  <a:pt x="5596" y="7358"/>
                </a:lnTo>
                <a:cubicBezTo>
                  <a:pt x="5596" y="7501"/>
                  <a:pt x="5632" y="7632"/>
                  <a:pt x="5715" y="7739"/>
                </a:cubicBezTo>
                <a:lnTo>
                  <a:pt x="5894" y="8001"/>
                </a:lnTo>
                <a:cubicBezTo>
                  <a:pt x="5929" y="8061"/>
                  <a:pt x="5953" y="8132"/>
                  <a:pt x="5953" y="8215"/>
                </a:cubicBezTo>
                <a:lnTo>
                  <a:pt x="5953" y="8930"/>
                </a:lnTo>
                <a:cubicBezTo>
                  <a:pt x="5953" y="9013"/>
                  <a:pt x="6025" y="9085"/>
                  <a:pt x="6108" y="9085"/>
                </a:cubicBezTo>
                <a:cubicBezTo>
                  <a:pt x="6203" y="9085"/>
                  <a:pt x="6275" y="9013"/>
                  <a:pt x="6275" y="8930"/>
                </a:cubicBezTo>
                <a:lnTo>
                  <a:pt x="6275" y="8215"/>
                </a:lnTo>
                <a:cubicBezTo>
                  <a:pt x="6275" y="8073"/>
                  <a:pt x="6227" y="7942"/>
                  <a:pt x="6156" y="7834"/>
                </a:cubicBezTo>
                <a:lnTo>
                  <a:pt x="5977" y="7572"/>
                </a:lnTo>
                <a:cubicBezTo>
                  <a:pt x="5929" y="7513"/>
                  <a:pt x="5917" y="7441"/>
                  <a:pt x="5917" y="7358"/>
                </a:cubicBezTo>
                <a:lnTo>
                  <a:pt x="5917" y="5632"/>
                </a:lnTo>
                <a:cubicBezTo>
                  <a:pt x="5917" y="5560"/>
                  <a:pt x="5965" y="5501"/>
                  <a:pt x="6025" y="5453"/>
                </a:cubicBezTo>
                <a:lnTo>
                  <a:pt x="6310" y="5310"/>
                </a:lnTo>
                <a:lnTo>
                  <a:pt x="6572" y="5572"/>
                </a:lnTo>
                <a:cubicBezTo>
                  <a:pt x="6632" y="5632"/>
                  <a:pt x="6727" y="5679"/>
                  <a:pt x="6810" y="5679"/>
                </a:cubicBezTo>
                <a:cubicBezTo>
                  <a:pt x="6906" y="5679"/>
                  <a:pt x="6977" y="5656"/>
                  <a:pt x="7049" y="5572"/>
                </a:cubicBezTo>
                <a:lnTo>
                  <a:pt x="7322" y="5310"/>
                </a:lnTo>
                <a:lnTo>
                  <a:pt x="7596" y="5453"/>
                </a:lnTo>
                <a:cubicBezTo>
                  <a:pt x="7656" y="5489"/>
                  <a:pt x="7703" y="5560"/>
                  <a:pt x="7703" y="5632"/>
                </a:cubicBezTo>
                <a:lnTo>
                  <a:pt x="7703" y="7358"/>
                </a:lnTo>
                <a:cubicBezTo>
                  <a:pt x="7703" y="7441"/>
                  <a:pt x="7691" y="7513"/>
                  <a:pt x="7644" y="7572"/>
                </a:cubicBezTo>
                <a:lnTo>
                  <a:pt x="7465" y="7834"/>
                </a:lnTo>
                <a:cubicBezTo>
                  <a:pt x="7394" y="7953"/>
                  <a:pt x="7346" y="8073"/>
                  <a:pt x="7346" y="8215"/>
                </a:cubicBezTo>
                <a:lnTo>
                  <a:pt x="7346" y="8930"/>
                </a:lnTo>
                <a:cubicBezTo>
                  <a:pt x="7346" y="9013"/>
                  <a:pt x="7418" y="9085"/>
                  <a:pt x="7513" y="9085"/>
                </a:cubicBezTo>
                <a:cubicBezTo>
                  <a:pt x="7596" y="9085"/>
                  <a:pt x="7680" y="9013"/>
                  <a:pt x="7680" y="8930"/>
                </a:cubicBezTo>
                <a:lnTo>
                  <a:pt x="7680" y="8215"/>
                </a:lnTo>
                <a:cubicBezTo>
                  <a:pt x="7680" y="8132"/>
                  <a:pt x="7691" y="8061"/>
                  <a:pt x="7739" y="8001"/>
                </a:cubicBezTo>
                <a:lnTo>
                  <a:pt x="7918" y="7739"/>
                </a:lnTo>
                <a:cubicBezTo>
                  <a:pt x="7989" y="7620"/>
                  <a:pt x="8037" y="7501"/>
                  <a:pt x="8037" y="7358"/>
                </a:cubicBezTo>
                <a:lnTo>
                  <a:pt x="8037" y="5632"/>
                </a:lnTo>
                <a:cubicBezTo>
                  <a:pt x="8037" y="5441"/>
                  <a:pt x="7930" y="5263"/>
                  <a:pt x="7751" y="5179"/>
                </a:cubicBezTo>
                <a:lnTo>
                  <a:pt x="7334" y="4965"/>
                </a:lnTo>
                <a:lnTo>
                  <a:pt x="7322" y="4953"/>
                </a:lnTo>
                <a:lnTo>
                  <a:pt x="7322" y="4703"/>
                </a:lnTo>
                <a:cubicBezTo>
                  <a:pt x="7525" y="4536"/>
                  <a:pt x="7680" y="4298"/>
                  <a:pt x="7680" y="4012"/>
                </a:cubicBezTo>
                <a:lnTo>
                  <a:pt x="7680" y="3655"/>
                </a:lnTo>
                <a:cubicBezTo>
                  <a:pt x="7680" y="3405"/>
                  <a:pt x="7525" y="3179"/>
                  <a:pt x="7322" y="3060"/>
                </a:cubicBezTo>
                <a:lnTo>
                  <a:pt x="7322" y="2643"/>
                </a:lnTo>
                <a:cubicBezTo>
                  <a:pt x="7322" y="2572"/>
                  <a:pt x="7358" y="2512"/>
                  <a:pt x="7418" y="2465"/>
                </a:cubicBezTo>
                <a:lnTo>
                  <a:pt x="7703" y="2322"/>
                </a:lnTo>
                <a:lnTo>
                  <a:pt x="7977" y="2584"/>
                </a:lnTo>
                <a:cubicBezTo>
                  <a:pt x="8037" y="2643"/>
                  <a:pt x="8120" y="2691"/>
                  <a:pt x="8215" y="2691"/>
                </a:cubicBezTo>
                <a:cubicBezTo>
                  <a:pt x="8299" y="2691"/>
                  <a:pt x="8370" y="2655"/>
                  <a:pt x="8453" y="2584"/>
                </a:cubicBezTo>
                <a:lnTo>
                  <a:pt x="8715" y="2322"/>
                </a:lnTo>
                <a:lnTo>
                  <a:pt x="9001" y="2465"/>
                </a:lnTo>
                <a:cubicBezTo>
                  <a:pt x="9061" y="2500"/>
                  <a:pt x="9108" y="2572"/>
                  <a:pt x="9108" y="2643"/>
                </a:cubicBezTo>
                <a:lnTo>
                  <a:pt x="9108" y="3060"/>
                </a:lnTo>
                <a:cubicBezTo>
                  <a:pt x="8894" y="3179"/>
                  <a:pt x="8751" y="3405"/>
                  <a:pt x="8751" y="3655"/>
                </a:cubicBezTo>
                <a:lnTo>
                  <a:pt x="8751" y="4012"/>
                </a:lnTo>
                <a:cubicBezTo>
                  <a:pt x="8751" y="4298"/>
                  <a:pt x="8882" y="4548"/>
                  <a:pt x="9108" y="4703"/>
                </a:cubicBezTo>
                <a:lnTo>
                  <a:pt x="9108" y="4953"/>
                </a:lnTo>
                <a:cubicBezTo>
                  <a:pt x="9108" y="4953"/>
                  <a:pt x="9108" y="4965"/>
                  <a:pt x="9084" y="4965"/>
                </a:cubicBezTo>
                <a:lnTo>
                  <a:pt x="8668" y="5179"/>
                </a:lnTo>
                <a:cubicBezTo>
                  <a:pt x="8489" y="5263"/>
                  <a:pt x="8394" y="5441"/>
                  <a:pt x="8394" y="5632"/>
                </a:cubicBezTo>
                <a:lnTo>
                  <a:pt x="8394" y="7358"/>
                </a:lnTo>
                <a:cubicBezTo>
                  <a:pt x="8394" y="7501"/>
                  <a:pt x="8430" y="7632"/>
                  <a:pt x="8513" y="7739"/>
                </a:cubicBezTo>
                <a:lnTo>
                  <a:pt x="8692" y="8001"/>
                </a:lnTo>
                <a:cubicBezTo>
                  <a:pt x="8727" y="8061"/>
                  <a:pt x="8751" y="8132"/>
                  <a:pt x="8751" y="8215"/>
                </a:cubicBezTo>
                <a:lnTo>
                  <a:pt x="8751" y="8930"/>
                </a:lnTo>
                <a:cubicBezTo>
                  <a:pt x="8751" y="9013"/>
                  <a:pt x="8823" y="9085"/>
                  <a:pt x="8906" y="9085"/>
                </a:cubicBezTo>
                <a:cubicBezTo>
                  <a:pt x="9001" y="9085"/>
                  <a:pt x="9073" y="9013"/>
                  <a:pt x="9073" y="8930"/>
                </a:cubicBezTo>
                <a:lnTo>
                  <a:pt x="9073" y="8215"/>
                </a:lnTo>
                <a:cubicBezTo>
                  <a:pt x="9073" y="8073"/>
                  <a:pt x="9025" y="7942"/>
                  <a:pt x="8954" y="7834"/>
                </a:cubicBezTo>
                <a:lnTo>
                  <a:pt x="8775" y="7572"/>
                </a:lnTo>
                <a:cubicBezTo>
                  <a:pt x="8727" y="7513"/>
                  <a:pt x="8715" y="7441"/>
                  <a:pt x="8715" y="7358"/>
                </a:cubicBezTo>
                <a:lnTo>
                  <a:pt x="8715" y="5632"/>
                </a:lnTo>
                <a:cubicBezTo>
                  <a:pt x="8715" y="5560"/>
                  <a:pt x="8763" y="5501"/>
                  <a:pt x="8823" y="5453"/>
                </a:cubicBezTo>
                <a:lnTo>
                  <a:pt x="9108" y="5310"/>
                </a:lnTo>
                <a:lnTo>
                  <a:pt x="9370" y="5572"/>
                </a:lnTo>
                <a:cubicBezTo>
                  <a:pt x="9430" y="5632"/>
                  <a:pt x="9525" y="5679"/>
                  <a:pt x="9608" y="5679"/>
                </a:cubicBezTo>
                <a:cubicBezTo>
                  <a:pt x="9704" y="5679"/>
                  <a:pt x="9775" y="5656"/>
                  <a:pt x="9846" y="5572"/>
                </a:cubicBezTo>
                <a:lnTo>
                  <a:pt x="10120" y="5310"/>
                </a:lnTo>
                <a:lnTo>
                  <a:pt x="10394" y="5453"/>
                </a:lnTo>
                <a:cubicBezTo>
                  <a:pt x="10454" y="5489"/>
                  <a:pt x="10501" y="5560"/>
                  <a:pt x="10501" y="5632"/>
                </a:cubicBezTo>
                <a:lnTo>
                  <a:pt x="10501" y="7358"/>
                </a:lnTo>
                <a:cubicBezTo>
                  <a:pt x="10501" y="7441"/>
                  <a:pt x="10489" y="7513"/>
                  <a:pt x="10442" y="7572"/>
                </a:cubicBezTo>
                <a:lnTo>
                  <a:pt x="10263" y="7834"/>
                </a:lnTo>
                <a:cubicBezTo>
                  <a:pt x="10192" y="7953"/>
                  <a:pt x="10144" y="8073"/>
                  <a:pt x="10144" y="8215"/>
                </a:cubicBezTo>
                <a:lnTo>
                  <a:pt x="10144" y="8930"/>
                </a:lnTo>
                <a:cubicBezTo>
                  <a:pt x="10144" y="9013"/>
                  <a:pt x="10216" y="9085"/>
                  <a:pt x="10311" y="9085"/>
                </a:cubicBezTo>
                <a:cubicBezTo>
                  <a:pt x="10394" y="9085"/>
                  <a:pt x="10478" y="9013"/>
                  <a:pt x="10478" y="8930"/>
                </a:cubicBezTo>
                <a:lnTo>
                  <a:pt x="10478" y="8215"/>
                </a:lnTo>
                <a:cubicBezTo>
                  <a:pt x="10478" y="8132"/>
                  <a:pt x="10489" y="8061"/>
                  <a:pt x="10537" y="8001"/>
                </a:cubicBezTo>
                <a:lnTo>
                  <a:pt x="10716" y="7739"/>
                </a:lnTo>
                <a:cubicBezTo>
                  <a:pt x="10787" y="7620"/>
                  <a:pt x="10835" y="7501"/>
                  <a:pt x="10835" y="7358"/>
                </a:cubicBezTo>
                <a:lnTo>
                  <a:pt x="10835" y="5632"/>
                </a:lnTo>
                <a:cubicBezTo>
                  <a:pt x="10918" y="5429"/>
                  <a:pt x="10811" y="5251"/>
                  <a:pt x="10632" y="5155"/>
                </a:cubicBezTo>
                <a:lnTo>
                  <a:pt x="10216" y="4953"/>
                </a:lnTo>
                <a:lnTo>
                  <a:pt x="10204" y="4941"/>
                </a:lnTo>
                <a:lnTo>
                  <a:pt x="10204" y="4703"/>
                </a:lnTo>
                <a:cubicBezTo>
                  <a:pt x="10418" y="4536"/>
                  <a:pt x="10561" y="4298"/>
                  <a:pt x="10561" y="4012"/>
                </a:cubicBezTo>
                <a:lnTo>
                  <a:pt x="10561" y="3655"/>
                </a:lnTo>
                <a:cubicBezTo>
                  <a:pt x="10561" y="3286"/>
                  <a:pt x="10251" y="2977"/>
                  <a:pt x="9882" y="2977"/>
                </a:cubicBezTo>
                <a:lnTo>
                  <a:pt x="9501" y="2977"/>
                </a:lnTo>
                <a:lnTo>
                  <a:pt x="9501" y="2643"/>
                </a:lnTo>
                <a:cubicBezTo>
                  <a:pt x="9501" y="2453"/>
                  <a:pt x="9406" y="2274"/>
                  <a:pt x="9227" y="2179"/>
                </a:cubicBezTo>
                <a:lnTo>
                  <a:pt x="8811" y="1977"/>
                </a:lnTo>
                <a:lnTo>
                  <a:pt x="8787" y="1953"/>
                </a:lnTo>
                <a:lnTo>
                  <a:pt x="8787" y="1726"/>
                </a:lnTo>
                <a:cubicBezTo>
                  <a:pt x="9001" y="1560"/>
                  <a:pt x="9144" y="1322"/>
                  <a:pt x="9144" y="1036"/>
                </a:cubicBezTo>
                <a:lnTo>
                  <a:pt x="9144" y="679"/>
                </a:lnTo>
                <a:cubicBezTo>
                  <a:pt x="9144" y="310"/>
                  <a:pt x="8834" y="0"/>
                  <a:pt x="8465" y="0"/>
                </a:cubicBezTo>
                <a:lnTo>
                  <a:pt x="8108" y="0"/>
                </a:lnTo>
                <a:cubicBezTo>
                  <a:pt x="7739" y="0"/>
                  <a:pt x="7418" y="310"/>
                  <a:pt x="7418" y="679"/>
                </a:cubicBezTo>
                <a:lnTo>
                  <a:pt x="7418" y="1036"/>
                </a:lnTo>
                <a:cubicBezTo>
                  <a:pt x="7418" y="1322"/>
                  <a:pt x="7560" y="1572"/>
                  <a:pt x="7775" y="1726"/>
                </a:cubicBezTo>
                <a:lnTo>
                  <a:pt x="7775" y="1977"/>
                </a:lnTo>
                <a:cubicBezTo>
                  <a:pt x="7775" y="1977"/>
                  <a:pt x="7775" y="1988"/>
                  <a:pt x="7763" y="1988"/>
                </a:cubicBezTo>
                <a:lnTo>
                  <a:pt x="7346" y="2203"/>
                </a:lnTo>
                <a:cubicBezTo>
                  <a:pt x="7168" y="2286"/>
                  <a:pt x="7060" y="2465"/>
                  <a:pt x="7060" y="2655"/>
                </a:cubicBezTo>
                <a:lnTo>
                  <a:pt x="7060" y="2989"/>
                </a:lnTo>
                <a:lnTo>
                  <a:pt x="6679" y="2989"/>
                </a:lnTo>
                <a:lnTo>
                  <a:pt x="6679" y="2655"/>
                </a:lnTo>
                <a:cubicBezTo>
                  <a:pt x="6679" y="2465"/>
                  <a:pt x="6572" y="2286"/>
                  <a:pt x="6394" y="2203"/>
                </a:cubicBezTo>
                <a:lnTo>
                  <a:pt x="5977" y="1988"/>
                </a:lnTo>
                <a:lnTo>
                  <a:pt x="5965" y="1977"/>
                </a:lnTo>
                <a:lnTo>
                  <a:pt x="5965" y="1726"/>
                </a:lnTo>
                <a:cubicBezTo>
                  <a:pt x="6167" y="1560"/>
                  <a:pt x="6322" y="1322"/>
                  <a:pt x="6322" y="1036"/>
                </a:cubicBezTo>
                <a:lnTo>
                  <a:pt x="6322" y="679"/>
                </a:lnTo>
                <a:cubicBezTo>
                  <a:pt x="6322" y="310"/>
                  <a:pt x="6013" y="0"/>
                  <a:pt x="5632" y="0"/>
                </a:cubicBezTo>
                <a:lnTo>
                  <a:pt x="5274" y="0"/>
                </a:lnTo>
                <a:cubicBezTo>
                  <a:pt x="4905" y="0"/>
                  <a:pt x="4596" y="310"/>
                  <a:pt x="4596" y="679"/>
                </a:cubicBezTo>
                <a:lnTo>
                  <a:pt x="4596" y="1036"/>
                </a:lnTo>
                <a:cubicBezTo>
                  <a:pt x="4596" y="1322"/>
                  <a:pt x="4727" y="1572"/>
                  <a:pt x="4953" y="1726"/>
                </a:cubicBezTo>
                <a:lnTo>
                  <a:pt x="4953" y="1977"/>
                </a:lnTo>
                <a:cubicBezTo>
                  <a:pt x="4953" y="1977"/>
                  <a:pt x="4953" y="1988"/>
                  <a:pt x="4941" y="1988"/>
                </a:cubicBezTo>
                <a:lnTo>
                  <a:pt x="4524" y="2203"/>
                </a:lnTo>
                <a:cubicBezTo>
                  <a:pt x="4346" y="2286"/>
                  <a:pt x="4239" y="2465"/>
                  <a:pt x="4239" y="2655"/>
                </a:cubicBezTo>
                <a:lnTo>
                  <a:pt x="4239" y="2989"/>
                </a:lnTo>
                <a:lnTo>
                  <a:pt x="3846" y="2989"/>
                </a:lnTo>
                <a:lnTo>
                  <a:pt x="3846" y="2655"/>
                </a:lnTo>
                <a:cubicBezTo>
                  <a:pt x="3846" y="2465"/>
                  <a:pt x="3750" y="2286"/>
                  <a:pt x="3572" y="2203"/>
                </a:cubicBezTo>
                <a:lnTo>
                  <a:pt x="3155" y="1988"/>
                </a:lnTo>
                <a:lnTo>
                  <a:pt x="3131" y="1977"/>
                </a:lnTo>
                <a:lnTo>
                  <a:pt x="3131" y="1726"/>
                </a:lnTo>
                <a:cubicBezTo>
                  <a:pt x="3346" y="1560"/>
                  <a:pt x="3489" y="1322"/>
                  <a:pt x="3489" y="1036"/>
                </a:cubicBezTo>
                <a:lnTo>
                  <a:pt x="3489" y="679"/>
                </a:lnTo>
                <a:cubicBezTo>
                  <a:pt x="3489" y="310"/>
                  <a:pt x="3179" y="0"/>
                  <a:pt x="2810" y="0"/>
                </a:cubicBezTo>
                <a:close/>
              </a:path>
            </a:pathLst>
          </a:cu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291" name="Овал 103"/>
          <p:cNvSpPr/>
          <p:nvPr/>
        </p:nvSpPr>
        <p:spPr>
          <a:xfrm>
            <a:off x="3658680" y="4884120"/>
            <a:ext cx="52920" cy="52920"/>
          </a:xfrm>
          <a:prstGeom prst="ellipse">
            <a:avLst/>
          </a:prstGeom>
          <a:solidFill>
            <a:srgbClr val="0386FC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7200" rIns="90000" bIns="-72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92" name="Овал 104"/>
          <p:cNvSpPr/>
          <p:nvPr/>
        </p:nvSpPr>
        <p:spPr>
          <a:xfrm>
            <a:off x="6067800" y="4884120"/>
            <a:ext cx="52920" cy="52920"/>
          </a:xfrm>
          <a:prstGeom prst="ellipse">
            <a:avLst/>
          </a:prstGeom>
          <a:solidFill>
            <a:srgbClr val="0386FC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7200" rIns="90000" bIns="-72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93" name="Овал 105"/>
          <p:cNvSpPr/>
          <p:nvPr/>
        </p:nvSpPr>
        <p:spPr>
          <a:xfrm>
            <a:off x="8798040" y="4884120"/>
            <a:ext cx="52920" cy="52920"/>
          </a:xfrm>
          <a:prstGeom prst="ellipse">
            <a:avLst/>
          </a:prstGeom>
          <a:solidFill>
            <a:srgbClr val="0386FC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7200" rIns="90000" bIns="-72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303" name="Google Shape;269;p32">
            <a:hlinkClick action="ppaction://hlinksldjump" r:id="rId14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307" name="Google Shape;321;p35"/>
          <p:cNvSpPr/>
          <p:nvPr/>
        </p:nvSpPr>
        <p:spPr>
          <a:xfrm>
            <a:off x="8617320" y="5641200"/>
            <a:ext cx="84708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Renga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308" name="nav">
            <a:hlinkClick action="ppaction://hlinksldjump" r:id="rId15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309" name="nav">
            <a:hlinkClick action="ppaction://hlinksldjump" r:id="rId16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310" name="nav">
            <a:hlinkClick action="ppaction://hlinksldjump" r:id="rId8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311" name="nav">
            <a:hlinkClick action="ppaction://hlinksldjump" r:id="rId7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312" name="nav">
            <a:hlinkClick action="ppaction://hlinksldjump" r:id="rId6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313" name="nav">
            <a:hlinkClick action="ppaction://hlinksldjump" r:id="rId5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НОРМАСОФТ</a:t>
            </a:r>
          </a:p>
        </p:txBody>
      </p:sp>
      <p:sp>
        <p:nvSpPr>
          <p:cNvPr id="314" name="nav">
            <a:hlinkClick action="ppaction://hlinksldjump" r:id="rId19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315" name="nav">
            <a:hlinkClick action="ppaction://hlinksldjump" r:id="rId13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Прямоугольник: скругленные углы 2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486" name="Заголовок 1"/>
          <p:cNvSpPr/>
          <p:nvPr/>
        </p:nvSpPr>
        <p:spPr>
          <a:xfrm>
            <a:off x="826200" y="1437840"/>
            <a:ext cx="11086920" cy="76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Консультанты по всем разделам проектирования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87" name="Google Shape;321;p35"/>
          <p:cNvSpPr/>
          <p:nvPr/>
        </p:nvSpPr>
        <p:spPr>
          <a:xfrm>
            <a:off x="1491120" y="2204280"/>
            <a:ext cx="5349600" cy="4442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Учебный центр: комплексное обучение работе в ПО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88" name="Google Shape;321;p35"/>
          <p:cNvSpPr/>
          <p:nvPr/>
        </p:nvSpPr>
        <p:spPr>
          <a:xfrm>
            <a:off x="1491120" y="2846880"/>
            <a:ext cx="2310840" cy="40932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WorldSkills</a:t>
            </a: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, 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AtomSkills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89" name="Google Shape;321;p35"/>
          <p:cNvSpPr/>
          <p:nvPr/>
        </p:nvSpPr>
        <p:spPr>
          <a:xfrm>
            <a:off x="1491120" y="3454920"/>
            <a:ext cx="5349600" cy="4442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2">
                    <a:lumMod val="25000"/>
                  </a:schemeClr>
                </a:solidFill>
                <a:effectLst/>
                <a:uFillTx/>
                <a:latin typeface="+mn-lt"/>
              </a:rPr>
              <a:t>Инженеры по всем разделам проектирования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90" name="Google Shape;321;p35"/>
          <p:cNvSpPr/>
          <p:nvPr/>
        </p:nvSpPr>
        <p:spPr>
          <a:xfrm>
            <a:off x="1491120" y="4097880"/>
            <a:ext cx="8292960" cy="4928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2">
                    <a:lumMod val="25000"/>
                  </a:schemeClr>
                </a:solidFill>
                <a:effectLst/>
                <a:uFillTx/>
                <a:latin typeface="+mn-lt"/>
              </a:rPr>
              <a:t>Специалисты по базовому САПР для инженеров ПТО, ОКСов и служб эксплуатации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91" name="Google Shape;321;p35"/>
          <p:cNvSpPr/>
          <p:nvPr/>
        </p:nvSpPr>
        <p:spPr>
          <a:xfrm>
            <a:off x="1491120" y="4789440"/>
            <a:ext cx="5349600" cy="4442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2">
                    <a:lumMod val="25000"/>
                  </a:schemeClr>
                </a:solidFill>
                <a:effectLst/>
                <a:uFillTx/>
                <a:latin typeface="+mn-lt"/>
              </a:rPr>
              <a:t>Специалисты по моделированию бизнес-процессов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92" name="Google Shape;321;p35"/>
          <p:cNvSpPr/>
          <p:nvPr/>
        </p:nvSpPr>
        <p:spPr>
          <a:xfrm>
            <a:off x="1491120" y="5432040"/>
            <a:ext cx="5997240" cy="4442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2">
                    <a:lumMod val="25000"/>
                  </a:schemeClr>
                </a:solidFill>
                <a:effectLst/>
                <a:uFillTx/>
                <a:latin typeface="+mn-lt"/>
              </a:rPr>
              <a:t>Специалисты по моделированию технологических процессов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93" name="Google Shape;321;p35"/>
          <p:cNvSpPr/>
          <p:nvPr/>
        </p:nvSpPr>
        <p:spPr>
          <a:xfrm>
            <a:off x="1491120" y="6075000"/>
            <a:ext cx="8292960" cy="4928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2">
                    <a:lumMod val="25000"/>
                  </a:schemeClr>
                </a:solidFill>
                <a:effectLst/>
                <a:uFillTx/>
                <a:latin typeface="+mn-lt"/>
              </a:rPr>
              <a:t>Специалисты по развертыванию отечественного системного и инфраструктурного ПО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94" name="Google Shape;321;p35"/>
          <p:cNvSpPr/>
          <p:nvPr/>
        </p:nvSpPr>
        <p:spPr>
          <a:xfrm>
            <a:off x="966240" y="220428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pic>
        <p:nvPicPr>
          <p:cNvPr id="495" name="Рисунок 25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/>
          <a:stretch/>
        </p:blipFill>
        <p:spPr>
          <a:xfrm>
            <a:off x="1031040" y="2245680"/>
            <a:ext cx="394560" cy="39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6" name="Google Shape;321;p35"/>
          <p:cNvSpPr/>
          <p:nvPr/>
        </p:nvSpPr>
        <p:spPr>
          <a:xfrm>
            <a:off x="966240" y="281340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497" name="Google Shape;321;p35"/>
          <p:cNvSpPr/>
          <p:nvPr/>
        </p:nvSpPr>
        <p:spPr>
          <a:xfrm>
            <a:off x="966240" y="345204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498" name="Google Shape;321;p35"/>
          <p:cNvSpPr/>
          <p:nvPr/>
        </p:nvSpPr>
        <p:spPr>
          <a:xfrm>
            <a:off x="955440" y="414648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499" name="Google Shape;321;p35"/>
          <p:cNvSpPr/>
          <p:nvPr/>
        </p:nvSpPr>
        <p:spPr>
          <a:xfrm>
            <a:off x="955440" y="478944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500" name="Google Shape;321;p35"/>
          <p:cNvSpPr/>
          <p:nvPr/>
        </p:nvSpPr>
        <p:spPr>
          <a:xfrm>
            <a:off x="966240" y="543204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501" name="Google Shape;321;p35"/>
          <p:cNvSpPr/>
          <p:nvPr/>
        </p:nvSpPr>
        <p:spPr>
          <a:xfrm>
            <a:off x="966240" y="612360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pic>
        <p:nvPicPr>
          <p:cNvPr id="502" name="Рисунок 26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2"/>
          <a:stretch/>
        </p:blipFill>
        <p:spPr>
          <a:xfrm>
            <a:off x="1064160" y="2872800"/>
            <a:ext cx="329040" cy="329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3" name="Рисунок 27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3"/>
          <a:stretch/>
        </p:blipFill>
        <p:spPr>
          <a:xfrm>
            <a:off x="1054440" y="3495240"/>
            <a:ext cx="371160" cy="371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4" name="Рисунок 30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4"/>
          <a:stretch/>
        </p:blipFill>
        <p:spPr>
          <a:xfrm>
            <a:off x="1054440" y="4221720"/>
            <a:ext cx="347400" cy="347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5" name="Рисунок 29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5"/>
          <a:stretch/>
        </p:blipFill>
        <p:spPr>
          <a:xfrm>
            <a:off x="1050480" y="4864680"/>
            <a:ext cx="307080" cy="30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6" name="Рисунок 28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6"/>
          <a:stretch/>
        </p:blipFill>
        <p:spPr>
          <a:xfrm>
            <a:off x="1031040" y="5468040"/>
            <a:ext cx="370440" cy="370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7" name="Рисунок 3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7"/>
          <a:stretch/>
        </p:blipFill>
        <p:spPr>
          <a:xfrm>
            <a:off x="1031040" y="6166800"/>
            <a:ext cx="371160" cy="371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8" name="Рисунок 39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8">
            <a:alphaModFix amt="70000"/>
          </a:blip>
          <a:srcRect l="0" t="55656" r="0" b="0"/>
          <a:stretch/>
        </p:blipFill>
        <p:spPr>
          <a:xfrm rot="5400000">
            <a:off x="-1733040" y="428148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9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10" name="Прямая со стрелкой 41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20" name="Google Shape;269;p32">
            <a:hlinkClick action="ppaction://hlinksldjump" r:id="rId18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21" name="nav">
            <a:hlinkClick action="ppaction://hlinksldjump" r:id="rId19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22" name="nav">
            <a:hlinkClick action="ppaction://hlinksldjump" r:id="rId20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23" name="nav">
            <a:hlinkClick action="ppaction://hlinksldjump" r:id="rId12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24" name="nav">
            <a:hlinkClick action="ppaction://hlinksldjump" r:id="rId11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25" name="nav">
            <a:hlinkClick action="ppaction://hlinksldjump" r:id="rId10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26" name="nav">
            <a:hlinkClick action="ppaction://hlinksldjump" r:id="rId9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НОРМАСОФТ</a:t>
            </a:r>
          </a:p>
        </p:txBody>
      </p:sp>
      <p:sp>
        <p:nvSpPr>
          <p:cNvPr id="527" name="nav">
            <a:hlinkClick action="ppaction://hlinksldjump" r:id="rId23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28" name="nav">
            <a:hlinkClick action="ppaction://hlinksldjump" r:id="rId17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Переход к обсуждению ваших задач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502920" cy="50292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01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280160" y="2011680"/>
            <a:ext cx="10149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+mn-lt"/>
              </a:rPr>
              <a:t>Какие решения по ПО, ТИМ и импортозамещению предстоит принять в ближайший год?</a:t>
            </a:r>
          </a:p>
        </p:txBody>
      </p:sp>
      <p:sp>
        <p:nvSpPr>
          <p:cNvPr id="545" name="Snip Single Corner Rectangle 544"/>
          <p:cNvSpPr/>
          <p:nvPr/>
        </p:nvSpPr>
        <p:spPr>
          <a:xfrm>
            <a:off x="594360" y="2743200"/>
            <a:ext cx="502920" cy="50292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02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1280160" y="2743200"/>
            <a:ext cx="10149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+mn-lt"/>
              </a:rPr>
              <a:t>Какие подразделения, продукты, форматы и библиотеки критичны и должны быть сохранены?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594360" y="3474720"/>
            <a:ext cx="502920" cy="50292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03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1280160" y="3474720"/>
            <a:ext cx="10149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+mn-lt"/>
              </a:rPr>
              <a:t>Где сейчас основные потери: обмен данными, координация, выпуск документации, расчёты, внесение изменений?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594360" y="4206240"/>
            <a:ext cx="502920" cy="50292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04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1280160" y="4206240"/>
            <a:ext cx="10149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+mn-lt"/>
              </a:rPr>
              <a:t>Какой контур аудита нужен: вся организация или пилотное подразделение; нужны ли анализ кадров и оценка ТИМ-зрелости?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594360" y="5029200"/>
            <a:ext cx="10881360" cy="77724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2" name="TextBox 551"/>
          <p:cNvSpPr txBox="1"/>
          <p:nvPr/>
        </p:nvSpPr>
        <p:spPr>
          <a:xfrm>
            <a:off x="868680" y="5029200"/>
            <a:ext cx="10332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Результат встречи: </a:t>
            </a:r>
            <a:r>
              <a:rPr sz="1300" b="0">
                <a:solidFill>
                  <a:srgbClr val="1A1A1A"/>
                </a:solidFill>
                <a:latin typeface="+mn-lt"/>
              </a:rPr>
              <a:t>согласованный предмет аудита — подразделения, этапы, участники интервью, сроки и формат отчётных документов.</a:t>
            </a:r>
          </a:p>
        </p:txBody>
      </p:sp>
      <p:sp>
        <p:nvSpPr>
          <p:cNvPr id="553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54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55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56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57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58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59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ОБСУЖДЕНИЕ</a:t>
            </a:r>
          </a:p>
        </p:txBody>
      </p:sp>
      <p:sp>
        <p:nvSpPr>
          <p:cNvPr id="560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63" name="Заголовок 1"/>
          <p:cNvSpPr/>
          <p:nvPr/>
        </p:nvSpPr>
        <p:spPr>
          <a:xfrm>
            <a:off x="1093320" y="1568880"/>
            <a:ext cx="3417840" cy="12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lang="ru-RU" sz="51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Спасибо!</a:t>
            </a:r>
            <a:endParaRPr lang="ru-RU" sz="51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64" name="TextBox 5"/>
          <p:cNvSpPr/>
          <p:nvPr/>
        </p:nvSpPr>
        <p:spPr>
          <a:xfrm>
            <a:off x="1133640" y="2410560"/>
            <a:ext cx="32655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У вас остались вопросы?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65" name="Подзаголовок 2"/>
          <p:cNvSpPr/>
          <p:nvPr/>
        </p:nvSpPr>
        <p:spPr>
          <a:xfrm>
            <a:off x="1093320" y="5751000"/>
            <a:ext cx="2109600" cy="82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1200" b="0" u="none" strike="noStrike">
                <a:solidFill>
                  <a:srgbClr val="404040"/>
                </a:solidFill>
                <a:effectLst/>
                <a:uFillTx/>
                <a:latin typeface="+mn-lt"/>
              </a:rPr>
              <a:t>8 (800) 302-53-50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200" b="0" u="none" strike="noStrike">
                <a:solidFill>
                  <a:srgbClr val="404040"/>
                </a:solidFill>
                <a:effectLst/>
                <a:uFillTx/>
                <a:latin typeface="+mn-lt"/>
              </a:rPr>
              <a:t>sales@normasoft.com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200" b="0" u="none" strike="noStrike">
                <a:solidFill>
                  <a:srgbClr val="404040"/>
                </a:solidFill>
                <a:effectLst/>
                <a:uFillTx/>
                <a:latin typeface="+mn-lt"/>
              </a:rPr>
              <a:t>normasoft.com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66" name="TextBox 9"/>
          <p:cNvSpPr/>
          <p:nvPr/>
        </p:nvSpPr>
        <p:spPr>
          <a:xfrm>
            <a:off x="1093320" y="4831200"/>
            <a:ext cx="612072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ExtraBold"/>
              </a:rPr>
              <a:t>Иванов Иван Иванович,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руководитель проектов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76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80" name="Рисунок 2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14">
            <a:extLst/>
          </a:blip>
          <a:srcRect l="32093" t="0" r="0" b="0"/>
          <a:stretch/>
        </p:blipFill>
        <p:spPr>
          <a:xfrm>
            <a:off x="6590520" y="2217960"/>
            <a:ext cx="5600880" cy="4639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1" name="Рисунок 24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5">
            <a:alphaModFix amt="70000"/>
          </a:blip>
          <a:srcRect l="0" t="55656" r="0" b="0"/>
          <a:stretch/>
        </p:blipFill>
        <p:spPr>
          <a:xfrm rot="5400000">
            <a:off x="-1733040" y="38451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2" name="nav">
            <a:hlinkClick action="ppaction://hlinksldjump" r:id="rId11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83" name="nav">
            <a:hlinkClick action="ppaction://hlinksldjump" r:id="rId10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84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85" name="nav">
            <a:hlinkClick action="ppaction://hlinksldjump" r:id="rId3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86" name="nav">
            <a:hlinkClick action="ppaction://hlinksldjump" r:id="rId2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87" name="nav">
            <a:hlinkClick action="ppaction://hlinksldjump" r:id="rId1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88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89" name="nav">
            <a:hlinkClick action="ppaction://hlinksldjump" r:id="rId9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Manrop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nrope Medium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anrop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anrope Medium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6688</TotalTime>
  <Application>LibreOffice/26.8.0.3$Linux_X86_64 LibreOffice_project/680$Build-3</Application>
  <AppVersion>15.0000</AppVersion>
  <Words>7334</Words>
  <Paragraphs>1923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2025-11-13T03:59:40Z</dcterms:created>
  <dc:creator>Mirana Alieva</dc:creator>
  <dc:description/>
  <dc:language>ru-RU</dc:language>
  <cp:lastModifiedBy/>
  <dcterms:modified xsi:type="dcterms:W3CDTF">2026-09-27T23:50:58Z</dcterms:modified>
  <cp:revision>63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Широкоэкранный</vt:lpwstr>
  </property>
  <property fmtid="{D5CDD505-2E9C-101B-9397-08002B2CF9AE}" pid="4" name="Slides">
    <vt:i4>76</vt:i4>
  </property>
</Properties>
</file>