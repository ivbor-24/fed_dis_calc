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71" r:id="rId18"/>
    <p:sldId id="293" r:id="rId41"/>
    <p:sldId id="274" r:id="rId22"/>
    <p:sldId id="275" r:id="rId23"/>
    <p:sldId id="276" r:id="rId24"/>
    <p:sldId id="294" r:id="rId42"/>
    <p:sldId id="277" r:id="rId25"/>
    <p:sldId id="278" r:id="rId26"/>
    <p:sldId id="279" r:id="rId27"/>
    <p:sldId id="280" r:id="rId28"/>
    <p:sldId id="281" r:id="rId29"/>
    <p:sldId id="295" r:id="rId43"/>
    <p:sldId id="282" r:id="rId30"/>
    <p:sldId id="283" r:id="rId31"/>
    <p:sldId id="284" r:id="rId32"/>
    <p:sldId id="285" r:id="rId33"/>
    <p:sldId id="286" r:id="rId34"/>
    <p:sldId id="296" r:id="rId44"/>
    <p:sldId id="287" r:id="rId35"/>
    <p:sldId id="288" r:id="rId36"/>
    <p:sldId id="289" r:id="rId37"/>
    <p:sldId id="263" r:id="rId10"/>
    <p:sldId id="290" r:id="rId38"/>
    <p:sldId id="291" r:id="rId39"/>
    <p:sldId id="258" r:id="rId5"/>
    <p:sldId id="264" r:id="rId11"/>
    <p:sldId id="270" r:id="rId17"/>
    <p:sldId id="292" r:id="rId40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5" Type="http://schemas.openxmlformats.org/officeDocument/2006/relationships/slide" Target="slides/slide26.xml"/><Relationship Id="rId10" Type="http://schemas.openxmlformats.org/officeDocument/2006/relationships/slide" Target="slides/slide23.xml"/><Relationship Id="rId11" Type="http://schemas.openxmlformats.org/officeDocument/2006/relationships/slide" Target="slides/slide27.xml"/><Relationship Id="rId17" Type="http://schemas.openxmlformats.org/officeDocument/2006/relationships/slide" Target="slides/slide28.xml"/><Relationship Id="rId18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30.xml"/><Relationship Id="rId21" Type="http://schemas.openxmlformats.org/officeDocument/2006/relationships/presProps" Target="presProps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9.xml"/><Relationship Id="rId41" Type="http://schemas.openxmlformats.org/officeDocument/2006/relationships/slide" Target="slides/slide3.xml"/><Relationship Id="rId42" Type="http://schemas.openxmlformats.org/officeDocument/2006/relationships/slide" Target="slides/slide7.xml"/><Relationship Id="rId43" Type="http://schemas.openxmlformats.org/officeDocument/2006/relationships/slide" Target="slides/slide13.xml"/><Relationship Id="rId44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Аудитория: директора, менеджеры по развитию, руководители ИТ-служб и департаментов цифровой трансформации.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Позиционирование одним слайдом, без истории компании, наград и перечня продуктов.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Типичные ошибки — повод для аудита: решение о ПО принимается раньше, чем появляется картина процессов, данных и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на которые отвечает аудит. Каждый по отдельности решается в своей службе; аудит сводит их вместе.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Межвендорный подход: заказчик получает независимую оценку, а не подбор под один бренд.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Этапы 5 и 6 выполняются по запросу и при наличии ТИМ-процессов. Этап 7 сводит всё в отчётные документы.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Шаблоны: «Паспорт организации», «Карта текущего ИТ-ландшафта», «Матрица импортозамещения ПО», «Карта целевого ИТ-ландшафта».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Интервью ведутся по анкетам; ответы заносятся в шаблоны стратегических и производственных требований.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зрелости — по анкетам руководителей, ТИМ-специалистов и исполнителей с сопоставлением с матрицей ТИМ-зрелости.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Итоговый комплект: паспорт организации, карты текущего и целевого ИТ-ландшафта, требования, матрица компетенций, матрица импортозамещения, дорожная карта.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Комплект документов аудита. Главная ценность — не описание «как есть», а решение «что делать».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под состав аудитории: директор, развитие, ИТ, цифровая трансформация.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строится по шаблону на этапах 1–2 (текущая) и 7 (целевая).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Матрица показывает объективность выбора: баллы, веса и итог по разделам.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Аргумент для директора: аудит страхует основной бюджет перехода.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ПЛЕЙСХОЛДЕР. Правило отбора: конкретная задача, выполненная работа и подтверждённый результат. Перечень поставленных лицензий как самостоятельный кейс не использовать.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ПЛЕЙСХОЛДЕР. Правило отбора: конкретная задача, выполненная работа и подтверждённый результат. Перечень поставленных лицензий как самостоятельный кейс не использовать.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ПЛЕЙСХОЛДЕР. Правило отбора: конкретная задача, выполненная работа и подтверждённый результат. Перечень поставленных лицензий как самостоятельный кейс не использовать.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Кратко: аудит — первый из семи шагов перехода.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о преимуществах работы с интегратором и с нами. Детали — на слайдах «О нас», «Учебный центр», «Консультанты».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для перехода к диалогу; цель — договориться о следующем шаге.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60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45D1D-E7C6-4CA4-BA68-3EFEC11926A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0CA34-20D6-4D59-A810-88C261A77E7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4368B1-6205-4591-944C-F695018B317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32400" y="1660320"/>
            <a:ext cx="5053320" cy="404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Click to edit the title text format</a:t>
            </a:r>
            <a:endParaRPr lang="ru-RU" sz="6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17" name="Google Shape;60;p10"/>
          <p:cNvSpPr/>
          <p:nvPr/>
        </p:nvSpPr>
        <p:spPr>
          <a:xfrm>
            <a:off x="7112160" y="-558720"/>
            <a:ext cx="4851000" cy="1259280"/>
          </a:xfrm>
          <a:custGeom>
            <a:avLst/>
            <a:gdLst>
              <a:gd name="textAreaLeft" fmla="*/ 0 w 4851000"/>
              <a:gd name="textAreaRight" fmla="*/ 4851360 w 4851000"/>
              <a:gd name="textAreaTop" fmla="*/ 0 h 1259280"/>
              <a:gd name="textAreaBottom" fmla="*/ 1259640 h 1259280"/>
            </a:gdLst>
            <a:ahLst/>
            <a:cxnLst/>
            <a:rect l="textAreaLeft" t="textAreaTop" r="textAreaRight" b="textAreaBottom"/>
            <a:pathLst>
              <a:path w="145542" h="37790">
                <a:moveTo>
                  <a:pt x="0" y="7620"/>
                </a:moveTo>
                <a:cubicBezTo>
                  <a:pt x="4572" y="10287"/>
                  <a:pt x="4837" y="9877"/>
                  <a:pt x="9144" y="12954"/>
                </a:cubicBezTo>
                <a:cubicBezTo>
                  <a:pt x="11455" y="14605"/>
                  <a:pt x="11449" y="18166"/>
                  <a:pt x="12954" y="20574"/>
                </a:cubicBezTo>
                <a:cubicBezTo>
                  <a:pt x="17437" y="27747"/>
                  <a:pt x="23597" y="36404"/>
                  <a:pt x="32004" y="37338"/>
                </a:cubicBezTo>
                <a:cubicBezTo>
                  <a:pt x="40145" y="38243"/>
                  <a:pt x="48783" y="37332"/>
                  <a:pt x="56388" y="34290"/>
                </a:cubicBezTo>
                <a:cubicBezTo>
                  <a:pt x="64316" y="31119"/>
                  <a:pt x="70203" y="23407"/>
                  <a:pt x="78486" y="21336"/>
                </a:cubicBezTo>
                <a:cubicBezTo>
                  <a:pt x="88862" y="18742"/>
                  <a:pt x="99902" y="20563"/>
                  <a:pt x="110490" y="19050"/>
                </a:cubicBezTo>
                <a:cubicBezTo>
                  <a:pt x="123654" y="17169"/>
                  <a:pt x="136139" y="9403"/>
                  <a:pt x="145542" y="0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8" name="Google Shape;61;p10"/>
          <p:cNvSpPr/>
          <p:nvPr/>
        </p:nvSpPr>
        <p:spPr>
          <a:xfrm>
            <a:off x="5359320" y="6215760"/>
            <a:ext cx="4673160" cy="1022760"/>
          </a:xfrm>
          <a:custGeom>
            <a:avLst/>
            <a:gdLst>
              <a:gd name="textAreaLeft" fmla="*/ 0 w 4673160"/>
              <a:gd name="textAreaRight" fmla="*/ 4673520 w 4673160"/>
              <a:gd name="textAreaTop" fmla="*/ 0 h 1022760"/>
              <a:gd name="textAreaBottom" fmla="*/ 1023120 h 1022760"/>
            </a:gdLst>
            <a:ahLst/>
            <a:cxnLst/>
            <a:rect l="textAreaLeft" t="textAreaTop" r="textAreaRight" b="textAreaBottom"/>
            <a:pathLst>
              <a:path w="140208" h="30697">
                <a:moveTo>
                  <a:pt x="0" y="30697"/>
                </a:moveTo>
                <a:cubicBezTo>
                  <a:pt x="8996" y="26199"/>
                  <a:pt x="12967" y="14940"/>
                  <a:pt x="21336" y="9361"/>
                </a:cubicBezTo>
                <a:cubicBezTo>
                  <a:pt x="31078" y="2866"/>
                  <a:pt x="45626" y="11687"/>
                  <a:pt x="56388" y="7075"/>
                </a:cubicBezTo>
                <a:cubicBezTo>
                  <a:pt x="62811" y="4322"/>
                  <a:pt x="69266" y="-650"/>
                  <a:pt x="76200" y="217"/>
                </a:cubicBezTo>
                <a:cubicBezTo>
                  <a:pt x="99040" y="3072"/>
                  <a:pt x="117190" y="26125"/>
                  <a:pt x="140208" y="26125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7621FD-8356-43EF-A87B-2E4B0DAFDA1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60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+mn-lt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C32702-57E4-4DD1-BA27-7406ED2E64F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5AC46C-88B0-4126-B378-F3CAF89DAB09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250B95-5880-4597-92A8-832E573F204F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1259FA-1359-4A04-A8A6-BB175EC4775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B1745B-18EC-4B20-A6EC-8334F33A0F4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32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98AE75-B39E-410C-99AE-368026AF45E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32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Double-click to add an Image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8A455A-89CC-4204-BC33-AE6E1EE3CD8E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microsoft.com/office/2007/relationships/hdphoto" Target="../media/hdphoto1.wdp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2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3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4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5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6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7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8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9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1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2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7.xml"/><Relationship Id="rId5" Type="http://schemas.openxmlformats.org/officeDocument/2006/relationships/slide" Target="slide3.xml"/><Relationship Id="rId10" Type="http://schemas.openxmlformats.org/officeDocument/2006/relationships/slide" Target="slide30.xml"/><Relationship Id="rId11" Type="http://schemas.openxmlformats.org/officeDocument/2006/relationships/image" Target="../media/image5.jpg"/><Relationship Id="rId12" Type="http://schemas.openxmlformats.org/officeDocument/2006/relationships/notesSlide" Target="../notesSlides/notesSlide13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3.xml"/><Relationship Id="rId17" Type="http://schemas.openxmlformats.org/officeDocument/2006/relationships/slide" Target="slide19.xml"/><Relationship Id="rId18" Type="http://schemas.openxmlformats.org/officeDocument/2006/relationships/slide" Target="slide2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7.xml"/><Relationship Id="rId5" Type="http://schemas.openxmlformats.org/officeDocument/2006/relationships/slide" Target="slide3.xml"/><Relationship Id="rId10" Type="http://schemas.openxmlformats.org/officeDocument/2006/relationships/slide" Target="slide30.xml"/><Relationship Id="rId11" Type="http://schemas.openxmlformats.org/officeDocument/2006/relationships/image" Target="../media/image6.png"/><Relationship Id="rId12" Type="http://schemas.openxmlformats.org/officeDocument/2006/relationships/notesSlide" Target="../notesSlides/notesSlide14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3.xml"/><Relationship Id="rId17" Type="http://schemas.openxmlformats.org/officeDocument/2006/relationships/slide" Target="slide19.xml"/><Relationship Id="rId18" Type="http://schemas.openxmlformats.org/officeDocument/2006/relationships/slide" Target="slide2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5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6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7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8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" Target="slide26.xml"/><Relationship Id="rId4" Type="http://schemas.openxmlformats.org/officeDocument/2006/relationships/slide" Target="slide23.xml"/><Relationship Id="rId5" Type="http://schemas.openxmlformats.org/officeDocument/2006/relationships/slide" Target="slide19.xml"/><Relationship Id="rId6" Type="http://schemas.openxmlformats.org/officeDocument/2006/relationships/slide" Target="slide13.xml"/><Relationship Id="rId11" Type="http://schemas.openxmlformats.org/officeDocument/2006/relationships/slide" Target="slide3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19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20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9.xml"/><Relationship Id="rId5" Type="http://schemas.openxmlformats.org/officeDocument/2006/relationships/slide" Target="slide13.xml"/><Relationship Id="rId10" Type="http://schemas.openxmlformats.org/officeDocument/2006/relationships/slide" Target="slide30.xml"/><Relationship Id="rId11" Type="http://schemas.openxmlformats.org/officeDocument/2006/relationships/slide" Target="slide1.xml"/><Relationship Id="rId12" Type="http://schemas.openxmlformats.org/officeDocument/2006/relationships/slide" Target="slide3.xml"/><Relationship Id="rId13" Type="http://schemas.openxmlformats.org/officeDocument/2006/relationships/slide" Target="slide7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hyperlink" Target="https://edu.normasoft.com/" TargetMode="External"/><Relationship Id="rId2" Type="http://schemas.openxmlformats.org/officeDocument/2006/relationships/hyperlink" Target="https://edu.normasoft.com/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slide" Target="slide26.xml"/><Relationship Id="rId6" Type="http://schemas.openxmlformats.org/officeDocument/2006/relationships/slide" Target="slide23.xml"/><Relationship Id="rId7" Type="http://schemas.openxmlformats.org/officeDocument/2006/relationships/slide" Target="slide19.xml"/><Relationship Id="rId8" Type="http://schemas.openxmlformats.org/officeDocument/2006/relationships/slide" Target="slide13.xml"/><Relationship Id="rId13" Type="http://schemas.openxmlformats.org/officeDocument/2006/relationships/slide" Target="slide30.xml"/><Relationship Id="rId14" Type="http://schemas.openxmlformats.org/officeDocument/2006/relationships/slide" Target="slide1.xml"/><Relationship Id="rId15" Type="http://schemas.openxmlformats.org/officeDocument/2006/relationships/slide" Target="slide3.xml"/><Relationship Id="rId16" Type="http://schemas.openxmlformats.org/officeDocument/2006/relationships/slide" Target="slide7.xml"/><Relationship Id="rId18" Type="http://schemas.openxmlformats.org/officeDocument/2006/relationships/slideLayout" Target="../slideLayouts/slideLayout5.xml"/><Relationship Id="rId19" Type="http://schemas.openxmlformats.org/officeDocument/2006/relationships/slide" Target="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5.png"/><Relationship Id="rId8" Type="http://schemas.openxmlformats.org/officeDocument/2006/relationships/image" Target="../media/image2.png"/><Relationship Id="rId9" Type="http://schemas.openxmlformats.org/officeDocument/2006/relationships/slide" Target="slide26.xml"/><Relationship Id="rId10" Type="http://schemas.openxmlformats.org/officeDocument/2006/relationships/slide" Target="slide23.xml"/><Relationship Id="rId11" Type="http://schemas.openxmlformats.org/officeDocument/2006/relationships/slide" Target="slide19.xml"/><Relationship Id="rId12" Type="http://schemas.openxmlformats.org/officeDocument/2006/relationships/slide" Target="slide13.xml"/><Relationship Id="rId17" Type="http://schemas.openxmlformats.org/officeDocument/2006/relationships/slide" Target="slide30.xml"/><Relationship Id="rId18" Type="http://schemas.openxmlformats.org/officeDocument/2006/relationships/slide" Target="slide1.xml"/><Relationship Id="rId19" Type="http://schemas.openxmlformats.org/officeDocument/2006/relationships/slide" Target="slide3.xml"/><Relationship Id="rId20" Type="http://schemas.openxmlformats.org/officeDocument/2006/relationships/slide" Target="slide7.xml"/><Relationship Id="rId22" Type="http://schemas.openxmlformats.org/officeDocument/2006/relationships/slideLayout" Target="../slideLayouts/slideLayout9.xml"/><Relationship Id="rId23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" Target="slide26.xml"/><Relationship Id="rId3" Type="http://schemas.openxmlformats.org/officeDocument/2006/relationships/slide" Target="slide23.xml"/><Relationship Id="rId4" Type="http://schemas.openxmlformats.org/officeDocument/2006/relationships/slide" Target="slide13.xml"/><Relationship Id="rId5" Type="http://schemas.openxmlformats.org/officeDocument/2006/relationships/slide" Target="slide7.xml"/><Relationship Id="rId10" Type="http://schemas.openxmlformats.org/officeDocument/2006/relationships/slide" Target="slide30.xml"/><Relationship Id="rId11" Type="http://schemas.openxmlformats.org/officeDocument/2006/relationships/notesSlide" Target="../notesSlides/notesSlide21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9.xml"/><Relationship Id="rId17" Type="http://schemas.openxmlformats.org/officeDocument/2006/relationships/slide" Target="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" Target="slide26.xml"/><Relationship Id="rId2" Type="http://schemas.openxmlformats.org/officeDocument/2006/relationships/slide" Target="slide23.xml"/><Relationship Id="rId3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30.xml"/><Relationship Id="rId10" Type="http://schemas.openxmlformats.org/officeDocument/2006/relationships/slide" Target="slide7.xml"/><Relationship Id="rId11" Type="http://schemas.openxmlformats.org/officeDocument/2006/relationships/slide" Target="slide3.xml"/><Relationship Id="rId12" Type="http://schemas.openxmlformats.org/officeDocument/2006/relationships/slide" Target="slide1.xml"/><Relationship Id="rId14" Type="http://schemas.openxmlformats.org/officeDocument/2006/relationships/image" Target="../media/image3.png"/><Relationship Id="rId15" Type="http://schemas.openxmlformats.org/officeDocument/2006/relationships/image" Target="../media/image2.png"/><Relationship Id="rId16" Type="http://schemas.openxmlformats.org/officeDocument/2006/relationships/slideLayout" Target="../slideLayouts/slideLayout5.xml"/><Relationship Id="rId17" Type="http://schemas.openxmlformats.org/officeDocument/2006/relationships/slide" Target="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: скругленные углы 2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65" name="Google Shape;321;p35"/>
          <p:cNvSpPr/>
          <p:nvPr/>
        </p:nvSpPr>
        <p:spPr>
          <a:xfrm>
            <a:off x="8378640" y="1713240"/>
            <a:ext cx="113256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+mn-lt"/>
              </a:rPr>
              <a:t>Зрелость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66" name="Google Shape;321;p35"/>
          <p:cNvSpPr/>
          <p:nvPr/>
        </p:nvSpPr>
        <p:spPr>
          <a:xfrm>
            <a:off x="9511560" y="1713240"/>
            <a:ext cx="161244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План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7" name="Google Shape;321;p35"/>
          <p:cNvSpPr/>
          <p:nvPr/>
        </p:nvSpPr>
        <p:spPr>
          <a:xfrm>
            <a:off x="4823640" y="1713240"/>
            <a:ext cx="224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+mn-lt"/>
                <a:ea typeface="Manrope"/>
              </a:rPr>
              <a:t>ИТ-ландшафт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68" name="Google Shape;321;p35"/>
          <p:cNvSpPr/>
          <p:nvPr/>
        </p:nvSpPr>
        <p:spPr>
          <a:xfrm>
            <a:off x="7073280" y="1713240"/>
            <a:ext cx="130500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ТИМ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9" name="Подзаголовок 2"/>
          <p:cNvSpPr/>
          <p:nvPr/>
        </p:nvSpPr>
        <p:spPr>
          <a:xfrm>
            <a:off x="4716000" y="3931920"/>
            <a:ext cx="6449040" cy="10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70000" lnSpcReduction="1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+mn-lt"/>
              </a:rPr>
              <a:t>Обоснованное решение об автоматизации, ТИМ и импортозамещении — до того, как потрачен основной бюджет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70" name="Заголовок 1"/>
          <p:cNvSpPr/>
          <p:nvPr/>
        </p:nvSpPr>
        <p:spPr>
          <a:xfrm>
            <a:off x="4716000" y="2417400"/>
            <a:ext cx="653148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Аудит ИТ-ландшафта и цифровой зрелости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71" name="Подзаголовок 2"/>
          <p:cNvSpPr/>
          <p:nvPr/>
        </p:nvSpPr>
        <p:spPr>
          <a:xfrm>
            <a:off x="5337000" y="5567040"/>
            <a:ext cx="64490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Спикер: </a:t>
            </a:r>
            <a:r>
              <a:rPr lang="ru-RU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+mn-lt"/>
              </a:rPr>
              <a:t>ФИО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Должность: </a:t>
            </a:r>
            <a:r>
              <a:rPr lang="ru-RU" sz="1800" b="0" u="none" strike="noStrike">
                <a:solidFill>
                  <a:srgbClr val="707070"/>
                </a:solidFill>
                <a:effectLst/>
                <a:uFillTx/>
                <a:latin typeface="+mn-lt"/>
              </a:rPr>
              <a:t>должность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72" name="Рисунок 12" descr="Изображение выглядит как снимок экрана, Графика, графический дизайн, логотип&#10;&#10;Контент, сгенерированный ИИ, может содержать ошибки."/>
          <p:cNvPicPr/>
          <p:nvPr/>
        </p:nvPicPr>
        <p:blipFill>
          <a:blip r:embed="rId1"/>
          <a:srcRect l="6675" t="0" r="3344" b="0"/>
          <a:stretch/>
        </p:blipFill>
        <p:spPr>
          <a:xfrm>
            <a:off x="446040" y="273240"/>
            <a:ext cx="3801600" cy="12722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73" name="Прямая со стрелкой 14"/>
          <p:cNvCxnSpPr/>
          <p:nvPr/>
        </p:nvCxnSpPr>
        <p:spPr>
          <a:xfrm>
            <a:off x="4339080" y="5354640"/>
            <a:ext cx="667764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74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Подзаголовок 2"/>
          <p:cNvSpPr/>
          <p:nvPr/>
        </p:nvSpPr>
        <p:spPr>
          <a:xfrm>
            <a:off x="9467280" y="685080"/>
            <a:ext cx="178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8 (800) 302-53-50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sales@normasoft.com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76" name="Рисунок 1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4670" t="0" r="0" b="0"/>
          <a:stretch/>
        </p:blipFill>
        <p:spPr>
          <a:xfrm flipH="1">
            <a:off x="360" y="2262960"/>
            <a:ext cx="5336640" cy="45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Нормасофт: роль в проекте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0881360" cy="13258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68680" y="2011680"/>
            <a:ext cx="1033272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Нормасофт — системный интегратор инженерного ПО. </a:t>
            </a:r>
            <a:r>
              <a:rPr sz="1300" b="0">
                <a:solidFill>
                  <a:srgbClr val="1A1A1A"/>
                </a:solidFill>
                <a:latin typeface="+mn-lt"/>
              </a:rPr>
              <a:t>Помогаем проектным организациям встроить отечественные САПР и ТИМ-решения в действующий технологический контур: обследуем процессы, подбираем связку продуктов разных разработчиков, настраиваем обмен данными, готовим пользователей и сопровождаем пилот до проверяемого результата.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361188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822960" y="372160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14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22960" y="423367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лет на рынке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361188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26280" y="372160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17+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26280" y="423367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внедрений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8001000" y="361188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8229600" y="372160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Бюро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229600" y="423367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собственное проектное бюро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594360" y="484632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5" name="TextBox 554"/>
          <p:cNvSpPr txBox="1"/>
          <p:nvPr/>
        </p:nvSpPr>
        <p:spPr>
          <a:xfrm>
            <a:off x="822960" y="49560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САПР · ТИМ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22960" y="546811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специалисты по разделам и информационному моделированию</a:t>
            </a:r>
          </a:p>
        </p:txBody>
      </p:sp>
      <p:sp>
        <p:nvSpPr>
          <p:cNvPr id="557" name="Snip Single Corner Rectangle 556"/>
          <p:cNvSpPr/>
          <p:nvPr/>
        </p:nvSpPr>
        <p:spPr>
          <a:xfrm>
            <a:off x="4297680" y="484632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8" name="TextBox 557"/>
          <p:cNvSpPr txBox="1"/>
          <p:nvPr/>
        </p:nvSpPr>
        <p:spPr>
          <a:xfrm>
            <a:off x="4526280" y="49560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ИТ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4526280" y="546811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команда по инфраструктуре и отечественному системному ПО</a:t>
            </a:r>
          </a:p>
        </p:txBody>
      </p:sp>
      <p:sp>
        <p:nvSpPr>
          <p:cNvPr id="560" name="Snip Single Corner Rectangle 559"/>
          <p:cNvSpPr/>
          <p:nvPr/>
        </p:nvSpPr>
        <p:spPr>
          <a:xfrm>
            <a:off x="8001000" y="4846320"/>
            <a:ext cx="3474720" cy="1097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1" name="TextBox 560"/>
          <p:cNvSpPr txBox="1"/>
          <p:nvPr/>
        </p:nvSpPr>
        <p:spPr>
          <a:xfrm>
            <a:off x="8229600" y="49560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386FC"/>
                </a:solidFill>
                <a:latin typeface="+mj-lt"/>
              </a:rPr>
              <a:t>УЦ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8229600" y="546811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лицензированный учебный центр</a:t>
            </a:r>
          </a:p>
        </p:txBody>
      </p:sp>
      <p:sp>
        <p:nvSpPr>
          <p:cNvPr id="563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4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5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6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7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8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569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0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01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ЗАЧЕМ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НУЖЕН АУДИТ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Как не купить систему, которая не встанет в ваши процессы, данные и компетенции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Главный вопрос руководителя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0881360" cy="11430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914400" y="2011680"/>
            <a:ext cx="1024128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+mj-lt"/>
              </a:rPr>
              <a:t>«Мы собираемся менять ПО. Откуда мы знаем, что выбранное решение действительно даст результат?»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3429000"/>
            <a:ext cx="3474720" cy="2331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868680" y="36118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386FC"/>
                </a:solidFill>
                <a:latin typeface="+mj-lt"/>
              </a:rPr>
              <a:t>Ошибка № 1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68680" y="41148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Покупать систему, не разобравшись, как сегодня устроены процессы и зависимости.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3429000"/>
            <a:ext cx="3474720" cy="2331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72000" y="36118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386FC"/>
                </a:solidFill>
                <a:latin typeface="+mj-lt"/>
              </a:rPr>
              <a:t>Ошибка № 2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72000" y="41148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Оценивать ПО по списку функций, не учитывая реальные производственные требования.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8001000" y="3429000"/>
            <a:ext cx="3474720" cy="23317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8275320" y="36118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386FC"/>
                </a:solidFill>
                <a:latin typeface="+mj-lt"/>
              </a:rPr>
              <a:t>Ошибка № 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275320" y="41148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Начинать внедрение без понимания компетенций, ограничений и целевого ИТ-ландшафта.</a:t>
            </a:r>
          </a:p>
        </p:txBody>
      </p:sp>
      <p:sp>
        <p:nvSpPr>
          <p:cNvPr id="554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555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6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57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9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0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1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Почему аудит должен предшествовать инвестициям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2296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ПО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2296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Что покупать и что развивать?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811779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3040379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3040379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Процессы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040379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Что менять в работе?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502920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525780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525780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Данные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25780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Какие форматы и связи критичны?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724662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Snip Single Corner Rectangle 555"/>
          <p:cNvSpPr/>
          <p:nvPr/>
        </p:nvSpPr>
        <p:spPr>
          <a:xfrm>
            <a:off x="747522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747522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Люди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747522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Какие компетенции нужны?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9464040" y="2057400"/>
            <a:ext cx="2011680" cy="20116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Snip Single Corner Rectangle 559"/>
          <p:cNvSpPr/>
          <p:nvPr/>
        </p:nvSpPr>
        <p:spPr>
          <a:xfrm>
            <a:off x="9692640" y="2240280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05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692640" y="278892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Внедрение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9692640" y="3246120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В какой последовательности действовать?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59436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+mn-lt"/>
              </a:rPr>
              <a:t>↓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594360" y="4754880"/>
            <a:ext cx="10881360" cy="105156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TextBox 564"/>
          <p:cNvSpPr txBox="1"/>
          <p:nvPr/>
        </p:nvSpPr>
        <p:spPr>
          <a:xfrm>
            <a:off x="914400" y="4754880"/>
            <a:ext cx="102412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+mj-lt"/>
              </a:rPr>
              <a:t>Аудит связывает эти вопросы в единую картину и переводит разрозненные решения в дорожную карту</a:t>
            </a:r>
          </a:p>
        </p:txBody>
      </p:sp>
      <p:sp>
        <p:nvSpPr>
          <p:cNvPr id="566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567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8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9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2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Подход: оценка всего технологического контура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Table 542"/>
          <p:cNvGraphicFramePr>
            <a:graphicFrameLocks noGrp="1"/>
          </p:cNvGraphicFramePr>
          <p:nvPr/>
        </p:nvGraphicFramePr>
        <p:xfrm>
          <a:off x="594360" y="2011680"/>
          <a:ext cx="10881360" cy="260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86867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386FC"/>
                          </a:solidFill>
                          <a:latin typeface="+mj-lt"/>
                        </a:rPr>
                        <a:t>Исходная ситуация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+mn-lt"/>
                        </a:rPr>
                        <a:t>В организации уже есть проекты, форматы, библиотеки, расчётные программы, серверные системы и требования заказчиков к выпуску документации.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386FC"/>
                          </a:solidFill>
                          <a:latin typeface="+mj-lt"/>
                        </a:rPr>
                        <a:t>Роль Нормасофт</a:t>
                      </a:r>
                    </a:p>
                  </a:txBody>
                  <a:tcPr marL="91440" marR="91440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+mn-lt"/>
                        </a:rPr>
                        <a:t>Увидеть контур целиком — процессы, ПО разных разработчиков, данные, людей — и связать его в целевой ИТ-ландшафт с понятными границами каждого продукта.</a:t>
                      </a:r>
                    </a:p>
                  </a:txBody>
                  <a:tcPr marL="91440" marR="91440" marT="45720" marB="45720" anchor="ctr">
                    <a:solidFill>
                      <a:srgbClr val="F1F3F6"/>
                    </a:solidFill>
                  </a:tcPr>
                </a:tc>
              </a:tr>
              <a:tr h="86868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386FC"/>
                          </a:solidFill>
                          <a:latin typeface="+mj-lt"/>
                        </a:rPr>
                        <a:t>Что проверяем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+mn-lt"/>
                        </a:rPr>
                        <a:t>Состав и фактическое использование ПО; форматы и обмен данными (DWG, IFC); критические зависимости; интеграции с расчётными и корпоративными системами; компетенции; готовность к замещению.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594360" y="4892040"/>
            <a:ext cx="10881360" cy="91440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68680" y="4892040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Принцип: </a:t>
            </a:r>
            <a:r>
              <a:rPr sz="1400" b="0">
                <a:solidFill>
                  <a:srgbClr val="1A1A1A"/>
                </a:solidFill>
                <a:latin typeface="+mn-lt"/>
              </a:rPr>
              <a:t>не обещаем одну программу для всех задач — предлагаем управляемую архитектуру и отвечаем за стыки между решениями разных разработчиков.</a:t>
            </a:r>
          </a:p>
        </p:txBody>
      </p:sp>
      <p:sp>
        <p:nvSpPr>
          <p:cNvPr id="546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ЗАЧЕМ АУДИТ</a:t>
            </a:r>
          </a:p>
        </p:txBody>
      </p:sp>
      <p:sp>
        <p:nvSpPr>
          <p:cNvPr id="547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48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49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2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02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КАК ПРОХОДИТ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АУДИТ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Семь этапов: от паспорта организации до дорожной карты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Семь этапов аудита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758952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685800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Предварительное обследование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Паспорт организации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167128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2331720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258568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Технический аудит ПО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2167128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Карта текущего ИТ-ландшафта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3739896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3904487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3831335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Интервью с руководством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3739896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Стратегические требования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312664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Snip Single Corner Rectangle 555"/>
          <p:cNvSpPr/>
          <p:nvPr/>
        </p:nvSpPr>
        <p:spPr>
          <a:xfrm>
            <a:off x="5477256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4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5404104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Интервью с подразделениями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312664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Производственные требования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6885432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Snip Single Corner Rectangle 559"/>
          <p:cNvSpPr/>
          <p:nvPr/>
        </p:nvSpPr>
        <p:spPr>
          <a:xfrm>
            <a:off x="7050024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5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976872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Анализ кадров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7050024" y="3840480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по запросу</a:t>
            </a:r>
          </a:p>
        </p:txBody>
      </p:sp>
      <p:sp>
        <p:nvSpPr>
          <p:cNvPr id="563" name="Snip Single Corner Rectangle 562"/>
          <p:cNvSpPr/>
          <p:nvPr/>
        </p:nvSpPr>
        <p:spPr>
          <a:xfrm>
            <a:off x="6885432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Матрица компетенций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8458200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Snip Single Corner Rectangle 564"/>
          <p:cNvSpPr/>
          <p:nvPr/>
        </p:nvSpPr>
        <p:spPr>
          <a:xfrm>
            <a:off x="8622792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6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8549640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Аудит ТИМ-зрелости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8622792" y="3840480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при наличии ТИМ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8458200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Оценка ТИМ-зрелости</a:t>
            </a:r>
          </a:p>
        </p:txBody>
      </p:sp>
      <p:sp>
        <p:nvSpPr>
          <p:cNvPr id="569" name="Snip Single Corner Rectangle 568"/>
          <p:cNvSpPr/>
          <p:nvPr/>
        </p:nvSpPr>
        <p:spPr>
          <a:xfrm>
            <a:off x="10030968" y="2011680"/>
            <a:ext cx="1444752" cy="224028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0" name="Snip Single Corner Rectangle 569"/>
          <p:cNvSpPr/>
          <p:nvPr/>
        </p:nvSpPr>
        <p:spPr>
          <a:xfrm>
            <a:off x="10195560" y="2176272"/>
            <a:ext cx="411480" cy="41148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7</a:t>
            </a:r>
          </a:p>
        </p:txBody>
      </p:sp>
      <p:sp>
        <p:nvSpPr>
          <p:cNvPr id="571" name="TextBox 570"/>
          <p:cNvSpPr txBox="1"/>
          <p:nvPr/>
        </p:nvSpPr>
        <p:spPr>
          <a:xfrm>
            <a:off x="10122408" y="2724912"/>
            <a:ext cx="13167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Отчётные документы</a:t>
            </a:r>
          </a:p>
        </p:txBody>
      </p:sp>
      <p:sp>
        <p:nvSpPr>
          <p:cNvPr id="572" name="Snip Single Corner Rectangle 571"/>
          <p:cNvSpPr/>
          <p:nvPr/>
        </p:nvSpPr>
        <p:spPr>
          <a:xfrm>
            <a:off x="10030968" y="4389120"/>
            <a:ext cx="1444752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/>
            <a:r>
              <a:rPr sz="950" b="0">
                <a:solidFill>
                  <a:srgbClr val="1A1A1A"/>
                </a:solidFill>
                <a:latin typeface="+mn-lt"/>
              </a:rPr>
              <a:t>Дорожная карта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594360" y="54406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Результат каждого этапа </a:t>
            </a:r>
            <a:r>
              <a:rPr sz="1200" b="0">
                <a:solidFill>
                  <a:srgbClr val="1A1A1A"/>
                </a:solidFill>
                <a:latin typeface="+mn-lt"/>
              </a:rPr>
              <a:t>— документ, который используется на следующем.</a:t>
            </a:r>
          </a:p>
        </p:txBody>
      </p:sp>
      <p:sp>
        <p:nvSpPr>
          <p:cNvPr id="574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5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76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77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8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9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0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81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Этапы 1–2: обследование и технический аудит ПО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1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Предварительное обследование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Понять структуру организации ещё до интервью с подразделениями.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Запрашиваем у заказчика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оргструктура и подразделения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численность проектировщиков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направления проектирования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используемое ПО и лицензии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серверные системы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324612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типовые проекты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стандарты и ТИМ-стандарты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требования заказчиков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форматы передачи данных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планы цифровизации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паспорт организации, первичная карта ИТ-ландшафта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17220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2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85800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Технический аудит ПО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17220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17220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Определить фактический состав, состояние, взаимосвязи и критические зависимости ПО, оценить готовность к замещению и развитию целевого ИТ-ландшафта.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17220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Анализируем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17220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инвентаризация ПО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фактическое использование функционала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поддерживаемые и используемые форматы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критические зависимости и интеграции</a:t>
            </a:r>
          </a:p>
        </p:txBody>
      </p:sp>
      <p:sp>
        <p:nvSpPr>
          <p:cNvPr id="557" name="Snip Single Corner Rectangle 556"/>
          <p:cNvSpPr/>
          <p:nvPr/>
        </p:nvSpPr>
        <p:spPr>
          <a:xfrm>
            <a:off x="617220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карта текущего ИТ-ландшафта, первичные карта целевого ландшафта и матрица импортозамещения</a:t>
            </a:r>
          </a:p>
        </p:txBody>
      </p:sp>
      <p:sp>
        <p:nvSpPr>
          <p:cNvPr id="558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0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1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2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3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4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Этапы 3–4: интервью с руководством и подразделениями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3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Интервью с руководством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Определить стратегические цели и приоритеты, ключевые проблемы и ограничения, целевое состояние цифровой трансформации и импортозамещения.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Интервьюируем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генеральный директор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главный инженер проекта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руководитель проектирования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CIO / ИТ-директор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руководитель ТИМ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руководители производственных подразделений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стратегические требования к процессам и инструментам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617220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4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685800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Интервью с подразделениями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17220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17220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Получить картину процессов «как есть», найти технологические и организационные разрывы, сформировать требования к целевому ПО и процессам.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17220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Интервьюируем отделы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17220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архитектура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конструкции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отопление и вентиляция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водоснабжение и канализация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электротехнический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сети связи и слаботочные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823960" y="4096512"/>
            <a:ext cx="2560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генплан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технология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сметчики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инженеры-расчётчики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ГИП / ГАП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ТИМ-отдел</a:t>
            </a:r>
          </a:p>
        </p:txBody>
      </p:sp>
      <p:sp>
        <p:nvSpPr>
          <p:cNvPr id="557" name="Snip Single Corner Rectangle 556"/>
          <p:cNvSpPr/>
          <p:nvPr/>
        </p:nvSpPr>
        <p:spPr>
          <a:xfrm>
            <a:off x="617220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производственные требования к процессам и инструментам</a:t>
            </a:r>
          </a:p>
        </p:txBody>
      </p:sp>
      <p:sp>
        <p:nvSpPr>
          <p:cNvPr id="558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0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1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2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3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4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Этапы 5–6: кадры и ТИМ-зрелость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5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Анализ кадров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1280160" y="248716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по запросу заказчика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Оценить компетенции и готовность сотрудников к отечественному ПО и ТИМ, выявить дефициты, определить потребность в обучении.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Анкетирование и аттестация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59436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возраст и стаж — в контексте обучения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уровень владения ПО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способность обучать других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дефицит компетенций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потребность в переобучении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проверка знаний после прошлого обучения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матрица компетенций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17220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6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858000" y="2011680"/>
            <a:ext cx="4617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Аудит ТИМ-зрелости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858000" y="248716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при наличии ТИМ-процессов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172200" y="2743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Цель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172200" y="2990088"/>
            <a:ext cx="5303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Определить текущий и целевой уровни ТИМ-зрелости, выявить разрывы, сформировать требования к процессам, технологиям, данным и компетенциям.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172200" y="38404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Оцениваем 7 групп показателей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6172200" y="4096512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процессы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информационная модель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совместная работа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стандарты и регламенты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технологии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люди и компетенции</a:t>
            </a:r>
          </a:p>
          <a:p>
            <a:pPr algn="l" marL="219456" indent="-219456">
              <a:spcAft>
                <a:spcPts val="100"/>
              </a:spcAft>
              <a:buClr>
                <a:srgbClr val="0386FC"/>
              </a:buClr>
              <a:buFont typeface="+mn-lt"/>
              <a:buChar char="→"/>
            </a:pPr>
            <a:r>
              <a:rPr sz="1050" b="0">
                <a:solidFill>
                  <a:srgbClr val="1A1A1A"/>
                </a:solidFill>
                <a:latin typeface="+mn-lt"/>
              </a:rPr>
              <a:t>ТИМ на жизненном цикле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6172200" y="5440680"/>
            <a:ext cx="530352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Результат: итоговая оценка ТИМ-зрелости</a:t>
            </a:r>
          </a:p>
        </p:txBody>
      </p:sp>
      <p:sp>
        <p:nvSpPr>
          <p:cNvPr id="5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0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1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2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3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4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6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Этап 7: отчётные документы и дорожная карта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659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Входные данные этапов 1–6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331720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Паспорт организации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2898648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Карта текущего ИТ-ландшафта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3465576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Стратегические требования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594360" y="4032504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Производственные требования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594360" y="4599432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Матрица компетенций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5166360"/>
            <a:ext cx="3291840" cy="47548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150" b="0">
                <a:solidFill>
                  <a:srgbClr val="1A1A1A"/>
                </a:solidFill>
                <a:latin typeface="+mn-lt"/>
              </a:rPr>
              <a:t>Оценка ТИМ-зрелости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977639" y="35661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4526280" y="2331720"/>
            <a:ext cx="2834640" cy="33101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4754880" y="2514600"/>
            <a:ext cx="2423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+mj-lt"/>
              </a:rPr>
              <a:t>Анализ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Систематизация данных всех этапов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Сопоставление требований с текущим ландшафтом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Рекомендации: что менять, что сохранить, что внедрять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452360" y="35661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8001000" y="196596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Отчётные документы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8001000" y="2331720"/>
            <a:ext cx="3474720" cy="10058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8183879" y="244144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Карта целевого ИТ-ландшафта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183879" y="2807208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+mn-lt"/>
              </a:rPr>
              <a:t>с учётом стратегических и производственных требований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001000" y="3483863"/>
            <a:ext cx="3474720" cy="10058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8183879" y="3593591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Матрица импортозамещения ПО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8183879" y="3959352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+mn-lt"/>
              </a:rPr>
              <a:t>что и чем замещать, по разделам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8001000" y="4636007"/>
            <a:ext cx="3474720" cy="10058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8183879" y="47457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Дорожная карта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8183879" y="5111496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+mn-lt"/>
              </a:rPr>
              <a:t>требования + ТИМ-зрелость + компетенции → план внедрения ПО</a:t>
            </a:r>
          </a:p>
        </p:txBody>
      </p:sp>
      <p:sp>
        <p:nvSpPr>
          <p:cNvPr id="564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5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ЭТАПЫ</a:t>
            </a:r>
          </a:p>
        </p:txBody>
      </p:sp>
      <p:sp>
        <p:nvSpPr>
          <p:cNvPr id="566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7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8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9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0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1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03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РЕЗУЛЬТАТ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АУДИТА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Не отчёт о текущем состоянии, а основа для управленческого решения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Что получает заказчик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777240" y="212140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Паспорт организации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77240" y="27249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структура, направления, численность, стандарты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2990088" y="201168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3172968" y="212140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Карта текущего ИТ-ландшафта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3172968" y="27249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ПО, серверы, форматы, связи и зависимости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385816" y="201168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5568696" y="212140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Карта целевого ИТ-ландшафта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5568696" y="27249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к чему идём и где границы каждого продукта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329184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777240" y="340156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Матрица импортозамещения ПО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777240" y="400507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что и чем замещать по разделам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2990088" y="329184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3172968" y="340156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Стратегические требования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3172968" y="400507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цели и ограничения руководства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385816" y="329184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5568696" y="340156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Производственные требования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5568696" y="400507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разрывы процессов «как есть» по отделам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594360" y="457200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77240" y="468172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Матрица компетенций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77240" y="528523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кого и чему учить, кто может обучать</a:t>
            </a:r>
          </a:p>
        </p:txBody>
      </p:sp>
      <p:sp>
        <p:nvSpPr>
          <p:cNvPr id="564" name="Snip Single Corner Rectangle 563"/>
          <p:cNvSpPr/>
          <p:nvPr/>
        </p:nvSpPr>
        <p:spPr>
          <a:xfrm>
            <a:off x="2990088" y="4572000"/>
            <a:ext cx="2258568" cy="11430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TextBox 564"/>
          <p:cNvSpPr txBox="1"/>
          <p:nvPr/>
        </p:nvSpPr>
        <p:spPr>
          <a:xfrm>
            <a:off x="3172968" y="468172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+mj-lt"/>
              </a:rPr>
              <a:t>Оценка ТИМ-зрелости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3172968" y="528523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текущий и целевой уровень по 7 группам</a:t>
            </a:r>
          </a:p>
        </p:txBody>
      </p:sp>
      <p:sp>
        <p:nvSpPr>
          <p:cNvPr id="567" name="Snip Single Corner Rectangle 566"/>
          <p:cNvSpPr/>
          <p:nvPr/>
        </p:nvSpPr>
        <p:spPr>
          <a:xfrm>
            <a:off x="5385816" y="4572000"/>
            <a:ext cx="2258568" cy="11430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8" name="TextBox 567"/>
          <p:cNvSpPr txBox="1"/>
          <p:nvPr/>
        </p:nvSpPr>
        <p:spPr>
          <a:xfrm>
            <a:off x="5568696" y="4681728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+mj-lt"/>
              </a:rPr>
              <a:t>Дорожная карта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5568696" y="528523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+mn-lt"/>
              </a:rPr>
              <a:t>последовательность, ресурсы, сроки</a:t>
            </a:r>
          </a:p>
        </p:txBody>
      </p:sp>
      <p:sp>
        <p:nvSpPr>
          <p:cNvPr id="570" name="Snip Single Corner Rectangle 569"/>
          <p:cNvSpPr/>
          <p:nvPr/>
        </p:nvSpPr>
        <p:spPr>
          <a:xfrm>
            <a:off x="7909560" y="2011680"/>
            <a:ext cx="3566160" cy="37033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1" name="TextBox 570"/>
          <p:cNvSpPr txBox="1"/>
          <p:nvPr/>
        </p:nvSpPr>
        <p:spPr>
          <a:xfrm>
            <a:off x="8138160" y="2194560"/>
            <a:ext cx="3154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+mn-lt"/>
              </a:rPr>
              <a:t>Не отчёт о текущем состоянии,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а основа для управленческого решения: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что менять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что не менять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что внедрять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в какой последовательности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+mn-lt"/>
              </a:rPr>
              <a:t>какие ресурсы и компетенции потребуются</a:t>
            </a:r>
          </a:p>
        </p:txBody>
      </p:sp>
      <p:sp>
        <p:nvSpPr>
          <p:cNvPr id="572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3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74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75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6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77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8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79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Что аудит даёт каждому участнику решения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22960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Директору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Обоснование бюджета перехода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Понятные риски и сроки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Решения по приоритетам, а не по брендам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3364991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3593591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Менеджеру по развитию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3593591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Где технология даст рост производительности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Какие компетенции развивать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Аргументы для заказчиков с требованиями к ТИМ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6135623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6364223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ИТ-службе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6364223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Инвентаризация ПО, лицензий и серверов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Карта зависимостей и форматов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Целевая архитектура и план миграции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8906255" y="2011680"/>
            <a:ext cx="2560320" cy="3749039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9134855" y="219456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Цифровой трансформации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9134855" y="2971800"/>
            <a:ext cx="2148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Оценка ТИМ-зрелости и разрывов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Требования подразделений в одном документе</a:t>
            </a:r>
          </a:p>
          <a:p>
            <a:pPr algn="l" marL="219456" indent="-219456">
              <a:spcAft>
                <a:spcPts val="10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Дорожная карта с этапами и ресурсами</a:t>
            </a:r>
          </a:p>
        </p:txBody>
      </p:sp>
      <p:sp>
        <p:nvSpPr>
          <p:cNvPr id="555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7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58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9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0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1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Пример: карта целевого ИТ-ландшафта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43" name="Picture 542" descr="landscap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360" y="1920240"/>
            <a:ext cx="7202658" cy="4023360"/>
          </a:xfrm>
          <a:prstGeom prst="rect">
            <a:avLst/>
          </a:prstGeom>
        </p:spPr>
      </p:pic>
      <p:sp>
        <p:nvSpPr>
          <p:cNvPr id="544" name="TextBox 543"/>
          <p:cNvSpPr txBox="1"/>
          <p:nvPr/>
        </p:nvSpPr>
        <p:spPr>
          <a:xfrm>
            <a:off x="7909560" y="2011680"/>
            <a:ext cx="35661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Что показывает карта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Рабочие места подразделений и центр обработки данных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Классы ПО: САПР, ТИМ, СУИД, ОС, СУБД, ИБ, виртуализация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Связи и точки обмена данными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Отечественные решения разных разработчиков в одном контуре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Обезличенный пример из проектов Нормасофт.</a:t>
            </a:r>
          </a:p>
        </p:txBody>
      </p:sp>
      <p:sp>
        <p:nvSpPr>
          <p:cNvPr id="546" name="nav">
            <a:hlinkClick action="ppaction://hlinksldjump" r:id="rId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47" name="nav">
            <a:hlinkClick action="ppaction://hlinksldjump" r:id="rId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48" name="nav">
            <a:hlinkClick action="ppaction://hlinksldjump" r:id="rId1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49" name="nav">
            <a:hlinkClick action="ppaction://hlinksldjump" r:id="rId1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2" name="nav">
            <a:hlinkClick action="ppaction://hlinksldjump" r:id="rId18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Пример: матрица выбора ПО по разделам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43" name="Picture 542" descr="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360" y="1920240"/>
            <a:ext cx="5877407" cy="3977639"/>
          </a:xfrm>
          <a:prstGeom prst="rect">
            <a:avLst/>
          </a:prstGeom>
        </p:spPr>
      </p:pic>
      <p:sp>
        <p:nvSpPr>
          <p:cNvPr id="544" name="TextBox 543"/>
          <p:cNvSpPr txBox="1"/>
          <p:nvPr/>
        </p:nvSpPr>
        <p:spPr>
          <a:xfrm>
            <a:off x="6720840" y="201168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Как выбираем решение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Оценка по 7 критериям: чертежи, специализация, расчёты, управление информацией, детализация, открытые форматы, совместная работа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Коэффициенты значимости — из требований заказчика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Итог по каждому разделу: рекомендуемое ПО и число рабочих мест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Сравниваем решения разных разработчиков, без привязки к бренду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Обезличенный пример из проектов Нормасофт.</a:t>
            </a:r>
          </a:p>
        </p:txBody>
      </p:sp>
      <p:sp>
        <p:nvSpPr>
          <p:cNvPr id="546" name="nav">
            <a:hlinkClick action="ppaction://hlinksldjump" r:id="rId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47" name="nav">
            <a:hlinkClick action="ppaction://hlinksldjump" r:id="rId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48" name="nav">
            <a:hlinkClick action="ppaction://hlinksldjump" r:id="rId1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49" name="nav">
            <a:hlinkClick action="ppaction://hlinksldjump" r:id="rId1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0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1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2" name="nav">
            <a:hlinkClick action="ppaction://hlinksldjump" r:id="rId18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Аудит — небольшая инвестиция перед большой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3474720" cy="173736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68680" y="21488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386FC"/>
                </a:solidFill>
                <a:latin typeface="+mj-lt"/>
              </a:rPr>
              <a:t>5 млн ₽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68680" y="29260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программа изменений: лицензии, обучение, доработки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4297680" y="2011680"/>
            <a:ext cx="3474720" cy="173736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4572000" y="21488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386FC"/>
                </a:solidFill>
                <a:latin typeface="+mj-lt"/>
              </a:rPr>
              <a:t>300 тыс. ₽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572000" y="29260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стоимость аудита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8001000" y="2011680"/>
            <a:ext cx="3474720" cy="173736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8275320" y="21488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+mj-lt"/>
              </a:rPr>
              <a:t>6%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8275320" y="29260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+mn-lt"/>
              </a:rPr>
              <a:t>неэффективных затрат достаточно предотвратить, чтобы аудит окупился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023360"/>
            <a:ext cx="10881360" cy="16916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868680" y="41605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Дальше задача аудита — не только сэкономить, </a:t>
            </a:r>
            <a:r>
              <a:rPr sz="1400" b="0">
                <a:solidFill>
                  <a:srgbClr val="1A1A1A"/>
                </a:solidFill>
                <a:latin typeface="+mn-lt"/>
              </a:rPr>
              <a:t>а определить, где технология создаст дополнительную производительность и пропускную способность отдела.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Типичные неэффективные затраты: лицензии, которые не используются; ПО, не закрывающее требования разделов; переделки из-за несовместимых форматов; обучение не тех людей и не тому.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Пример расчёта; суммы — условные.</a:t>
            </a:r>
          </a:p>
        </p:txBody>
      </p:sp>
      <p:sp>
        <p:nvSpPr>
          <p:cNvPr id="555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7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РЕЗУЛЬТАТ</a:t>
            </a:r>
          </a:p>
        </p:txBody>
      </p:sp>
      <p:sp>
        <p:nvSpPr>
          <p:cNvPr id="558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9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0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1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04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КЕЙСЫ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Задача, выполненная работа и подтверждённый результат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 1: [заказчик] — [объект / задача]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9464040" y="1389888"/>
            <a:ext cx="2011680" cy="3657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>
                <a:solidFill>
                  <a:srgbClr val="0386FC"/>
                </a:solidFill>
                <a:latin typeface="+mn-lt"/>
              </a:rPr>
              <a:t>МАТЕРИАЛЫ ГОТОВЯТСЯ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011680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Контекст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2606040" y="2011680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Объект, подразделения и исходный технологический процесс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670048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Задача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606040" y="2670048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требовалось изменить или проверить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594360" y="3328415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ИТ-ландшафт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2606040" y="3328415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Какие продукты и форматы уже использовались, что нужно было сохранить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3986783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Работа Нормасофт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2606040" y="3986783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Обследование, настройка, интеграция, обучение, пилот, передача требований разработчикам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645151"/>
            <a:ext cx="1920240" cy="5669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+mj-lt"/>
              </a:rPr>
              <a:t>Результат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2606040" y="4645151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заказчик смог сделать сам; какие документы или модели получил; что осталось в бэклоге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594360" y="5303519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Применимость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2606040" y="5303519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из кейса можно применить в вашей организации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7863840" y="2011680"/>
            <a:ext cx="3611880" cy="3877056"/>
          </a:xfrm>
          <a:prstGeom prst="snip1Rect">
            <a:avLst/>
          </a:prstGeom>
          <a:solidFill>
            <a:srgbClr val="F1F3F6"/>
          </a:solidFill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200" b="0">
                <a:solidFill>
                  <a:srgbClr val="6B7280"/>
                </a:solidFill>
                <a:latin typeface="+mn-lt"/>
              </a:rPr>
              <a:t>Изображение объекта или фрагмент карты ИТ-ландшафта</a:t>
            </a:r>
          </a:p>
        </p:txBody>
      </p:sp>
      <p:sp>
        <p:nvSpPr>
          <p:cNvPr id="557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8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9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0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2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3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4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 2: [заказчик] — [объект / задача]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9464040" y="1389888"/>
            <a:ext cx="2011680" cy="3657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>
                <a:solidFill>
                  <a:srgbClr val="0386FC"/>
                </a:solidFill>
                <a:latin typeface="+mn-lt"/>
              </a:rPr>
              <a:t>МАТЕРИАЛЫ ГОТОВЯТСЯ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011680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Контекст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2606040" y="2011680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Объект, подразделения и исходный технологический процесс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670048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Задача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606040" y="2670048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требовалось изменить или проверить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594360" y="3328415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ИТ-ландшафт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2606040" y="3328415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Какие продукты и форматы уже использовались, что нужно было сохранить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3986783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Работа Нормасофт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2606040" y="3986783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Обследование, настройка, интеграция, обучение, пилот, передача требований разработчикам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645151"/>
            <a:ext cx="1920240" cy="5669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+mj-lt"/>
              </a:rPr>
              <a:t>Результат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2606040" y="4645151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заказчик смог сделать сам; какие документы или модели получил; что осталось в бэклоге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594360" y="5303519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Применимость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2606040" y="5303519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из кейса можно применить в вашей организации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7863840" y="2011680"/>
            <a:ext cx="3611880" cy="3877056"/>
          </a:xfrm>
          <a:prstGeom prst="snip1Rect">
            <a:avLst/>
          </a:prstGeom>
          <a:solidFill>
            <a:srgbClr val="F1F3F6"/>
          </a:solidFill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200" b="0">
                <a:solidFill>
                  <a:srgbClr val="6B7280"/>
                </a:solidFill>
                <a:latin typeface="+mn-lt"/>
              </a:rPr>
              <a:t>Изображение объекта или фрагмент карты ИТ-ландшафта</a:t>
            </a:r>
          </a:p>
        </p:txBody>
      </p:sp>
      <p:sp>
        <p:nvSpPr>
          <p:cNvPr id="557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8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9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0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2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3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4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 3: [заказчик] — [объект / задача]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9464040" y="1389888"/>
            <a:ext cx="2011680" cy="3657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>
                <a:solidFill>
                  <a:srgbClr val="0386FC"/>
                </a:solidFill>
                <a:latin typeface="+mn-lt"/>
              </a:rPr>
              <a:t>МАТЕРИАЛЫ ГОТОВЯТСЯ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011680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Контекст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2606040" y="2011680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Объект, подразделения и исходный технологический процесс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670048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Задача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2606040" y="2670048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требовалось изменить или проверить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594360" y="3328415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ИТ-ландшафт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2606040" y="3328415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Какие продукты и форматы уже использовались, что нужно было сохранить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3986783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Работа Нормасофт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2606040" y="3986783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Обследование, настройка, интеграция, обучение, пилот, передача требований разработчикам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645151"/>
            <a:ext cx="1920240" cy="5669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+mj-lt"/>
              </a:rPr>
              <a:t>Результат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2606040" y="4645151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заказчик смог сделать сам; какие документы или модели получил; что осталось в бэклоге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594360" y="5303519"/>
            <a:ext cx="1920240" cy="5669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200" b="1">
                <a:solidFill>
                  <a:srgbClr val="1A1A1A"/>
                </a:solidFill>
                <a:latin typeface="+mj-lt"/>
              </a:rPr>
              <a:t>Применимость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2606040" y="5303519"/>
            <a:ext cx="5029200" cy="566928"/>
          </a:xfrm>
          <a:prstGeom prst="snip1Rect">
            <a:avLst/>
          </a:prstGeom>
          <a:noFill/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/>
            <a:r>
              <a:rPr sz="1050" b="0">
                <a:solidFill>
                  <a:srgbClr val="6B7280"/>
                </a:solidFill>
                <a:latin typeface="+mn-lt"/>
              </a:rPr>
              <a:t>Что из кейса можно применить в вашей организации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7863840" y="2011680"/>
            <a:ext cx="3611880" cy="3877056"/>
          </a:xfrm>
          <a:prstGeom prst="snip1Rect">
            <a:avLst/>
          </a:prstGeom>
          <a:solidFill>
            <a:srgbClr val="F1F3F6"/>
          </a:solidFill>
          <a:ln w="15875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200" b="0">
                <a:solidFill>
                  <a:srgbClr val="6B7280"/>
                </a:solidFill>
                <a:latin typeface="+mn-lt"/>
              </a:rPr>
              <a:t>Изображение объекта или фрагмент карты ИТ-ландшафта</a:t>
            </a:r>
          </a:p>
        </p:txBody>
      </p:sp>
      <p:sp>
        <p:nvSpPr>
          <p:cNvPr id="557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8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9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0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62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3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4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05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ВНЕДРЕНИЕ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Аудит — первый шаг. Почему важно довести решения до результата и почему лучше с нами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3" name="nav">
            <a:hlinkClick action="ppaction://hlinksldjump" r:id="rId4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ВНЕДРЕНИЕ</a:t>
            </a:r>
          </a:p>
        </p:txBody>
      </p:sp>
      <p:sp>
        <p:nvSpPr>
          <p:cNvPr id="264" name="nav">
            <a:hlinkClick action="ppaction://hlinksldjump" r:id="rId3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5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266" name="nav">
            <a:hlinkClick action="ppaction://hlinksldjump" r:id="rId11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После аудита: путь к результату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44752" cy="1600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685800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+mj-lt"/>
              </a:rPr>
              <a:t>Аудит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31520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+mn-lt"/>
              </a:rPr>
              <a:t>1–2 мес.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2167128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2258568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Выбор стека и тестирование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2304288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2–4 мес.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3739896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3831335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Инфраструктура и стандарты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3877056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2–3 мес.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312664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TextBox 552"/>
          <p:cNvSpPr txBox="1"/>
          <p:nvPr/>
        </p:nvSpPr>
        <p:spPr>
          <a:xfrm>
            <a:off x="5404104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Обучение и управление изменениями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449824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3–6 мес.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6885432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6976872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Пилотный проект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7022592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6–12 мес.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458200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8549640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Масштабирование и миграция данных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8595360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12–24 мес.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10030968" y="2011680"/>
            <a:ext cx="1444752" cy="1600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10122408" y="2121408"/>
            <a:ext cx="1316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+mj-lt"/>
              </a:rPr>
              <a:t>Развитие экосистемы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10168128" y="3200400"/>
            <a:ext cx="1216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386FC"/>
                </a:solidFill>
                <a:latin typeface="+mn-lt"/>
              </a:rPr>
              <a:t>постоянно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594360" y="3840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Почему важно довести решения аудита до результата</a:t>
            </a:r>
          </a:p>
        </p:txBody>
      </p:sp>
      <p:sp>
        <p:nvSpPr>
          <p:cNvPr id="565" name="Snip Single Corner Rectangle 564"/>
          <p:cNvSpPr/>
          <p:nvPr/>
        </p:nvSpPr>
        <p:spPr>
          <a:xfrm>
            <a:off x="594360" y="4297680"/>
            <a:ext cx="3474720" cy="14630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6" name="TextBox 565"/>
          <p:cNvSpPr txBox="1"/>
          <p:nvPr/>
        </p:nvSpPr>
        <p:spPr>
          <a:xfrm>
            <a:off x="822960" y="4434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Отчёт на полке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822960" y="4828032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Без внедрения дорожная карта остаётся документом, а бюджет — неиспользованным.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4297680" y="4297680"/>
            <a:ext cx="3474720" cy="14630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9" name="TextBox 568"/>
          <p:cNvSpPr txBox="1"/>
          <p:nvPr/>
        </p:nvSpPr>
        <p:spPr>
          <a:xfrm>
            <a:off x="4526280" y="4434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Потеря данных и темпа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4526280" y="4828032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Миграция без пилота и стандартов ломает выпуск документации.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8001000" y="4297680"/>
            <a:ext cx="3474720" cy="14630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229600" y="4434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386FC"/>
                </a:solidFill>
                <a:latin typeface="+mj-lt"/>
              </a:rPr>
              <a:t>Сопротивление изменениям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229600" y="4828032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+mn-lt"/>
              </a:rPr>
              <a:t>Без обучения и сопровождения сотрудники возвращаются к старым инструментам.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594360" y="589788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Сроки — ориентиры для средней проектной организации; уточняются дорожной картой.</a:t>
            </a:r>
          </a:p>
        </p:txBody>
      </p:sp>
      <p:sp>
        <p:nvSpPr>
          <p:cNvPr id="575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76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77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78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9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ВНЕДРЕНИЕ</a:t>
            </a:r>
          </a:p>
        </p:txBody>
      </p:sp>
      <p:sp>
        <p:nvSpPr>
          <p:cNvPr id="580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1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82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Почему внедрять вместе с Нормасофт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5740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34440" y="20116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Одна команда от аудита до пилота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1234440" y="234086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Выводы аудита не теряются при передаче подрядчику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594360" y="2862072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234440" y="28163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Объективный выбор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1234440" y="3145536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Работаем с решениями разных разработчиков и отвечаем за стыки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3666744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1234440" y="3621024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Быстрее и с меньшими рисками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1234440" y="3950208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Пилот на реальном объекте, стандарты — до масштабирования</a:t>
            </a:r>
          </a:p>
        </p:txBody>
      </p:sp>
      <p:sp>
        <p:nvSpPr>
          <p:cNvPr id="552" name="Snip Single Corner Rectangle 551"/>
          <p:cNvSpPr/>
          <p:nvPr/>
        </p:nvSpPr>
        <p:spPr>
          <a:xfrm>
            <a:off x="594360" y="4471416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1234440" y="442569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Свой учебный центр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1234440" y="475488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Короткие курсы по матрице компетенций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594360" y="5276088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+mj-lt"/>
              </a:rPr>
              <a:t>05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1234440" y="523036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Связь с разработчиками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1234440" y="555955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+mn-lt"/>
              </a:rPr>
              <a:t>Передаём запросы на доработку и добиваемся их выполнения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7086600" y="2011680"/>
            <a:ext cx="4389120" cy="3749039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7360920" y="2194560"/>
            <a:ext cx="38404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FFFFFF"/>
                </a:solidFill>
                <a:latin typeface="+mj-lt"/>
              </a:rPr>
              <a:t>Интегратор не должен делать переход за вас.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FFFFFF"/>
                </a:solidFill>
                <a:latin typeface="+mn-lt"/>
              </a:rPr>
              <a:t>Его роль — дать инструменты, знания и уверенность, чтобы организация самостоятельно и устойчиво управляла цифровой трансформацией.</a:t>
            </a:r>
          </a:p>
        </p:txBody>
      </p:sp>
      <p:sp>
        <p:nvSpPr>
          <p:cNvPr id="560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61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62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63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4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ВНЕДРЕНИЕ</a:t>
            </a:r>
          </a:p>
        </p:txBody>
      </p:sp>
      <p:sp>
        <p:nvSpPr>
          <p:cNvPr id="565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6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67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>
            <a:lumMod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98" name="Google Shape;321;p35"/>
          <p:cNvSpPr/>
          <p:nvPr/>
        </p:nvSpPr>
        <p:spPr>
          <a:xfrm>
            <a:off x="595440" y="1672200"/>
            <a:ext cx="143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Миссия: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2091960" y="1704600"/>
            <a:ext cx="8496720" cy="38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9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Обеспечение технологического суверенитета российских компаний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0" name="Google Shape;321;p35"/>
          <p:cNvSpPr/>
          <p:nvPr/>
        </p:nvSpPr>
        <p:spPr>
          <a:xfrm>
            <a:off x="595440" y="2615400"/>
            <a:ext cx="23389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Направления: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101" name="Google Shape;321;p35"/>
          <p:cNvSpPr/>
          <p:nvPr/>
        </p:nvSpPr>
        <p:spPr>
          <a:xfrm>
            <a:off x="3157920" y="2615400"/>
            <a:ext cx="427824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Поставляем и внедряем инфраструктурное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инженерное программное обеспечение, программы для учета и управления оборудованием, приборами,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IT</a:t>
            </a: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-активами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2" name="Google Shape;321;p35"/>
          <p:cNvSpPr/>
          <p:nvPr/>
        </p:nvSpPr>
        <p:spPr>
          <a:xfrm>
            <a:off x="6453000" y="3660840"/>
            <a:ext cx="284976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Развиваем  направление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«Цифровые двойники производства»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3" name="Google Shape;321;p35"/>
          <p:cNvSpPr/>
          <p:nvPr/>
        </p:nvSpPr>
        <p:spPr>
          <a:xfrm>
            <a:off x="3157920" y="3654720"/>
            <a:ext cx="312552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Разрабатываем типовые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индивидуальные плагины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утилиты для работы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4" name="Google Shape;321;p35"/>
          <p:cNvSpPr/>
          <p:nvPr/>
        </p:nvSpPr>
        <p:spPr>
          <a:xfrm>
            <a:off x="7567560" y="2615400"/>
            <a:ext cx="38340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Обучаем работе  с отечественным инженерным ПО в Авторизованном учебном центре «Нормасофт»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5" name="Google Shape;321;p35"/>
          <p:cNvSpPr/>
          <p:nvPr/>
        </p:nvSpPr>
        <p:spPr>
          <a:xfrm>
            <a:off x="9472320" y="3654720"/>
            <a:ext cx="19296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Развиваем направление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BIM VR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6" name="Google Shape;321;p35"/>
          <p:cNvSpPr/>
          <p:nvPr/>
        </p:nvSpPr>
        <p:spPr>
          <a:xfrm>
            <a:off x="595440" y="5185800"/>
            <a:ext cx="13460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Опыт: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107" name="Google Shape;171;p29"/>
          <p:cNvSpPr/>
          <p:nvPr/>
        </p:nvSpPr>
        <p:spPr>
          <a:xfrm>
            <a:off x="25027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3 000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8" name="TextBox 28"/>
          <p:cNvSpPr/>
          <p:nvPr/>
        </p:nvSpPr>
        <p:spPr>
          <a:xfrm>
            <a:off x="2202480" y="5708160"/>
            <a:ext cx="35071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Инженеров, специалистов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 преподавателей, прошедших обучение работе с отечественным инженерным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9" name="Google Shape;171;p29"/>
          <p:cNvSpPr/>
          <p:nvPr/>
        </p:nvSpPr>
        <p:spPr>
          <a:xfrm>
            <a:off x="62071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500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0" name="TextBox 30"/>
          <p:cNvSpPr/>
          <p:nvPr/>
        </p:nvSpPr>
        <p:spPr>
          <a:xfrm>
            <a:off x="5861160" y="5689800"/>
            <a:ext cx="30909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Клиентов, включая предприятия корпораций «РОСАТОМ», «РОСТЕХ» и «РОССЕТИ»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1" name="Google Shape;171;p29"/>
          <p:cNvSpPr/>
          <p:nvPr/>
        </p:nvSpPr>
        <p:spPr>
          <a:xfrm>
            <a:off x="954684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14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2" name="TextBox 32"/>
          <p:cNvSpPr/>
          <p:nvPr/>
        </p:nvSpPr>
        <p:spPr>
          <a:xfrm>
            <a:off x="9204120" y="5689800"/>
            <a:ext cx="22698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Лет успешного внедрения и импортозамещения отечественного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3" name="TextBox 35"/>
          <p:cNvSpPr/>
          <p:nvPr/>
        </p:nvSpPr>
        <p:spPr>
          <a:xfrm>
            <a:off x="21225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4" name="TextBox 36"/>
          <p:cNvSpPr/>
          <p:nvPr/>
        </p:nvSpPr>
        <p:spPr>
          <a:xfrm>
            <a:off x="580500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5" name="TextBox 37"/>
          <p:cNvSpPr/>
          <p:nvPr/>
        </p:nvSpPr>
        <p:spPr>
          <a:xfrm>
            <a:off x="91443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116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118" name="Прямая со стрелкой 17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128" name="Google Shape;269;p32">
            <a:hlinkClick action="ppaction://hlinksldjump" r:id="rId11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129" name="nav">
            <a:hlinkClick action="ppaction://hlinksldjump" r:id="rId12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130" name="nav">
            <a:hlinkClick action="ppaction://hlinksldjump" r:id="rId13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131" name="nav">
            <a:hlinkClick action="ppaction://hlinksldjump" r:id="rId5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132" name="nav">
            <a:hlinkClick action="ppaction://hlinksldjump" r:id="rId4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133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134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135" name="nav">
            <a:hlinkClick action="ppaction://hlinksldjump" r:id="rId16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136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Прямоугольник: скругленные углы 9"/>
          <p:cNvSpPr/>
          <p:nvPr/>
        </p:nvSpPr>
        <p:spPr>
          <a:xfrm>
            <a:off x="4511520" y="158220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5046120" y="2893320"/>
            <a:ext cx="242028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 группах в нашем учебном центре онлайн по общему графику.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4" name="Google Shape;321;p35"/>
          <p:cNvSpPr/>
          <p:nvPr/>
        </p:nvSpPr>
        <p:spPr>
          <a:xfrm>
            <a:off x="10347120" y="5406480"/>
            <a:ext cx="810000" cy="82944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200" b="0" u="none" strike="noStrike">
              <a:solidFill>
                <a:schemeClr val="dk1"/>
              </a:solidFill>
              <a:effectLst/>
              <a:uFillTx/>
              <a:latin typeface="Manrope"/>
            </a:endParaRPr>
          </a:p>
        </p:txBody>
      </p:sp>
      <p:cxnSp>
        <p:nvCxnSpPr>
          <p:cNvPr id="265" name="Прямая соединительная линия 26"/>
          <p:cNvCxnSpPr>
            <a:stCxn id="266" idx="0"/>
            <a:endCxn id="267" idx="2"/>
          </p:cNvCxnSpPr>
          <p:nvPr/>
        </p:nvCxnSpPr>
        <p:spPr>
          <a:xfrm>
            <a:off x="3024000" y="4910400"/>
            <a:ext cx="5820840" cy="360"/>
          </a:xfrm>
          <a:prstGeom prst="straightConnector1">
            <a:avLst/>
          </a:prstGeom>
          <a:ln w="9525">
            <a:solidFill>
              <a:srgbClr val="0386FC"/>
            </a:solidFill>
          </a:ln>
        </p:spPr>
      </p:cxnSp>
      <p:sp>
        <p:nvSpPr>
          <p:cNvPr id="268" name="Google Shape;321;p35"/>
          <p:cNvSpPr/>
          <p:nvPr/>
        </p:nvSpPr>
        <p:spPr>
          <a:xfrm>
            <a:off x="6400080" y="5641200"/>
            <a:ext cx="7232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</a:rPr>
              <a:t>Linux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69" name="Google Shape;321;p35"/>
          <p:cNvSpPr/>
          <p:nvPr/>
        </p:nvSpPr>
        <p:spPr>
          <a:xfrm>
            <a:off x="7282800" y="5641200"/>
            <a:ext cx="11754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АСМОграф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0" name="Google Shape;321;p35"/>
          <p:cNvSpPr/>
          <p:nvPr/>
        </p:nvSpPr>
        <p:spPr>
          <a:xfrm>
            <a:off x="3326040" y="5641200"/>
            <a:ext cx="1080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nanoCAD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1" name="Google Shape;321;p35"/>
          <p:cNvSpPr/>
          <p:nvPr/>
        </p:nvSpPr>
        <p:spPr>
          <a:xfrm>
            <a:off x="4566240" y="5641200"/>
            <a:ext cx="1674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Model Studio CS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2" name="Прямоугольник: скругленные углы 8"/>
          <p:cNvSpPr/>
          <p:nvPr/>
        </p:nvSpPr>
        <p:spPr>
          <a:xfrm>
            <a:off x="67500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73" name="Прямоугольник: скругленные углы 10"/>
          <p:cNvSpPr/>
          <p:nvPr/>
        </p:nvSpPr>
        <p:spPr>
          <a:xfrm>
            <a:off x="833508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74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75" name="Прямая со стрелкой 12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76" name="TextBox 13"/>
          <p:cNvSpPr/>
          <p:nvPr/>
        </p:nvSpPr>
        <p:spPr>
          <a:xfrm>
            <a:off x="696960" y="2855520"/>
            <a:ext cx="3369960" cy="9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 нашем учебном центре,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на вашей территории или онлайн,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 учетом специфики проектов и технологий компании.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7" name="TextBox 15"/>
          <p:cNvSpPr/>
          <p:nvPr/>
        </p:nvSpPr>
        <p:spPr>
          <a:xfrm>
            <a:off x="8384040" y="2844360"/>
            <a:ext cx="3316320" cy="11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Доступ к видеоурокам и тестам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для самостоятельного изучения,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что помогает быстро обучать сотрудников и оптимизировать затраты.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8" name="TextBox 16"/>
          <p:cNvSpPr/>
          <p:nvPr/>
        </p:nvSpPr>
        <p:spPr>
          <a:xfrm>
            <a:off x="891720" y="1919520"/>
            <a:ext cx="2994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Корпоративное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9" name="TextBox 17"/>
          <p:cNvSpPr/>
          <p:nvPr/>
        </p:nvSpPr>
        <p:spPr>
          <a:xfrm>
            <a:off x="4527360" y="1932840"/>
            <a:ext cx="33699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Потоковое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0" name="TextBox 18"/>
          <p:cNvSpPr/>
          <p:nvPr/>
        </p:nvSpPr>
        <p:spPr>
          <a:xfrm>
            <a:off x="8903520" y="1932840"/>
            <a:ext cx="2277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Онлайн-обучение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6" name="Google Shape;321;p35"/>
          <p:cNvSpPr/>
          <p:nvPr/>
        </p:nvSpPr>
        <p:spPr>
          <a:xfrm>
            <a:off x="696960" y="4685760"/>
            <a:ext cx="23270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Запишитесь 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1" name="Google Shape;321;p35"/>
          <p:cNvSpPr/>
          <p:nvPr/>
        </p:nvSpPr>
        <p:spPr>
          <a:xfrm>
            <a:off x="3711960" y="4685760"/>
            <a:ext cx="172152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Получите доступ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2" name="Google Shape;321;p35"/>
          <p:cNvSpPr/>
          <p:nvPr/>
        </p:nvSpPr>
        <p:spPr>
          <a:xfrm>
            <a:off x="6121080" y="4685760"/>
            <a:ext cx="20354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Пройдите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7" name="Google Shape;321;p35"/>
          <p:cNvSpPr/>
          <p:nvPr/>
        </p:nvSpPr>
        <p:spPr>
          <a:xfrm>
            <a:off x="8844480" y="4685760"/>
            <a:ext cx="28562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Применяйте знания на практике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3" name="Прямоугольник: скругленные углы 27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84" name="Google Shape;321;p35"/>
          <p:cNvSpPr/>
          <p:nvPr/>
        </p:nvSpPr>
        <p:spPr>
          <a:xfrm>
            <a:off x="696960" y="5641200"/>
            <a:ext cx="24696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Обучаем работе в ПО: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85" name="Google Shape;126;p27"/>
          <p:cNvSpPr/>
          <p:nvPr/>
        </p:nvSpPr>
        <p:spPr>
          <a:xfrm>
            <a:off x="10168200" y="6337800"/>
            <a:ext cx="11739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+mn-lt"/>
                <a:ea typeface="Manrope"/>
                <a:hlinkClick r:id="rId1"/>
              </a:rPr>
              <a:t>Записаться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+mn-lt"/>
                <a:ea typeface="Manrope"/>
                <a:hlinkClick r:id="rId2"/>
              </a:rPr>
              <a:t>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6" name="Рисунок 42"/>
          <p:cNvSpPr/>
          <p:nvPr/>
        </p:nvSpPr>
        <p:spPr>
          <a:xfrm>
            <a:off x="10400760" y="5517000"/>
            <a:ext cx="682560" cy="680400"/>
          </a:xfrm>
          <a:prstGeom prst="roundRect">
            <a:avLst>
              <a:gd name="adj" fmla="val 9971"/>
            </a:avLst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pic>
        <p:nvPicPr>
          <p:cNvPr id="28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>
            <a:alphaModFix amt="70000"/>
          </a:blip>
          <a:srcRect l="0" t="70797" r="0" b="0"/>
          <a:stretch/>
        </p:blipFill>
        <p:spPr>
          <a:xfrm rot="5400000">
            <a:off x="-1804680" y="3560040"/>
            <a:ext cx="388584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Google Shape;9193;p66"/>
          <p:cNvSpPr/>
          <p:nvPr/>
        </p:nvSpPr>
        <p:spPr>
          <a:xfrm>
            <a:off x="9862200" y="2363040"/>
            <a:ext cx="360000" cy="358560"/>
          </a:xfrm>
          <a:custGeom>
            <a:avLst/>
            <a:gdLst>
              <a:gd name="textAreaLeft" fmla="*/ 0 w 360000"/>
              <a:gd name="textAreaRight" fmla="*/ 360360 w 360000"/>
              <a:gd name="textAreaTop" fmla="*/ 0 h 358560"/>
              <a:gd name="textAreaBottom" fmla="*/ 358920 h 358560"/>
            </a:gdLst>
            <a:ahLst/>
            <a:cxnLst/>
            <a:rect l="textAreaLeft" t="textAreaTop" r="textAreaRight" b="textAreaBottom"/>
            <a:pathLst>
              <a:path w="11348" h="1130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89" name="Google Shape;9317;p66"/>
          <p:cNvSpPr/>
          <p:nvPr/>
        </p:nvSpPr>
        <p:spPr>
          <a:xfrm>
            <a:off x="2210760" y="2378520"/>
            <a:ext cx="343080" cy="343080"/>
          </a:xfrm>
          <a:custGeom>
            <a:avLst/>
            <a:gdLst>
              <a:gd name="textAreaLeft" fmla="*/ 0 w 343080"/>
              <a:gd name="textAreaRight" fmla="*/ 343440 w 343080"/>
              <a:gd name="textAreaTop" fmla="*/ 0 h 343080"/>
              <a:gd name="textAreaBottom" fmla="*/ 343440 h 343080"/>
            </a:gdLst>
            <a:ahLst/>
            <a:cxnLst/>
            <a:rect l="textAreaLeft" t="textAreaTop" r="textAreaRight" b="textAreaBottom"/>
            <a:pathLst>
              <a:path w="10812" h="10811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90" name="Google Shape;10677;p68"/>
          <p:cNvSpPr/>
          <p:nvPr/>
        </p:nvSpPr>
        <p:spPr>
          <a:xfrm>
            <a:off x="5963400" y="2387160"/>
            <a:ext cx="488880" cy="407880"/>
          </a:xfrm>
          <a:custGeom>
            <a:avLst/>
            <a:gdLst>
              <a:gd name="textAreaLeft" fmla="*/ 0 w 488880"/>
              <a:gd name="textAreaRight" fmla="*/ 489240 w 488880"/>
              <a:gd name="textAreaTop" fmla="*/ 0 h 407880"/>
              <a:gd name="textAreaBottom" fmla="*/ 408240 h 407880"/>
            </a:gdLst>
            <a:ahLst/>
            <a:cxnLst/>
            <a:rect l="textAreaLeft" t="textAreaTop" r="textAreaRight" b="textAreaBottom"/>
            <a:pathLst>
              <a:path w="10919" h="9109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91" name="Овал 103"/>
          <p:cNvSpPr/>
          <p:nvPr/>
        </p:nvSpPr>
        <p:spPr>
          <a:xfrm>
            <a:off x="365868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92" name="Овал 104"/>
          <p:cNvSpPr/>
          <p:nvPr/>
        </p:nvSpPr>
        <p:spPr>
          <a:xfrm>
            <a:off x="606780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93" name="Овал 105"/>
          <p:cNvSpPr/>
          <p:nvPr/>
        </p:nvSpPr>
        <p:spPr>
          <a:xfrm>
            <a:off x="879804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303" name="Google Shape;269;p32">
            <a:hlinkClick action="ppaction://hlinksldjump" r:id="rId14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307" name="Google Shape;321;p35"/>
          <p:cNvSpPr/>
          <p:nvPr/>
        </p:nvSpPr>
        <p:spPr>
          <a:xfrm>
            <a:off x="8617320" y="5641200"/>
            <a:ext cx="8470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Renga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308" name="nav">
            <a:hlinkClick action="ppaction://hlinksldjump" r:id="rId15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309" name="nav">
            <a:hlinkClick action="ppaction://hlinksldjump" r:id="rId16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310" name="nav">
            <a:hlinkClick action="ppaction://hlinksldjump" r:id="rId8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311" name="nav">
            <a:hlinkClick action="ppaction://hlinksldjump" r:id="rId7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312" name="nav">
            <a:hlinkClick action="ppaction://hlinksldjump" r:id="rId6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313" name="nav">
            <a:hlinkClick action="ppaction://hlinksldjump" r:id="rId5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314" name="nav">
            <a:hlinkClick action="ppaction://hlinksldjump" r:id="rId19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315" name="nav">
            <a:hlinkClick action="ppaction://hlinksldjump" r:id="rId13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Прямоугольник: скругленные углы 2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486" name="Заголовок 1"/>
          <p:cNvSpPr/>
          <p:nvPr/>
        </p:nvSpPr>
        <p:spPr>
          <a:xfrm>
            <a:off x="826200" y="1437840"/>
            <a:ext cx="1108692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Консультанты по всем разделам проектирования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7" name="Google Shape;321;p35"/>
          <p:cNvSpPr/>
          <p:nvPr/>
        </p:nvSpPr>
        <p:spPr>
          <a:xfrm>
            <a:off x="1491120" y="220428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Учебный центр: комплексное обучение работе в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8" name="Google Shape;321;p35"/>
          <p:cNvSpPr/>
          <p:nvPr/>
        </p:nvSpPr>
        <p:spPr>
          <a:xfrm>
            <a:off x="1491120" y="2846880"/>
            <a:ext cx="2310840" cy="40932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WorldSkills</a:t>
            </a: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,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AtomSkills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9" name="Google Shape;321;p35"/>
          <p:cNvSpPr/>
          <p:nvPr/>
        </p:nvSpPr>
        <p:spPr>
          <a:xfrm>
            <a:off x="1491120" y="345492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Инженеры по всем разделам проектирования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0" name="Google Shape;321;p35"/>
          <p:cNvSpPr/>
          <p:nvPr/>
        </p:nvSpPr>
        <p:spPr>
          <a:xfrm>
            <a:off x="1491120" y="409788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базовому САПР для инженеров ПТО, ОКСов и служб эксплуатации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1" name="Google Shape;321;p35"/>
          <p:cNvSpPr/>
          <p:nvPr/>
        </p:nvSpPr>
        <p:spPr>
          <a:xfrm>
            <a:off x="1491120" y="478944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моделированию бизнес-процессов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2" name="Google Shape;321;p35"/>
          <p:cNvSpPr/>
          <p:nvPr/>
        </p:nvSpPr>
        <p:spPr>
          <a:xfrm>
            <a:off x="1491120" y="5432040"/>
            <a:ext cx="599724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моделированию технологических 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3" name="Google Shape;321;p35"/>
          <p:cNvSpPr/>
          <p:nvPr/>
        </p:nvSpPr>
        <p:spPr>
          <a:xfrm>
            <a:off x="1491120" y="607500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развертыванию отечественного системного и инфраструктурного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4" name="Google Shape;321;p35"/>
          <p:cNvSpPr/>
          <p:nvPr/>
        </p:nvSpPr>
        <p:spPr>
          <a:xfrm>
            <a:off x="966240" y="22042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pic>
        <p:nvPicPr>
          <p:cNvPr id="495" name="Рисунок 2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/>
          <a:stretch/>
        </p:blipFill>
        <p:spPr>
          <a:xfrm>
            <a:off x="1031040" y="2245680"/>
            <a:ext cx="39456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Google Shape;321;p35"/>
          <p:cNvSpPr/>
          <p:nvPr/>
        </p:nvSpPr>
        <p:spPr>
          <a:xfrm>
            <a:off x="966240" y="28134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7" name="Google Shape;321;p35"/>
          <p:cNvSpPr/>
          <p:nvPr/>
        </p:nvSpPr>
        <p:spPr>
          <a:xfrm>
            <a:off x="966240" y="345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8" name="Google Shape;321;p35"/>
          <p:cNvSpPr/>
          <p:nvPr/>
        </p:nvSpPr>
        <p:spPr>
          <a:xfrm>
            <a:off x="955440" y="41464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9" name="Google Shape;321;p35"/>
          <p:cNvSpPr/>
          <p:nvPr/>
        </p:nvSpPr>
        <p:spPr>
          <a:xfrm>
            <a:off x="955440" y="47894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00" name="Google Shape;321;p35"/>
          <p:cNvSpPr/>
          <p:nvPr/>
        </p:nvSpPr>
        <p:spPr>
          <a:xfrm>
            <a:off x="966240" y="543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01" name="Google Shape;321;p35"/>
          <p:cNvSpPr/>
          <p:nvPr/>
        </p:nvSpPr>
        <p:spPr>
          <a:xfrm>
            <a:off x="966240" y="61236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pic>
        <p:nvPicPr>
          <p:cNvPr id="502" name="Рисунок 26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/>
          <a:stretch/>
        </p:blipFill>
        <p:spPr>
          <a:xfrm>
            <a:off x="1064160" y="2872800"/>
            <a:ext cx="329040" cy="32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Рисунок 27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3"/>
          <a:stretch/>
        </p:blipFill>
        <p:spPr>
          <a:xfrm>
            <a:off x="1054440" y="349524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Рисунок 30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/>
          <a:stretch/>
        </p:blipFill>
        <p:spPr>
          <a:xfrm>
            <a:off x="1054440" y="4221720"/>
            <a:ext cx="347400" cy="34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2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5"/>
          <a:stretch/>
        </p:blipFill>
        <p:spPr>
          <a:xfrm>
            <a:off x="1050480" y="4864680"/>
            <a:ext cx="307080" cy="30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28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6"/>
          <a:stretch/>
        </p:blipFill>
        <p:spPr>
          <a:xfrm>
            <a:off x="1031040" y="5468040"/>
            <a:ext cx="370440" cy="37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3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7"/>
          <a:stretch/>
        </p:blipFill>
        <p:spPr>
          <a:xfrm>
            <a:off x="1031040" y="616680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3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8">
            <a:alphaModFix amt="70000"/>
          </a:blip>
          <a:srcRect l="0" t="55656" r="0" b="0"/>
          <a:stretch/>
        </p:blipFill>
        <p:spPr>
          <a:xfrm rot="5400000">
            <a:off x="-1733040" y="42814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10" name="Прямая со стрелкой 41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20" name="Google Shape;269;p32">
            <a:hlinkClick action="ppaction://hlinksldjump" r:id="rId18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21" name="nav">
            <a:hlinkClick action="ppaction://hlinksldjump" r:id="rId19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22" name="nav">
            <a:hlinkClick action="ppaction://hlinksldjump" r:id="rId20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23" name="nav">
            <a:hlinkClick action="ppaction://hlinksldjump" r:id="rId12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24" name="nav">
            <a:hlinkClick action="ppaction://hlinksldjump" r:id="rId11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25" name="nav">
            <a:hlinkClick action="ppaction://hlinksldjump" r:id="rId10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26" name="nav">
            <a:hlinkClick action="ppaction://hlinksldjump" r:id="rId9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527" name="nav">
            <a:hlinkClick action="ppaction://hlinksldjump" r:id="rId23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28" name="nav">
            <a:hlinkClick action="ppaction://hlinksldjump" r:id="rId17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Переход к обсуждению ваших задач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280160" y="201168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Какие решения по ПО, ТИМ и импортозамещению предстоит принять в ближайший год?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594360" y="274320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1280160" y="274320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Какие подразделения, продукты, форматы и библиотеки критичны и должны быть сохранены?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594360" y="347472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1280160" y="347472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Где сейчас основные потери: обмен данными, координация, выпуск документации, расчёты, внесение изменений?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594360" y="4206240"/>
            <a:ext cx="502920" cy="50292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1280160" y="420624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+mn-lt"/>
              </a:rPr>
              <a:t>Какой контур аудита нужен: вся организация или пилотное подразделение; нужны ли анализ кадров и оценка ТИМ-зрелости?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594360" y="5029200"/>
            <a:ext cx="10881360" cy="77724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868680" y="502920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Результат встречи: </a:t>
            </a:r>
            <a:r>
              <a:rPr sz="1300" b="0">
                <a:solidFill>
                  <a:srgbClr val="1A1A1A"/>
                </a:solidFill>
                <a:latin typeface="+mn-lt"/>
              </a:rPr>
              <a:t>согласованный предмет аудита — подразделения, этапы, участники интервью, сроки и формат отчётных документов.</a:t>
            </a:r>
          </a:p>
        </p:txBody>
      </p:sp>
      <p:sp>
        <p:nvSpPr>
          <p:cNvPr id="553" name="nav">
            <a:hlinkClick action="ppaction://hlinksldjump" r:id="rId13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54" name="nav">
            <a:hlinkClick action="ppaction://hlinksldjump" r:id="rId5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55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56" name="nav">
            <a:hlinkClick action="ppaction://hlinksldjump" r:id="rId16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7" name="nav">
            <a:hlinkClick action="ppaction://hlinksldjump" r:id="rId3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58" name="nav">
            <a:hlinkClick action="ppaction://hlinksldjump" r:id="rId2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ОБСУЖДЕНИЕ</a:t>
            </a:r>
          </a:p>
        </p:txBody>
      </p:sp>
      <p:sp>
        <p:nvSpPr>
          <p:cNvPr id="560" name="nav">
            <a:hlinkClick action="ppaction://hlinksldjump" r:id="rId10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63" name="Заголовок 1"/>
          <p:cNvSpPr/>
          <p:nvPr/>
        </p:nvSpPr>
        <p:spPr>
          <a:xfrm>
            <a:off x="1093320" y="1568880"/>
            <a:ext cx="341784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51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Спасибо!</a:t>
            </a:r>
            <a:endParaRPr lang="ru-RU" sz="5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4" name="TextBox 5"/>
          <p:cNvSpPr/>
          <p:nvPr/>
        </p:nvSpPr>
        <p:spPr>
          <a:xfrm>
            <a:off x="1133640" y="2410560"/>
            <a:ext cx="32655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У вас остались вопросы?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5" name="Подзаголовок 2"/>
          <p:cNvSpPr/>
          <p:nvPr/>
        </p:nvSpPr>
        <p:spPr>
          <a:xfrm>
            <a:off x="1093320" y="5751000"/>
            <a:ext cx="210960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8 (800) 302-53-50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sales@normasoft.com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6" name="TextBox 9"/>
          <p:cNvSpPr/>
          <p:nvPr/>
        </p:nvSpPr>
        <p:spPr>
          <a:xfrm>
            <a:off x="1093320" y="4831200"/>
            <a:ext cx="6120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Иванов Иван Иванович,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руководитель проектов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76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80" name="Рисунок 2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14">
            <a:extLst/>
          </a:blip>
          <a:srcRect l="32093" t="0" r="0" b="0"/>
          <a:stretch/>
        </p:blipFill>
        <p:spPr>
          <a:xfrm>
            <a:off x="6590520" y="2217960"/>
            <a:ext cx="5600880" cy="463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1" name="Рисунок 24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5">
            <a:alphaModFix amt="70000"/>
          </a:blip>
          <a:srcRect l="0" t="55656" r="0" b="0"/>
          <a:stretch/>
        </p:blipFill>
        <p:spPr>
          <a:xfrm rot="5400000">
            <a:off x="-1733040" y="38451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nav">
            <a:hlinkClick action="ppaction://hlinksldjump" r:id="rId11"/>
          </p:cNvPr>
          <p:cNvSpPr/>
          <p:nvPr/>
        </p:nvSpPr>
        <p:spPr>
          <a:xfrm>
            <a:off x="932688" y="429768"/>
            <a:ext cx="13853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ЗАЧЕМ АУДИТ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2409444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ЭТАПЫ</a:t>
            </a:r>
          </a:p>
        </p:txBody>
      </p:sp>
      <p:sp>
        <p:nvSpPr>
          <p:cNvPr id="584" name="nav">
            <a:hlinkClick action="ppaction://hlinksldjump" r:id="rId4"/>
          </p:cNvPr>
          <p:cNvSpPr/>
          <p:nvPr/>
        </p:nvSpPr>
        <p:spPr>
          <a:xfrm>
            <a:off x="3310128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РЕЗУЛЬТАТ</a:t>
            </a:r>
          </a:p>
        </p:txBody>
      </p:sp>
      <p:sp>
        <p:nvSpPr>
          <p:cNvPr id="585" name="nav">
            <a:hlinkClick action="ppaction://hlinksldjump" r:id="rId3"/>
          </p:cNvPr>
          <p:cNvSpPr/>
          <p:nvPr/>
        </p:nvSpPr>
        <p:spPr>
          <a:xfrm>
            <a:off x="4594860" y="429768"/>
            <a:ext cx="80924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86" name="nav">
            <a:hlinkClick action="ppaction://hlinksldjump" r:id="rId2"/>
          </p:cNvPr>
          <p:cNvSpPr/>
          <p:nvPr/>
        </p:nvSpPr>
        <p:spPr>
          <a:xfrm>
            <a:off x="5495544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ВНЕДРЕНИЕ</a:t>
            </a:r>
          </a:p>
        </p:txBody>
      </p:sp>
      <p:sp>
        <p:nvSpPr>
          <p:cNvPr id="587" name="nav">
            <a:hlinkClick action="ppaction://hlinksldjump" r:id="rId1"/>
          </p:cNvPr>
          <p:cNvSpPr/>
          <p:nvPr/>
        </p:nvSpPr>
        <p:spPr>
          <a:xfrm>
            <a:off x="6780276" y="429768"/>
            <a:ext cx="11932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7"/>
          </p:cNvPr>
          <p:cNvSpPr/>
          <p:nvPr/>
        </p:nvSpPr>
        <p:spPr>
          <a:xfrm>
            <a:off x="8065008" y="429768"/>
            <a:ext cx="12893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ОБСУЖДЕНИЕ</a:t>
            </a:r>
          </a:p>
        </p:txBody>
      </p:sp>
      <p:sp>
        <p:nvSpPr>
          <p:cNvPr id="589" name="nav">
            <a:hlinkClick action="ppaction://hlinksldjump" r:id="rId9"/>
          </p:cNvPr>
          <p:cNvSpPr/>
          <p:nvPr/>
        </p:nvSpPr>
        <p:spPr>
          <a:xfrm>
            <a:off x="9445752" y="429768"/>
            <a:ext cx="10972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Manrop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nrop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nrope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6688</TotalTime>
  <Application>LibreOffice/26.8.0.3$Linux_X86_64 LibreOffice_project/680$Build-3</Application>
  <AppVersion>15.0000</AppVersion>
  <Words>7334</Words>
  <Paragraphs>1923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2025-11-13T03:59:40Z</dcterms:created>
  <dc:creator>Mirana Alieva</dc:creator>
  <dc:description/>
  <dc:language>ru-RU</dc:language>
  <cp:lastModifiedBy/>
  <dcterms:modified xsi:type="dcterms:W3CDTF">2026-09-27T23:50:58Z</dcterms:modified>
  <cp:revision>63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76</vt:i4>
  </property>
</Properties>
</file>